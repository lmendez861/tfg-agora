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6256000" cy="9144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8" d="100"/>
          <a:sy n="28" d="100"/>
        </p:scale>
        <p:origin x="110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A6826E-3ED7-986D-614E-672467AA8D8A}"/>
              </a:ext>
            </a:extLst>
          </p:cNvPr>
          <p:cNvSpPr>
            <a:spLocks noGrp="1"/>
          </p:cNvSpPr>
          <p:nvPr>
            <p:ph type="ctrTitle"/>
          </p:nvPr>
        </p:nvSpPr>
        <p:spPr>
          <a:xfrm>
            <a:off x="2032000" y="1496484"/>
            <a:ext cx="12192000" cy="3183467"/>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02311087-577E-F690-EA2E-D65621E86F95}"/>
              </a:ext>
            </a:extLst>
          </p:cNvPr>
          <p:cNvSpPr>
            <a:spLocks noGrp="1"/>
          </p:cNvSpPr>
          <p:nvPr>
            <p:ph type="subTitle" idx="1"/>
          </p:nvPr>
        </p:nvSpPr>
        <p:spPr>
          <a:xfrm>
            <a:off x="2032000" y="4802717"/>
            <a:ext cx="12192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53909D75-31CF-5BE1-1E9A-1088A33CF2E6}"/>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06824A2F-3750-96E8-B489-B5F94AB7A97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E2DEC68A-644D-6E75-E4A1-F21CF6DADA92}"/>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3882168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F6E247-817D-937A-7203-D6682F5D1885}"/>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0655631-63B8-6432-7B19-7BFB36D6718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F1B80934-F5B6-16B2-0B8A-79402BC7B305}"/>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1D9C7CA4-B6FB-A020-15CB-0A49685B2CD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30A4BD1-7F9B-D09A-B18B-95BD60988A68}"/>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904138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36AC93-6B35-EFC2-79E7-450F19E7017B}"/>
              </a:ext>
            </a:extLst>
          </p:cNvPr>
          <p:cNvSpPr>
            <a:spLocks noGrp="1"/>
          </p:cNvSpPr>
          <p:nvPr>
            <p:ph type="title"/>
          </p:nvPr>
        </p:nvSpPr>
        <p:spPr>
          <a:xfrm>
            <a:off x="1109133" y="2279653"/>
            <a:ext cx="14020800" cy="3803649"/>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374B4416-91CA-CD74-E5A9-8E3468B947E2}"/>
              </a:ext>
            </a:extLst>
          </p:cNvPr>
          <p:cNvSpPr>
            <a:spLocks noGrp="1"/>
          </p:cNvSpPr>
          <p:nvPr>
            <p:ph type="body" idx="1"/>
          </p:nvPr>
        </p:nvSpPr>
        <p:spPr>
          <a:xfrm>
            <a:off x="1109133" y="6119286"/>
            <a:ext cx="14020800" cy="200024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D29B796-9877-43A3-C730-9D2FD7B5CCAB}"/>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6B52CE3E-0B19-4FDA-7917-9D6F12FCEAF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A1098E7-0352-709E-FE3E-94EE78CC0954}"/>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40589411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D3A0DC-3FAA-0836-4A9B-D3647638D1F0}"/>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C6F4E0-BE29-BCF6-B876-4A45E7614E3F}"/>
              </a:ext>
            </a:extLst>
          </p:cNvPr>
          <p:cNvSpPr>
            <a:spLocks noGrp="1"/>
          </p:cNvSpPr>
          <p:nvPr>
            <p:ph sz="half" idx="1"/>
          </p:nvPr>
        </p:nvSpPr>
        <p:spPr>
          <a:xfrm>
            <a:off x="1117600" y="2434167"/>
            <a:ext cx="6908800" cy="580178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EE639051-071A-F03D-8487-99126931BD2F}"/>
              </a:ext>
            </a:extLst>
          </p:cNvPr>
          <p:cNvSpPr>
            <a:spLocks noGrp="1"/>
          </p:cNvSpPr>
          <p:nvPr>
            <p:ph sz="half" idx="2"/>
          </p:nvPr>
        </p:nvSpPr>
        <p:spPr>
          <a:xfrm>
            <a:off x="8229600" y="2434167"/>
            <a:ext cx="6908800" cy="580178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9D779451-4352-AB88-2B15-0D7C02C6BCB2}"/>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6" name="Marcador de pie de página 5">
            <a:extLst>
              <a:ext uri="{FF2B5EF4-FFF2-40B4-BE49-F238E27FC236}">
                <a16:creationId xmlns:a16="http://schemas.microsoft.com/office/drawing/2014/main" id="{6576987B-74A5-5BBF-3FEA-909966253B9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05258429-FC90-5219-4A6D-E645C6D6D37C}"/>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4110028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A9F3D3D-9019-FBCC-179D-E50018129C32}"/>
              </a:ext>
            </a:extLst>
          </p:cNvPr>
          <p:cNvSpPr>
            <a:spLocks noGrp="1"/>
          </p:cNvSpPr>
          <p:nvPr>
            <p:ph type="title"/>
          </p:nvPr>
        </p:nvSpPr>
        <p:spPr>
          <a:xfrm>
            <a:off x="1119717" y="486836"/>
            <a:ext cx="14020800" cy="1767417"/>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942DC658-633C-9647-07CE-11E8EB923111}"/>
              </a:ext>
            </a:extLst>
          </p:cNvPr>
          <p:cNvSpPr>
            <a:spLocks noGrp="1"/>
          </p:cNvSpPr>
          <p:nvPr>
            <p:ph type="body" idx="1"/>
          </p:nvPr>
        </p:nvSpPr>
        <p:spPr>
          <a:xfrm>
            <a:off x="1119719" y="2241551"/>
            <a:ext cx="6877049"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75746CF-7551-1E76-92FB-72C738097DF0}"/>
              </a:ext>
            </a:extLst>
          </p:cNvPr>
          <p:cNvSpPr>
            <a:spLocks noGrp="1"/>
          </p:cNvSpPr>
          <p:nvPr>
            <p:ph sz="half" idx="2"/>
          </p:nvPr>
        </p:nvSpPr>
        <p:spPr>
          <a:xfrm>
            <a:off x="1119719" y="3340100"/>
            <a:ext cx="6877049" cy="491278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8254EA7D-1527-553C-467D-652BED86701D}"/>
              </a:ext>
            </a:extLst>
          </p:cNvPr>
          <p:cNvSpPr>
            <a:spLocks noGrp="1"/>
          </p:cNvSpPr>
          <p:nvPr>
            <p:ph type="body" sz="quarter" idx="3"/>
          </p:nvPr>
        </p:nvSpPr>
        <p:spPr>
          <a:xfrm>
            <a:off x="8229601" y="2241551"/>
            <a:ext cx="6910917"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00E1387-A64B-DFDC-6915-7D7BCD2AE65A}"/>
              </a:ext>
            </a:extLst>
          </p:cNvPr>
          <p:cNvSpPr>
            <a:spLocks noGrp="1"/>
          </p:cNvSpPr>
          <p:nvPr>
            <p:ph sz="quarter" idx="4"/>
          </p:nvPr>
        </p:nvSpPr>
        <p:spPr>
          <a:xfrm>
            <a:off x="8229601" y="3340100"/>
            <a:ext cx="6910917" cy="491278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0BF033E0-2B4A-1D99-E536-BEB3FF3AB80A}"/>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8" name="Marcador de pie de página 7">
            <a:extLst>
              <a:ext uri="{FF2B5EF4-FFF2-40B4-BE49-F238E27FC236}">
                <a16:creationId xmlns:a16="http://schemas.microsoft.com/office/drawing/2014/main" id="{684DCCCC-1F83-E233-B2BC-533BCA119AF1}"/>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35AF51E-CEA2-7DE6-EFF5-B2A8815035D1}"/>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28383416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585D45-6241-20C9-B674-6DCFA875504D}"/>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AF89ED99-2E91-C99F-6BC2-D7ADF252F492}"/>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4" name="Marcador de pie de página 3">
            <a:extLst>
              <a:ext uri="{FF2B5EF4-FFF2-40B4-BE49-F238E27FC236}">
                <a16:creationId xmlns:a16="http://schemas.microsoft.com/office/drawing/2014/main" id="{0F1AC9F2-EBCB-7B36-4719-8D8BF6DC9129}"/>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15949EEB-342E-628F-86F3-78381DF1E7EF}"/>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544476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BCF5B729-C061-232E-1F5D-89E32571D221}"/>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3" name="Marcador de pie de página 2">
            <a:extLst>
              <a:ext uri="{FF2B5EF4-FFF2-40B4-BE49-F238E27FC236}">
                <a16:creationId xmlns:a16="http://schemas.microsoft.com/office/drawing/2014/main" id="{7FBDCBE6-4A7E-BC3A-B541-D85E30812FD6}"/>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A536CF4C-EE4E-1C6F-C09B-284B4EEC6F0F}"/>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237337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3FA076-DA6D-2B07-4FB0-7312572F8BD1}"/>
              </a:ext>
            </a:extLst>
          </p:cNvPr>
          <p:cNvSpPr>
            <a:spLocks noGrp="1"/>
          </p:cNvSpPr>
          <p:nvPr>
            <p:ph type="title"/>
          </p:nvPr>
        </p:nvSpPr>
        <p:spPr>
          <a:xfrm>
            <a:off x="1119719" y="609600"/>
            <a:ext cx="5242983" cy="21336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E9E25064-599C-46ED-8493-B68049423366}"/>
              </a:ext>
            </a:extLst>
          </p:cNvPr>
          <p:cNvSpPr>
            <a:spLocks noGrp="1"/>
          </p:cNvSpPr>
          <p:nvPr>
            <p:ph idx="1"/>
          </p:nvPr>
        </p:nvSpPr>
        <p:spPr>
          <a:xfrm>
            <a:off x="6910917" y="1316569"/>
            <a:ext cx="822960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725B9A6-0F32-C219-13F7-BC277990D958}"/>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E1A5F44-3D82-0DBC-B25E-840E1D8A9607}"/>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6" name="Marcador de pie de página 5">
            <a:extLst>
              <a:ext uri="{FF2B5EF4-FFF2-40B4-BE49-F238E27FC236}">
                <a16:creationId xmlns:a16="http://schemas.microsoft.com/office/drawing/2014/main" id="{9AC918BD-0F54-2E48-211D-92FE14CE811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F5413214-9EEF-EB09-8398-C0E33AE9F3E7}"/>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40543295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436C00-288D-A50E-481F-4C45861355D7}"/>
              </a:ext>
            </a:extLst>
          </p:cNvPr>
          <p:cNvSpPr>
            <a:spLocks noGrp="1"/>
          </p:cNvSpPr>
          <p:nvPr>
            <p:ph type="title"/>
          </p:nvPr>
        </p:nvSpPr>
        <p:spPr>
          <a:xfrm>
            <a:off x="1119719" y="609600"/>
            <a:ext cx="5242983" cy="21336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B26463CB-1639-D1B8-0F9B-5C012A736F74}"/>
              </a:ext>
            </a:extLst>
          </p:cNvPr>
          <p:cNvSpPr>
            <a:spLocks noGrp="1"/>
          </p:cNvSpPr>
          <p:nvPr>
            <p:ph type="pic" idx="1"/>
          </p:nvPr>
        </p:nvSpPr>
        <p:spPr>
          <a:xfrm>
            <a:off x="6910917" y="1316569"/>
            <a:ext cx="8229600" cy="649816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03BA2908-6A07-6A0B-4C64-55D34A56747A}"/>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5B62728-D574-6126-40F2-2C159803DFD7}"/>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6" name="Marcador de pie de página 5">
            <a:extLst>
              <a:ext uri="{FF2B5EF4-FFF2-40B4-BE49-F238E27FC236}">
                <a16:creationId xmlns:a16="http://schemas.microsoft.com/office/drawing/2014/main" id="{5D86F769-AC48-3A97-57A5-5A532BAEF9E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76C104B7-306A-E8B0-302E-F0EE6A48BB58}"/>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145861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55829D-3113-523E-AE5A-102AAE716DE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088CBD82-2A40-505F-5234-D542C0176C5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3CCDF953-E14B-9508-F3A6-1889F26E99AD}"/>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2B40ABD2-D970-A29A-8B4E-D7EF565D454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A730609B-5C74-9B18-B69A-1726EA329BFD}"/>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706035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BA002C0-8242-35E6-0CAB-D793C66EA49F}"/>
              </a:ext>
            </a:extLst>
          </p:cNvPr>
          <p:cNvSpPr>
            <a:spLocks noGrp="1"/>
          </p:cNvSpPr>
          <p:nvPr>
            <p:ph type="title" orient="vert"/>
          </p:nvPr>
        </p:nvSpPr>
        <p:spPr>
          <a:xfrm>
            <a:off x="11633200" y="486834"/>
            <a:ext cx="3505200" cy="7749117"/>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8F33CBE-248E-C64F-F6AE-E348FC2B23AF}"/>
              </a:ext>
            </a:extLst>
          </p:cNvPr>
          <p:cNvSpPr>
            <a:spLocks noGrp="1"/>
          </p:cNvSpPr>
          <p:nvPr>
            <p:ph type="body" orient="vert" idx="1"/>
          </p:nvPr>
        </p:nvSpPr>
        <p:spPr>
          <a:xfrm>
            <a:off x="1117600" y="486834"/>
            <a:ext cx="10312400" cy="774911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669D6F4-DDCA-D29A-15DB-3DB6DE2E8E77}"/>
              </a:ext>
            </a:extLst>
          </p:cNvPr>
          <p:cNvSpPr>
            <a:spLocks noGrp="1"/>
          </p:cNvSpPr>
          <p:nvPr>
            <p:ph type="dt" sz="half" idx="10"/>
          </p:nvPr>
        </p:nvSpPr>
        <p:spPr/>
        <p:txBody>
          <a:body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6B42E29F-7BE9-0904-6CC7-6804DAFD4E4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F670D47-AB48-6B72-8055-E3B7FD54945F}"/>
              </a:ext>
            </a:extLst>
          </p:cNvPr>
          <p:cNvSpPr>
            <a:spLocks noGrp="1"/>
          </p:cNvSpPr>
          <p:nvPr>
            <p:ph type="sldNum" sz="quarter" idx="12"/>
          </p:nvPr>
        </p:nvSpPr>
        <p:spPr/>
        <p:txBody>
          <a:bodyPr/>
          <a:lstStyle/>
          <a:p>
            <a:fld id="{7D6E2D48-4366-4BA6-A433-D9E19997F8FC}" type="slidenum">
              <a:rPr lang="es-ES" smtClean="0"/>
              <a:t>‹Nº›</a:t>
            </a:fld>
            <a:endParaRPr lang="es-ES"/>
          </a:p>
        </p:txBody>
      </p:sp>
    </p:spTree>
    <p:extLst>
      <p:ext uri="{BB962C8B-B14F-4D97-AF65-F5344CB8AC3E}">
        <p14:creationId xmlns:p14="http://schemas.microsoft.com/office/powerpoint/2010/main" val="42571918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EAA7BDF-58E6-B876-2BF4-A72829EB0DE6}"/>
              </a:ext>
            </a:extLst>
          </p:cNvPr>
          <p:cNvSpPr>
            <a:spLocks noGrp="1"/>
          </p:cNvSpPr>
          <p:nvPr>
            <p:ph type="title"/>
          </p:nvPr>
        </p:nvSpPr>
        <p:spPr>
          <a:xfrm>
            <a:off x="1117600" y="486836"/>
            <a:ext cx="14020800" cy="1767417"/>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38C0B68-7040-A864-E0CA-EBDA9A05C9D3}"/>
              </a:ext>
            </a:extLst>
          </p:cNvPr>
          <p:cNvSpPr>
            <a:spLocks noGrp="1"/>
          </p:cNvSpPr>
          <p:nvPr>
            <p:ph type="body" idx="1"/>
          </p:nvPr>
        </p:nvSpPr>
        <p:spPr>
          <a:xfrm>
            <a:off x="1117600" y="2434167"/>
            <a:ext cx="14020800" cy="580178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62DBD6-8D60-910A-DEAA-1CFEC7176FAC}"/>
              </a:ext>
            </a:extLst>
          </p:cNvPr>
          <p:cNvSpPr>
            <a:spLocks noGrp="1"/>
          </p:cNvSpPr>
          <p:nvPr>
            <p:ph type="dt" sz="half" idx="2"/>
          </p:nvPr>
        </p:nvSpPr>
        <p:spPr>
          <a:xfrm>
            <a:off x="1117600" y="8475136"/>
            <a:ext cx="3657600" cy="486833"/>
          </a:xfrm>
          <a:prstGeom prst="rect">
            <a:avLst/>
          </a:prstGeom>
        </p:spPr>
        <p:txBody>
          <a:bodyPr vert="horz" lIns="91440" tIns="45720" rIns="91440" bIns="45720" rtlCol="0" anchor="ctr"/>
          <a:lstStyle>
            <a:lvl1pPr algn="l">
              <a:defRPr sz="1200">
                <a:solidFill>
                  <a:schemeClr val="tx1">
                    <a:tint val="82000"/>
                  </a:schemeClr>
                </a:solidFill>
              </a:defRPr>
            </a:lvl1pPr>
          </a:lstStyle>
          <a:p>
            <a:fld id="{A2DFCF2F-AD49-4E39-AA7D-24C32A86171D}" type="datetimeFigureOut">
              <a:rPr lang="es-ES" smtClean="0"/>
              <a:t>30/03/2026</a:t>
            </a:fld>
            <a:endParaRPr lang="es-ES"/>
          </a:p>
        </p:txBody>
      </p:sp>
      <p:sp>
        <p:nvSpPr>
          <p:cNvPr id="5" name="Marcador de pie de página 4">
            <a:extLst>
              <a:ext uri="{FF2B5EF4-FFF2-40B4-BE49-F238E27FC236}">
                <a16:creationId xmlns:a16="http://schemas.microsoft.com/office/drawing/2014/main" id="{11089994-052E-5D9B-2170-796E85C9F13B}"/>
              </a:ext>
            </a:extLst>
          </p:cNvPr>
          <p:cNvSpPr>
            <a:spLocks noGrp="1"/>
          </p:cNvSpPr>
          <p:nvPr>
            <p:ph type="ftr" sz="quarter" idx="3"/>
          </p:nvPr>
        </p:nvSpPr>
        <p:spPr>
          <a:xfrm>
            <a:off x="5384800" y="8475136"/>
            <a:ext cx="5486400" cy="486833"/>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57970C50-C24F-0BBB-C6AF-9A3ACCC3D776}"/>
              </a:ext>
            </a:extLst>
          </p:cNvPr>
          <p:cNvSpPr>
            <a:spLocks noGrp="1"/>
          </p:cNvSpPr>
          <p:nvPr>
            <p:ph type="sldNum" sz="quarter" idx="4"/>
          </p:nvPr>
        </p:nvSpPr>
        <p:spPr>
          <a:xfrm>
            <a:off x="11480800" y="8475136"/>
            <a:ext cx="3657600" cy="486833"/>
          </a:xfrm>
          <a:prstGeom prst="rect">
            <a:avLst/>
          </a:prstGeom>
        </p:spPr>
        <p:txBody>
          <a:bodyPr vert="horz" lIns="91440" tIns="45720" rIns="91440" bIns="45720" rtlCol="0" anchor="ctr"/>
          <a:lstStyle>
            <a:lvl1pPr algn="r">
              <a:defRPr sz="1200">
                <a:solidFill>
                  <a:schemeClr val="tx1">
                    <a:tint val="82000"/>
                  </a:schemeClr>
                </a:solidFill>
              </a:defRPr>
            </a:lvl1pPr>
          </a:lstStyle>
          <a:p>
            <a:fld id="{7D6E2D48-4366-4BA6-A433-D9E19997F8FC}" type="slidenum">
              <a:rPr lang="es-ES" smtClean="0"/>
              <a:t>‹Nº›</a:t>
            </a:fld>
            <a:endParaRPr lang="es-ES"/>
          </a:p>
        </p:txBody>
      </p:sp>
    </p:spTree>
    <p:extLst>
      <p:ext uri="{BB962C8B-B14F-4D97-AF65-F5344CB8AC3E}">
        <p14:creationId xmlns:p14="http://schemas.microsoft.com/office/powerpoint/2010/main" val="37178864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08AE622-C6C7-BF9E-00F7-3C0C7BA3679C}"/>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TFG AGORA</a:t>
            </a:r>
          </a:p>
        </p:txBody>
      </p:sp>
      <p:sp>
        <p:nvSpPr>
          <p:cNvPr id="3" name="CuadroTexto 2">
            <a:extLst>
              <a:ext uri="{FF2B5EF4-FFF2-40B4-BE49-F238E27FC236}">
                <a16:creationId xmlns:a16="http://schemas.microsoft.com/office/drawing/2014/main" id="{EA6331B8-44D8-BEC8-EC76-8D23E8845539}"/>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Demo guiada del portal interno y externo</a:t>
            </a:r>
          </a:p>
        </p:txBody>
      </p:sp>
      <p:sp>
        <p:nvSpPr>
          <p:cNvPr id="4" name="CuadroTexto 3">
            <a:extLst>
              <a:ext uri="{FF2B5EF4-FFF2-40B4-BE49-F238E27FC236}">
                <a16:creationId xmlns:a16="http://schemas.microsoft.com/office/drawing/2014/main" id="{EDBA894A-3C8E-045A-12EE-4425E40BFF0B}"/>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En este video voy a ensenar el resultado final del proyecto de forma breve y ordenada.
Voy a recorrer el acceso interno, una exportacion CSV real, la bandeja de mensajes, el portal externo, la documentacion y el monitor privado.</a:t>
            </a:r>
          </a:p>
        </p:txBody>
      </p:sp>
    </p:spTree>
    <p:extLst>
      <p:ext uri="{BB962C8B-B14F-4D97-AF65-F5344CB8AC3E}">
        <p14:creationId xmlns:p14="http://schemas.microsoft.com/office/powerpoint/2010/main" val="1021326975"/>
      </p:ext>
    </p:extLst>
  </p:cSld>
  <p:clrMapOvr>
    <a:masterClrMapping/>
  </p:clrMapOvr>
  <mc:AlternateContent xmlns:mc="http://schemas.openxmlformats.org/markup-compatibility/2006">
    <mc:Choice xmlns:p14="http://schemas.microsoft.com/office/powerpoint/2010/main" Requires="p14">
      <p:transition spd="slow" p14:dur="2000" advTm="12000"/>
    </mc:Choice>
    <mc:Fallback>
      <p:transition spd="slow" advTm="1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C518490-B741-800C-B3AB-D4408A7FAAC2}"/>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PORTAL INTERNO</a:t>
            </a:r>
          </a:p>
        </p:txBody>
      </p:sp>
      <p:sp>
        <p:nvSpPr>
          <p:cNvPr id="3" name="CuadroTexto 2">
            <a:extLst>
              <a:ext uri="{FF2B5EF4-FFF2-40B4-BE49-F238E27FC236}">
                <a16:creationId xmlns:a16="http://schemas.microsoft.com/office/drawing/2014/main" id="{5442F0B7-4635-B49B-061A-ECCDDA1D7FE3}"/>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Dashboard operativo</a:t>
            </a:r>
          </a:p>
        </p:txBody>
      </p:sp>
      <p:sp>
        <p:nvSpPr>
          <p:cNvPr id="4" name="CuadroTexto 3">
            <a:extLst>
              <a:ext uri="{FF2B5EF4-FFF2-40B4-BE49-F238E27FC236}">
                <a16:creationId xmlns:a16="http://schemas.microsoft.com/office/drawing/2014/main" id="{20252252-F880-A97E-4DC2-B6B33BA08BB2}"/>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Aqui estoy mostrando el panel interno. He colocado un dashboard con KPI para que el centro vea de un vistazo cuantas empresas, convenios, estudiantes y asignaciones tiene activas, y desde ahi pueda entrar rapido al modulo que necesite.</a:t>
            </a:r>
          </a:p>
        </p:txBody>
      </p:sp>
      <p:pic>
        <p:nvPicPr>
          <p:cNvPr id="6" name="Imagen 5">
            <a:extLst>
              <a:ext uri="{FF2B5EF4-FFF2-40B4-BE49-F238E27FC236}">
                <a16:creationId xmlns:a16="http://schemas.microsoft.com/office/drawing/2014/main" id="{EE2CCDF4-1DE0-4D1C-7186-91C2A0F9DF9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874000" y="660400"/>
            <a:ext cx="7874000" cy="4432300"/>
          </a:xfrm>
          <a:prstGeom prst="rect">
            <a:avLst/>
          </a:prstGeom>
        </p:spPr>
      </p:pic>
    </p:spTree>
    <p:extLst>
      <p:ext uri="{BB962C8B-B14F-4D97-AF65-F5344CB8AC3E}">
        <p14:creationId xmlns:p14="http://schemas.microsoft.com/office/powerpoint/2010/main" val="1076655491"/>
      </p:ext>
    </p:extLst>
  </p:cSld>
  <p:clrMapOvr>
    <a:masterClrMapping/>
  </p:clrMapOvr>
  <mc:AlternateContent xmlns:mc="http://schemas.openxmlformats.org/markup-compatibility/2006">
    <mc:Choice xmlns:p14="http://schemas.microsoft.com/office/powerpoint/2010/main" Requires="p14">
      <p:transition spd="slow" p14:dur="2000" advTm="20000"/>
    </mc:Choice>
    <mc:Fallback>
      <p:transition spd="slow" advTm="20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90B6AAD-9230-5855-5BEF-70C612C72043}"/>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FUNCION REAL</a:t>
            </a:r>
          </a:p>
        </p:txBody>
      </p:sp>
      <p:sp>
        <p:nvSpPr>
          <p:cNvPr id="3" name="CuadroTexto 2">
            <a:extLst>
              <a:ext uri="{FF2B5EF4-FFF2-40B4-BE49-F238E27FC236}">
                <a16:creationId xmlns:a16="http://schemas.microsoft.com/office/drawing/2014/main" id="{C6D45154-1886-53F5-AC98-7D831C641C23}"/>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Exportacion CSV en la operativa diaria</a:t>
            </a:r>
          </a:p>
        </p:txBody>
      </p:sp>
      <p:sp>
        <p:nvSpPr>
          <p:cNvPr id="4" name="CuadroTexto 3">
            <a:extLst>
              <a:ext uri="{FF2B5EF4-FFF2-40B4-BE49-F238E27FC236}">
                <a16:creationId xmlns:a16="http://schemas.microsoft.com/office/drawing/2014/main" id="{6318325C-69AE-923F-3187-42423014E152}"/>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Una de las funciones que queria ensenar es la exportacion CSV.
La he dejado disponible en dashboard y en los modulos principales porque permite sacar informacion real del sistema y revisarla fuera de la aplicacion, por ejemplo en Excel o para adjuntarla como evidencia.</a:t>
            </a:r>
          </a:p>
        </p:txBody>
      </p:sp>
    </p:spTree>
    <p:extLst>
      <p:ext uri="{BB962C8B-B14F-4D97-AF65-F5344CB8AC3E}">
        <p14:creationId xmlns:p14="http://schemas.microsoft.com/office/powerpoint/2010/main" val="1446036951"/>
      </p:ext>
    </p:extLst>
  </p:cSld>
  <p:clrMapOvr>
    <a:masterClrMapping/>
  </p:clrMapOvr>
  <mc:AlternateContent xmlns:mc="http://schemas.openxmlformats.org/markup-compatibility/2006">
    <mc:Choice xmlns:p14="http://schemas.microsoft.com/office/powerpoint/2010/main" Requires="p14">
      <p:transition spd="slow" p14:dur="2000" advTm="16000"/>
    </mc:Choice>
    <mc:Fallback>
      <p:transition spd="slow" advTm="16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7735E47-2C04-EEEA-16F0-B18E0F9D9E0C}"/>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EVIDENCIA CSV</a:t>
            </a:r>
          </a:p>
        </p:txBody>
      </p:sp>
      <p:sp>
        <p:nvSpPr>
          <p:cNvPr id="3" name="CuadroTexto 2">
            <a:extLst>
              <a:ext uri="{FF2B5EF4-FFF2-40B4-BE49-F238E27FC236}">
                <a16:creationId xmlns:a16="http://schemas.microsoft.com/office/drawing/2014/main" id="{16A529CF-1091-3637-51C8-07BC7071F7CC}"/>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Archivo real generado por el backend</a:t>
            </a:r>
          </a:p>
        </p:txBody>
      </p:sp>
      <p:sp>
        <p:nvSpPr>
          <p:cNvPr id="4" name="CuadroTexto 3">
            <a:extLst>
              <a:ext uri="{FF2B5EF4-FFF2-40B4-BE49-F238E27FC236}">
                <a16:creationId xmlns:a16="http://schemas.microsoft.com/office/drawing/2014/main" id="{9ED8482E-BFB1-584E-2C23-07E51265BBED}"/>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Aqui se ve un CSV real descargado desde la propia aplicacion.
Lo estoy mostrando ya ordenado como hoja de calculo para que se aprecie mejor que la exportacion no es una demo falsa, sino un listado operativo que luego se puede abrir y trabajar fuera del sistema.</a:t>
            </a:r>
          </a:p>
        </p:txBody>
      </p:sp>
      <p:sp>
        <p:nvSpPr>
          <p:cNvPr id="5" name="Rectángulo 4">
            <a:extLst>
              <a:ext uri="{FF2B5EF4-FFF2-40B4-BE49-F238E27FC236}">
                <a16:creationId xmlns:a16="http://schemas.microsoft.com/office/drawing/2014/main" id="{06B5144F-6551-A5B1-8764-8C48C7718331}"/>
              </a:ext>
            </a:extLst>
          </p:cNvPr>
          <p:cNvSpPr/>
          <p:nvPr/>
        </p:nvSpPr>
        <p:spPr>
          <a:xfrm>
            <a:off x="7747000" y="787400"/>
            <a:ext cx="7975600" cy="4673600"/>
          </a:xfrm>
          <a:prstGeom prst="rect">
            <a:avLst/>
          </a:prstGeom>
          <a:solidFill>
            <a:srgbClr val="F8F3EE"/>
          </a:solidFill>
          <a:ln w="12700">
            <a:solidFill>
              <a:srgbClr val="E8D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6" name="Tabla 5">
            <a:extLst>
              <a:ext uri="{FF2B5EF4-FFF2-40B4-BE49-F238E27FC236}">
                <a16:creationId xmlns:a16="http://schemas.microsoft.com/office/drawing/2014/main" id="{6761A15E-049E-84F5-D76D-22EEBFCF21FB}"/>
              </a:ext>
            </a:extLst>
          </p:cNvPr>
          <p:cNvGraphicFramePr>
            <a:graphicFrameLocks noGrp="1"/>
          </p:cNvGraphicFramePr>
          <p:nvPr>
            <p:extLst>
              <p:ext uri="{D42A27DB-BD31-4B8C-83A1-F6EECF244321}">
                <p14:modId xmlns:p14="http://schemas.microsoft.com/office/powerpoint/2010/main" val="507575090"/>
              </p:ext>
            </p:extLst>
          </p:nvPr>
        </p:nvGraphicFramePr>
        <p:xfrm>
          <a:off x="7874000" y="914400"/>
          <a:ext cx="7721600" cy="4241800"/>
        </p:xfrm>
        <a:graphic>
          <a:graphicData uri="http://schemas.openxmlformats.org/drawingml/2006/table">
            <a:tbl>
              <a:tblPr firstRow="1" bandRow="1">
                <a:tableStyleId>{5C22544A-7EE6-4342-B048-85BDC9FD1C3A}</a:tableStyleId>
              </a:tblPr>
              <a:tblGrid>
                <a:gridCol w="533400">
                  <a:extLst>
                    <a:ext uri="{9D8B030D-6E8A-4147-A177-3AD203B41FA5}">
                      <a16:colId xmlns:a16="http://schemas.microsoft.com/office/drawing/2014/main" val="1899090600"/>
                    </a:ext>
                  </a:extLst>
                </a:gridCol>
                <a:gridCol w="2159000">
                  <a:extLst>
                    <a:ext uri="{9D8B030D-6E8A-4147-A177-3AD203B41FA5}">
                      <a16:colId xmlns:a16="http://schemas.microsoft.com/office/drawing/2014/main" val="2285642083"/>
                    </a:ext>
                  </a:extLst>
                </a:gridCol>
                <a:gridCol w="2222500">
                  <a:extLst>
                    <a:ext uri="{9D8B030D-6E8A-4147-A177-3AD203B41FA5}">
                      <a16:colId xmlns:a16="http://schemas.microsoft.com/office/drawing/2014/main" val="3829821688"/>
                    </a:ext>
                  </a:extLst>
                </a:gridCol>
                <a:gridCol w="952500">
                  <a:extLst>
                    <a:ext uri="{9D8B030D-6E8A-4147-A177-3AD203B41FA5}">
                      <a16:colId xmlns:a16="http://schemas.microsoft.com/office/drawing/2014/main" val="949040398"/>
                    </a:ext>
                  </a:extLst>
                </a:gridCol>
                <a:gridCol w="1117600">
                  <a:extLst>
                    <a:ext uri="{9D8B030D-6E8A-4147-A177-3AD203B41FA5}">
                      <a16:colId xmlns:a16="http://schemas.microsoft.com/office/drawing/2014/main" val="305408760"/>
                    </a:ext>
                  </a:extLst>
                </a:gridCol>
                <a:gridCol w="1117600">
                  <a:extLst>
                    <a:ext uri="{9D8B030D-6E8A-4147-A177-3AD203B41FA5}">
                      <a16:colId xmlns:a16="http://schemas.microsoft.com/office/drawing/2014/main" val="2827011644"/>
                    </a:ext>
                  </a:extLst>
                </a:gridCol>
              </a:tblGrid>
              <a:tr h="605971">
                <a:tc>
                  <a:txBody>
                    <a:bodyPr/>
                    <a:lstStyle/>
                    <a:p>
                      <a:r>
                        <a:rPr lang="es-ES" sz="1200" b="1">
                          <a:solidFill>
                            <a:srgbClr val="FFFFFF"/>
                          </a:solidFill>
                          <a:latin typeface="Calibri" panose="020F0502020204030204" pitchFamily="34" charset="0"/>
                        </a:rPr>
                        <a:t>ID</a:t>
                      </a:r>
                    </a:p>
                  </a:txBody>
                  <a:tcPr marL="76200" marR="76200">
                    <a:solidFill>
                      <a:srgbClr val="467321"/>
                    </a:solidFill>
                  </a:tcPr>
                </a:tc>
                <a:tc>
                  <a:txBody>
                    <a:bodyPr/>
                    <a:lstStyle/>
                    <a:p>
                      <a:r>
                        <a:rPr lang="es-ES" sz="1200" b="1">
                          <a:solidFill>
                            <a:srgbClr val="FFFFFF"/>
                          </a:solidFill>
                          <a:latin typeface="Calibri" panose="020F0502020204030204" pitchFamily="34" charset="0"/>
                        </a:rPr>
                        <a:t>Empresa</a:t>
                      </a:r>
                    </a:p>
                  </a:txBody>
                  <a:tcPr marL="76200" marR="76200">
                    <a:solidFill>
                      <a:srgbClr val="467321"/>
                    </a:solidFill>
                  </a:tcPr>
                </a:tc>
                <a:tc>
                  <a:txBody>
                    <a:bodyPr/>
                    <a:lstStyle/>
                    <a:p>
                      <a:r>
                        <a:rPr lang="es-ES" sz="1200" b="1">
                          <a:solidFill>
                            <a:srgbClr val="FFFFFF"/>
                          </a:solidFill>
                          <a:latin typeface="Calibri" panose="020F0502020204030204" pitchFamily="34" charset="0"/>
                        </a:rPr>
                        <a:t>Correo</a:t>
                      </a:r>
                    </a:p>
                  </a:txBody>
                  <a:tcPr marL="76200" marR="76200">
                    <a:solidFill>
                      <a:srgbClr val="467321"/>
                    </a:solidFill>
                  </a:tcPr>
                </a:tc>
                <a:tc>
                  <a:txBody>
                    <a:bodyPr/>
                    <a:lstStyle/>
                    <a:p>
                      <a:r>
                        <a:rPr lang="es-ES" sz="1200" b="1">
                          <a:solidFill>
                            <a:srgbClr val="FFFFFF"/>
                          </a:solidFill>
                          <a:latin typeface="Calibri" panose="020F0502020204030204" pitchFamily="34" charset="0"/>
                        </a:rPr>
                        <a:t>Estado</a:t>
                      </a:r>
                    </a:p>
                  </a:txBody>
                  <a:tcPr marL="76200" marR="76200">
                    <a:solidFill>
                      <a:srgbClr val="467321"/>
                    </a:solidFill>
                  </a:tcPr>
                </a:tc>
                <a:tc>
                  <a:txBody>
                    <a:bodyPr/>
                    <a:lstStyle/>
                    <a:p>
                      <a:r>
                        <a:rPr lang="es-ES" sz="1200" b="1">
                          <a:solidFill>
                            <a:srgbClr val="FFFFFF"/>
                          </a:solidFill>
                          <a:latin typeface="Calibri" panose="020F0502020204030204" pitchFamily="34" charset="0"/>
                        </a:rPr>
                        <a:t>Alta</a:t>
                      </a:r>
                    </a:p>
                  </a:txBody>
                  <a:tcPr marL="76200" marR="76200">
                    <a:solidFill>
                      <a:srgbClr val="467321"/>
                    </a:solidFill>
                  </a:tcPr>
                </a:tc>
                <a:tc>
                  <a:txBody>
                    <a:bodyPr/>
                    <a:lstStyle/>
                    <a:p>
                      <a:r>
                        <a:rPr lang="es-ES" sz="1200" b="1">
                          <a:solidFill>
                            <a:srgbClr val="FFFFFF"/>
                          </a:solidFill>
                          <a:latin typeface="Calibri" panose="020F0502020204030204" pitchFamily="34" charset="0"/>
                        </a:rPr>
                        <a:t>Aprobada</a:t>
                      </a:r>
                    </a:p>
                  </a:txBody>
                  <a:tcPr marL="76200" marR="76200">
                    <a:solidFill>
                      <a:srgbClr val="467321"/>
                    </a:solidFill>
                  </a:tcPr>
                </a:tc>
                <a:extLst>
                  <a:ext uri="{0D108BD9-81ED-4DB2-BD59-A6C34878D82A}">
                    <a16:rowId xmlns:a16="http://schemas.microsoft.com/office/drawing/2014/main" val="2934261350"/>
                  </a:ext>
                </a:extLst>
              </a:tr>
              <a:tr h="605971">
                <a:tc>
                  <a:txBody>
                    <a:bodyPr/>
                    <a:lstStyle/>
                    <a:p>
                      <a:r>
                        <a:rPr lang="es-ES" sz="1000">
                          <a:solidFill>
                            <a:srgbClr val="37291F"/>
                          </a:solidFill>
                          <a:latin typeface="Calibri" panose="020F0502020204030204" pitchFamily="34" charset="0"/>
                        </a:rPr>
                        <a:t>20</a:t>
                      </a:r>
                    </a:p>
                  </a:txBody>
                  <a:tcPr marL="76200" marR="76200">
                    <a:solidFill>
                      <a:srgbClr val="FDFAF7"/>
                    </a:solidFill>
                  </a:tcPr>
                </a:tc>
                <a:tc>
                  <a:txBody>
                    <a:bodyPr/>
                    <a:lstStyle/>
                    <a:p>
                      <a:r>
                        <a:rPr lang="es-ES" sz="1000">
                          <a:solidFill>
                            <a:srgbClr val="37291F"/>
                          </a:solidFill>
                          <a:latin typeface="Calibri" panose="020F0502020204030204" pitchFamily="34" charset="0"/>
                        </a:rPr>
                        <a:t>Empresa E2E 1774816472977</a:t>
                      </a:r>
                    </a:p>
                  </a:txBody>
                  <a:tcPr marL="76200" marR="76200">
                    <a:solidFill>
                      <a:srgbClr val="FDFAF7"/>
                    </a:solidFill>
                  </a:tcPr>
                </a:tc>
                <a:tc>
                  <a:txBody>
                    <a:bodyPr/>
                    <a:lstStyle/>
                    <a:p>
                      <a:r>
                        <a:rPr lang="es-ES" sz="1000">
                          <a:solidFill>
                            <a:srgbClr val="37291F"/>
                          </a:solidFill>
                          <a:latin typeface="Calibri" panose="020F0502020204030204" pitchFamily="34" charset="0"/>
                        </a:rPr>
                        <a:t>e2e-1774816472977@example.com</a:t>
                      </a:r>
                    </a:p>
                  </a:txBody>
                  <a:tcPr marL="76200" marR="76200">
                    <a:solidFill>
                      <a:srgbClr val="FDFAF7"/>
                    </a:solidFill>
                  </a:tcPr>
                </a:tc>
                <a:tc>
                  <a:txBody>
                    <a:bodyPr/>
                    <a:lstStyle/>
                    <a:p>
                      <a:r>
                        <a:rPr lang="es-ES" sz="1000">
                          <a:solidFill>
                            <a:srgbClr val="37291F"/>
                          </a:solidFill>
                          <a:latin typeface="Calibri" panose="020F0502020204030204" pitchFamily="34" charset="0"/>
                        </a:rPr>
                        <a:t>pendiente</a:t>
                      </a:r>
                    </a:p>
                  </a:txBody>
                  <a:tcPr marL="76200" marR="76200">
                    <a:solidFill>
                      <a:srgbClr val="FDFAF7"/>
                    </a:solidFill>
                  </a:tcPr>
                </a:tc>
                <a:tc>
                  <a:txBody>
                    <a:bodyPr/>
                    <a:lstStyle/>
                    <a:p>
                      <a:r>
                        <a:rPr lang="es-ES" sz="1000">
                          <a:solidFill>
                            <a:srgbClr val="37291F"/>
                          </a:solidFill>
                          <a:latin typeface="Calibri" panose="020F0502020204030204" pitchFamily="34" charset="0"/>
                        </a:rPr>
                        <a:t>2026-03-29 22:34:36</a:t>
                      </a:r>
                    </a:p>
                  </a:txBody>
                  <a:tcPr marL="76200" marR="76200">
                    <a:solidFill>
                      <a:srgbClr val="FDFAF7"/>
                    </a:solidFill>
                  </a:tcPr>
                </a:tc>
                <a:tc>
                  <a:txBody>
                    <a:bodyPr/>
                    <a:lstStyle/>
                    <a:p>
                      <a:r>
                        <a:rPr lang="es-ES" sz="1000">
                          <a:solidFill>
                            <a:srgbClr val="37291F"/>
                          </a:solidFill>
                          <a:latin typeface="Calibri" panose="020F0502020204030204" pitchFamily="34" charset="0"/>
                        </a:rPr>
                        <a:t>-</a:t>
                      </a:r>
                    </a:p>
                  </a:txBody>
                  <a:tcPr marL="76200" marR="76200">
                    <a:solidFill>
                      <a:srgbClr val="FDFAF7"/>
                    </a:solidFill>
                  </a:tcPr>
                </a:tc>
                <a:extLst>
                  <a:ext uri="{0D108BD9-81ED-4DB2-BD59-A6C34878D82A}">
                    <a16:rowId xmlns:a16="http://schemas.microsoft.com/office/drawing/2014/main" val="2697009421"/>
                  </a:ext>
                </a:extLst>
              </a:tr>
              <a:tr h="605971">
                <a:tc>
                  <a:txBody>
                    <a:bodyPr/>
                    <a:lstStyle/>
                    <a:p>
                      <a:r>
                        <a:rPr lang="es-ES" sz="1000">
                          <a:solidFill>
                            <a:srgbClr val="37291F"/>
                          </a:solidFill>
                          <a:latin typeface="Calibri" panose="020F0502020204030204" pitchFamily="34" charset="0"/>
                        </a:rPr>
                        <a:t>19</a:t>
                      </a:r>
                    </a:p>
                  </a:txBody>
                  <a:tcPr marL="76200" marR="76200">
                    <a:solidFill>
                      <a:srgbClr val="F9F3ED"/>
                    </a:solidFill>
                  </a:tcPr>
                </a:tc>
                <a:tc>
                  <a:txBody>
                    <a:bodyPr/>
                    <a:lstStyle/>
                    <a:p>
                      <a:r>
                        <a:rPr lang="es-ES" sz="1000">
                          <a:solidFill>
                            <a:srgbClr val="37291F"/>
                          </a:solidFill>
                          <a:latin typeface="Calibri" panose="020F0502020204030204" pitchFamily="34" charset="0"/>
                        </a:rPr>
                        <a:t>Empresa E2E 1774816179992</a:t>
                      </a:r>
                    </a:p>
                  </a:txBody>
                  <a:tcPr marL="76200" marR="76200">
                    <a:solidFill>
                      <a:srgbClr val="F9F3ED"/>
                    </a:solidFill>
                  </a:tcPr>
                </a:tc>
                <a:tc>
                  <a:txBody>
                    <a:bodyPr/>
                    <a:lstStyle/>
                    <a:p>
                      <a:r>
                        <a:rPr lang="es-ES" sz="1000">
                          <a:solidFill>
                            <a:srgbClr val="37291F"/>
                          </a:solidFill>
                          <a:latin typeface="Calibri" panose="020F0502020204030204" pitchFamily="34" charset="0"/>
                        </a:rPr>
                        <a:t>e2e-1774816179992@example.com</a:t>
                      </a:r>
                    </a:p>
                  </a:txBody>
                  <a:tcPr marL="76200" marR="76200">
                    <a:solidFill>
                      <a:srgbClr val="F9F3ED"/>
                    </a:solidFill>
                  </a:tcPr>
                </a:tc>
                <a:tc>
                  <a:txBody>
                    <a:bodyPr/>
                    <a:lstStyle/>
                    <a:p>
                      <a:r>
                        <a:rPr lang="es-ES" sz="1000">
                          <a:solidFill>
                            <a:srgbClr val="37291F"/>
                          </a:solidFill>
                          <a:latin typeface="Calibri" panose="020F0502020204030204" pitchFamily="34" charset="0"/>
                        </a:rPr>
                        <a:t>pendiente</a:t>
                      </a:r>
                    </a:p>
                  </a:txBody>
                  <a:tcPr marL="76200" marR="76200">
                    <a:solidFill>
                      <a:srgbClr val="F9F3ED"/>
                    </a:solidFill>
                  </a:tcPr>
                </a:tc>
                <a:tc>
                  <a:txBody>
                    <a:bodyPr/>
                    <a:lstStyle/>
                    <a:p>
                      <a:r>
                        <a:rPr lang="es-ES" sz="1000">
                          <a:solidFill>
                            <a:srgbClr val="37291F"/>
                          </a:solidFill>
                          <a:latin typeface="Calibri" panose="020F0502020204030204" pitchFamily="34" charset="0"/>
                        </a:rPr>
                        <a:t>2026-03-29 22:29:42</a:t>
                      </a:r>
                    </a:p>
                  </a:txBody>
                  <a:tcPr marL="76200" marR="76200">
                    <a:solidFill>
                      <a:srgbClr val="F9F3ED"/>
                    </a:solidFill>
                  </a:tcPr>
                </a:tc>
                <a:tc>
                  <a:txBody>
                    <a:bodyPr/>
                    <a:lstStyle/>
                    <a:p>
                      <a:r>
                        <a:rPr lang="es-ES" sz="1000">
                          <a:solidFill>
                            <a:srgbClr val="37291F"/>
                          </a:solidFill>
                          <a:latin typeface="Calibri" panose="020F0502020204030204" pitchFamily="34" charset="0"/>
                        </a:rPr>
                        <a:t>-</a:t>
                      </a:r>
                    </a:p>
                  </a:txBody>
                  <a:tcPr marL="76200" marR="76200">
                    <a:solidFill>
                      <a:srgbClr val="F9F3ED"/>
                    </a:solidFill>
                  </a:tcPr>
                </a:tc>
                <a:extLst>
                  <a:ext uri="{0D108BD9-81ED-4DB2-BD59-A6C34878D82A}">
                    <a16:rowId xmlns:a16="http://schemas.microsoft.com/office/drawing/2014/main" val="712805022"/>
                  </a:ext>
                </a:extLst>
              </a:tr>
              <a:tr h="605971">
                <a:tc>
                  <a:txBody>
                    <a:bodyPr/>
                    <a:lstStyle/>
                    <a:p>
                      <a:r>
                        <a:rPr lang="es-ES" sz="1000">
                          <a:solidFill>
                            <a:srgbClr val="37291F"/>
                          </a:solidFill>
                          <a:latin typeface="Calibri" panose="020F0502020204030204" pitchFamily="34" charset="0"/>
                        </a:rPr>
                        <a:t>18</a:t>
                      </a:r>
                    </a:p>
                  </a:txBody>
                  <a:tcPr marL="76200" marR="76200">
                    <a:solidFill>
                      <a:srgbClr val="FDFAF7"/>
                    </a:solidFill>
                  </a:tcPr>
                </a:tc>
                <a:tc>
                  <a:txBody>
                    <a:bodyPr/>
                    <a:lstStyle/>
                    <a:p>
                      <a:r>
                        <a:rPr lang="es-ES" sz="1000">
                          <a:solidFill>
                            <a:srgbClr val="37291F"/>
                          </a:solidFill>
                          <a:latin typeface="Calibri" panose="020F0502020204030204" pitchFamily="34" charset="0"/>
                        </a:rPr>
                        <a:t>Empresa E2E 1774815640882</a:t>
                      </a:r>
                    </a:p>
                  </a:txBody>
                  <a:tcPr marL="76200" marR="76200">
                    <a:solidFill>
                      <a:srgbClr val="FDFAF7"/>
                    </a:solidFill>
                  </a:tcPr>
                </a:tc>
                <a:tc>
                  <a:txBody>
                    <a:bodyPr/>
                    <a:lstStyle/>
                    <a:p>
                      <a:r>
                        <a:rPr lang="es-ES" sz="1000">
                          <a:solidFill>
                            <a:srgbClr val="37291F"/>
                          </a:solidFill>
                          <a:latin typeface="Calibri" panose="020F0502020204030204" pitchFamily="34" charset="0"/>
                        </a:rPr>
                        <a:t>e2e-1774815640882@example.com</a:t>
                      </a:r>
                    </a:p>
                  </a:txBody>
                  <a:tcPr marL="76200" marR="76200">
                    <a:solidFill>
                      <a:srgbClr val="FDFAF7"/>
                    </a:solidFill>
                  </a:tcPr>
                </a:tc>
                <a:tc>
                  <a:txBody>
                    <a:bodyPr/>
                    <a:lstStyle/>
                    <a:p>
                      <a:r>
                        <a:rPr lang="es-ES" sz="1000">
                          <a:solidFill>
                            <a:srgbClr val="37291F"/>
                          </a:solidFill>
                          <a:latin typeface="Calibri" panose="020F0502020204030204" pitchFamily="34" charset="0"/>
                        </a:rPr>
                        <a:t>pendiente</a:t>
                      </a:r>
                    </a:p>
                  </a:txBody>
                  <a:tcPr marL="76200" marR="76200">
                    <a:solidFill>
                      <a:srgbClr val="FDFAF7"/>
                    </a:solidFill>
                  </a:tcPr>
                </a:tc>
                <a:tc>
                  <a:txBody>
                    <a:bodyPr/>
                    <a:lstStyle/>
                    <a:p>
                      <a:r>
                        <a:rPr lang="es-ES" sz="1000">
                          <a:solidFill>
                            <a:srgbClr val="37291F"/>
                          </a:solidFill>
                          <a:latin typeface="Calibri" panose="020F0502020204030204" pitchFamily="34" charset="0"/>
                        </a:rPr>
                        <a:t>2026-03-29 22:20:43</a:t>
                      </a:r>
                    </a:p>
                  </a:txBody>
                  <a:tcPr marL="76200" marR="76200">
                    <a:solidFill>
                      <a:srgbClr val="FDFAF7"/>
                    </a:solidFill>
                  </a:tcPr>
                </a:tc>
                <a:tc>
                  <a:txBody>
                    <a:bodyPr/>
                    <a:lstStyle/>
                    <a:p>
                      <a:r>
                        <a:rPr lang="es-ES" sz="1000">
                          <a:solidFill>
                            <a:srgbClr val="37291F"/>
                          </a:solidFill>
                          <a:latin typeface="Calibri" panose="020F0502020204030204" pitchFamily="34" charset="0"/>
                        </a:rPr>
                        <a:t>-</a:t>
                      </a:r>
                    </a:p>
                  </a:txBody>
                  <a:tcPr marL="76200" marR="76200">
                    <a:solidFill>
                      <a:srgbClr val="FDFAF7"/>
                    </a:solidFill>
                  </a:tcPr>
                </a:tc>
                <a:extLst>
                  <a:ext uri="{0D108BD9-81ED-4DB2-BD59-A6C34878D82A}">
                    <a16:rowId xmlns:a16="http://schemas.microsoft.com/office/drawing/2014/main" val="2052477408"/>
                  </a:ext>
                </a:extLst>
              </a:tr>
              <a:tr h="605971">
                <a:tc>
                  <a:txBody>
                    <a:bodyPr/>
                    <a:lstStyle/>
                    <a:p>
                      <a:r>
                        <a:rPr lang="es-ES" sz="1000">
                          <a:solidFill>
                            <a:srgbClr val="37291F"/>
                          </a:solidFill>
                          <a:latin typeface="Calibri" panose="020F0502020204030204" pitchFamily="34" charset="0"/>
                        </a:rPr>
                        <a:t>17</a:t>
                      </a:r>
                    </a:p>
                  </a:txBody>
                  <a:tcPr marL="76200" marR="76200">
                    <a:solidFill>
                      <a:srgbClr val="F9F3ED"/>
                    </a:solidFill>
                  </a:tcPr>
                </a:tc>
                <a:tc>
                  <a:txBody>
                    <a:bodyPr/>
                    <a:lstStyle/>
                    <a:p>
                      <a:r>
                        <a:rPr lang="es-ES" sz="1000">
                          <a:solidFill>
                            <a:srgbClr val="37291F"/>
                          </a:solidFill>
                          <a:latin typeface="Calibri" panose="020F0502020204030204" pitchFamily="34" charset="0"/>
                        </a:rPr>
                        <a:t>Verificacion sync 203544</a:t>
                      </a:r>
                    </a:p>
                  </a:txBody>
                  <a:tcPr marL="76200" marR="76200">
                    <a:solidFill>
                      <a:srgbClr val="F9F3ED"/>
                    </a:solidFill>
                  </a:tcPr>
                </a:tc>
                <a:tc>
                  <a:txBody>
                    <a:bodyPr/>
                    <a:lstStyle/>
                    <a:p>
                      <a:r>
                        <a:rPr lang="es-ES" sz="1000">
                          <a:solidFill>
                            <a:srgbClr val="37291F"/>
                          </a:solidFill>
                          <a:latin typeface="Calibri" panose="020F0502020204030204" pitchFamily="34" charset="0"/>
                        </a:rPr>
                        <a:t>lmendezgsd@gmail.com</a:t>
                      </a:r>
                    </a:p>
                  </a:txBody>
                  <a:tcPr marL="76200" marR="76200">
                    <a:solidFill>
                      <a:srgbClr val="F9F3ED"/>
                    </a:solidFill>
                  </a:tcPr>
                </a:tc>
                <a:tc>
                  <a:txBody>
                    <a:bodyPr/>
                    <a:lstStyle/>
                    <a:p>
                      <a:r>
                        <a:rPr lang="es-ES" sz="1000">
                          <a:solidFill>
                            <a:srgbClr val="37291F"/>
                          </a:solidFill>
                          <a:latin typeface="Calibri" panose="020F0502020204030204" pitchFamily="34" charset="0"/>
                        </a:rPr>
                        <a:t>aprobada</a:t>
                      </a:r>
                    </a:p>
                  </a:txBody>
                  <a:tcPr marL="76200" marR="76200">
                    <a:solidFill>
                      <a:srgbClr val="F9F3ED"/>
                    </a:solidFill>
                  </a:tcPr>
                </a:tc>
                <a:tc>
                  <a:txBody>
                    <a:bodyPr/>
                    <a:lstStyle/>
                    <a:p>
                      <a:r>
                        <a:rPr lang="es-ES" sz="1000">
                          <a:solidFill>
                            <a:srgbClr val="37291F"/>
                          </a:solidFill>
                          <a:latin typeface="Calibri" panose="020F0502020204030204" pitchFamily="34" charset="0"/>
                        </a:rPr>
                        <a:t>2026-03-29 20:35:45</a:t>
                      </a:r>
                    </a:p>
                  </a:txBody>
                  <a:tcPr marL="76200" marR="76200">
                    <a:solidFill>
                      <a:srgbClr val="F9F3ED"/>
                    </a:solidFill>
                  </a:tcPr>
                </a:tc>
                <a:tc>
                  <a:txBody>
                    <a:bodyPr/>
                    <a:lstStyle/>
                    <a:p>
                      <a:r>
                        <a:rPr lang="es-ES" sz="1000">
                          <a:solidFill>
                            <a:srgbClr val="37291F"/>
                          </a:solidFill>
                          <a:latin typeface="Calibri" panose="020F0502020204030204" pitchFamily="34" charset="0"/>
                        </a:rPr>
                        <a:t>2026-03-29 20:44:36</a:t>
                      </a:r>
                    </a:p>
                  </a:txBody>
                  <a:tcPr marL="76200" marR="76200">
                    <a:solidFill>
                      <a:srgbClr val="F9F3ED"/>
                    </a:solidFill>
                  </a:tcPr>
                </a:tc>
                <a:extLst>
                  <a:ext uri="{0D108BD9-81ED-4DB2-BD59-A6C34878D82A}">
                    <a16:rowId xmlns:a16="http://schemas.microsoft.com/office/drawing/2014/main" val="4025805013"/>
                  </a:ext>
                </a:extLst>
              </a:tr>
              <a:tr h="605971">
                <a:tc>
                  <a:txBody>
                    <a:bodyPr/>
                    <a:lstStyle/>
                    <a:p>
                      <a:r>
                        <a:rPr lang="es-ES" sz="1000">
                          <a:solidFill>
                            <a:srgbClr val="37291F"/>
                          </a:solidFill>
                          <a:latin typeface="Calibri" panose="020F0502020204030204" pitchFamily="34" charset="0"/>
                        </a:rPr>
                        <a:t>16</a:t>
                      </a:r>
                    </a:p>
                  </a:txBody>
                  <a:tcPr marL="76200" marR="76200">
                    <a:solidFill>
                      <a:srgbClr val="FDFAF7"/>
                    </a:solidFill>
                  </a:tcPr>
                </a:tc>
                <a:tc>
                  <a:txBody>
                    <a:bodyPr/>
                    <a:lstStyle/>
                    <a:p>
                      <a:r>
                        <a:rPr lang="es-ES" sz="1000">
                          <a:solidFill>
                            <a:srgbClr val="37291F"/>
                          </a:solidFill>
                          <a:latin typeface="Calibri" panose="020F0502020204030204" pitchFamily="34" charset="0"/>
                        </a:rPr>
                        <a:t>Prueba Portal Externo 203243</a:t>
                      </a:r>
                    </a:p>
                  </a:txBody>
                  <a:tcPr marL="76200" marR="76200">
                    <a:solidFill>
                      <a:srgbClr val="FDFAF7"/>
                    </a:solidFill>
                  </a:tcPr>
                </a:tc>
                <a:tc>
                  <a:txBody>
                    <a:bodyPr/>
                    <a:lstStyle/>
                    <a:p>
                      <a:r>
                        <a:rPr lang="es-ES" sz="1000">
                          <a:solidFill>
                            <a:srgbClr val="37291F"/>
                          </a:solidFill>
                          <a:latin typeface="Calibri" panose="020F0502020204030204" pitchFamily="34" charset="0"/>
                        </a:rPr>
                        <a:t>lmendezgsd@gmail.com</a:t>
                      </a:r>
                    </a:p>
                  </a:txBody>
                  <a:tcPr marL="76200" marR="76200">
                    <a:solidFill>
                      <a:srgbClr val="FDFAF7"/>
                    </a:solidFill>
                  </a:tcPr>
                </a:tc>
                <a:tc>
                  <a:txBody>
                    <a:bodyPr/>
                    <a:lstStyle/>
                    <a:p>
                      <a:r>
                        <a:rPr lang="es-ES" sz="1000">
                          <a:solidFill>
                            <a:srgbClr val="37291F"/>
                          </a:solidFill>
                          <a:latin typeface="Calibri" panose="020F0502020204030204" pitchFamily="34" charset="0"/>
                        </a:rPr>
                        <a:t>aprobada</a:t>
                      </a:r>
                    </a:p>
                  </a:txBody>
                  <a:tcPr marL="76200" marR="76200">
                    <a:solidFill>
                      <a:srgbClr val="FDFAF7"/>
                    </a:solidFill>
                  </a:tcPr>
                </a:tc>
                <a:tc>
                  <a:txBody>
                    <a:bodyPr/>
                    <a:lstStyle/>
                    <a:p>
                      <a:r>
                        <a:rPr lang="es-ES" sz="1000">
                          <a:solidFill>
                            <a:srgbClr val="37291F"/>
                          </a:solidFill>
                          <a:latin typeface="Calibri" panose="020F0502020204030204" pitchFamily="34" charset="0"/>
                        </a:rPr>
                        <a:t>2026-03-29 20:32:45</a:t>
                      </a:r>
                    </a:p>
                  </a:txBody>
                  <a:tcPr marL="76200" marR="76200">
                    <a:solidFill>
                      <a:srgbClr val="FDFAF7"/>
                    </a:solidFill>
                  </a:tcPr>
                </a:tc>
                <a:tc>
                  <a:txBody>
                    <a:bodyPr/>
                    <a:lstStyle/>
                    <a:p>
                      <a:r>
                        <a:rPr lang="es-ES" sz="1000">
                          <a:solidFill>
                            <a:srgbClr val="37291F"/>
                          </a:solidFill>
                          <a:latin typeface="Calibri" panose="020F0502020204030204" pitchFamily="34" charset="0"/>
                        </a:rPr>
                        <a:t>2026-03-29 20:47:16</a:t>
                      </a:r>
                    </a:p>
                  </a:txBody>
                  <a:tcPr marL="76200" marR="76200">
                    <a:solidFill>
                      <a:srgbClr val="FDFAF7"/>
                    </a:solidFill>
                  </a:tcPr>
                </a:tc>
                <a:extLst>
                  <a:ext uri="{0D108BD9-81ED-4DB2-BD59-A6C34878D82A}">
                    <a16:rowId xmlns:a16="http://schemas.microsoft.com/office/drawing/2014/main" val="1011198779"/>
                  </a:ext>
                </a:extLst>
              </a:tr>
              <a:tr h="605971">
                <a:tc>
                  <a:txBody>
                    <a:bodyPr/>
                    <a:lstStyle/>
                    <a:p>
                      <a:r>
                        <a:rPr lang="es-ES" sz="1000">
                          <a:solidFill>
                            <a:srgbClr val="37291F"/>
                          </a:solidFill>
                          <a:latin typeface="Calibri" panose="020F0502020204030204" pitchFamily="34" charset="0"/>
                        </a:rPr>
                        <a:t>15</a:t>
                      </a:r>
                    </a:p>
                  </a:txBody>
                  <a:tcPr marL="76200" marR="76200">
                    <a:solidFill>
                      <a:srgbClr val="F9F3ED"/>
                    </a:solidFill>
                  </a:tcPr>
                </a:tc>
                <a:tc>
                  <a:txBody>
                    <a:bodyPr/>
                    <a:lstStyle/>
                    <a:p>
                      <a:r>
                        <a:rPr lang="es-ES" sz="1000">
                          <a:solidFill>
                            <a:srgbClr val="37291F"/>
                          </a:solidFill>
                          <a:latin typeface="Calibri" panose="020F0502020204030204" pitchFamily="34" charset="0"/>
                        </a:rPr>
                        <a:t>Prueba entrega Brevo</a:t>
                      </a:r>
                    </a:p>
                  </a:txBody>
                  <a:tcPr marL="76200" marR="76200">
                    <a:solidFill>
                      <a:srgbClr val="F9F3ED"/>
                    </a:solidFill>
                  </a:tcPr>
                </a:tc>
                <a:tc>
                  <a:txBody>
                    <a:bodyPr/>
                    <a:lstStyle/>
                    <a:p>
                      <a:r>
                        <a:rPr lang="es-ES" sz="1000">
                          <a:solidFill>
                            <a:srgbClr val="37291F"/>
                          </a:solidFill>
                          <a:latin typeface="Calibri" panose="020F0502020204030204" pitchFamily="34" charset="0"/>
                        </a:rPr>
                        <a:t>lmendezgsd@gmail.com</a:t>
                      </a:r>
                    </a:p>
                  </a:txBody>
                  <a:tcPr marL="76200" marR="76200">
                    <a:solidFill>
                      <a:srgbClr val="F9F3ED"/>
                    </a:solidFill>
                  </a:tcPr>
                </a:tc>
                <a:tc>
                  <a:txBody>
                    <a:bodyPr/>
                    <a:lstStyle/>
                    <a:p>
                      <a:r>
                        <a:rPr lang="es-ES" sz="1000">
                          <a:solidFill>
                            <a:srgbClr val="37291F"/>
                          </a:solidFill>
                          <a:latin typeface="Calibri" panose="020F0502020204030204" pitchFamily="34" charset="0"/>
                        </a:rPr>
                        <a:t>aprobada</a:t>
                      </a:r>
                    </a:p>
                  </a:txBody>
                  <a:tcPr marL="76200" marR="76200">
                    <a:solidFill>
                      <a:srgbClr val="F9F3ED"/>
                    </a:solidFill>
                  </a:tcPr>
                </a:tc>
                <a:tc>
                  <a:txBody>
                    <a:bodyPr/>
                    <a:lstStyle/>
                    <a:p>
                      <a:r>
                        <a:rPr lang="es-ES" sz="1000">
                          <a:solidFill>
                            <a:srgbClr val="37291F"/>
                          </a:solidFill>
                          <a:latin typeface="Calibri" panose="020F0502020204030204" pitchFamily="34" charset="0"/>
                        </a:rPr>
                        <a:t>2026-03-29 20:29:32</a:t>
                      </a:r>
                    </a:p>
                  </a:txBody>
                  <a:tcPr marL="76200" marR="76200">
                    <a:solidFill>
                      <a:srgbClr val="F9F3ED"/>
                    </a:solidFill>
                  </a:tcPr>
                </a:tc>
                <a:tc>
                  <a:txBody>
                    <a:bodyPr/>
                    <a:lstStyle/>
                    <a:p>
                      <a:r>
                        <a:rPr lang="es-ES" sz="1000">
                          <a:solidFill>
                            <a:srgbClr val="37291F"/>
                          </a:solidFill>
                          <a:latin typeface="Calibri" panose="020F0502020204030204" pitchFamily="34" charset="0"/>
                        </a:rPr>
                        <a:t>2026-03-29 20:47:18</a:t>
                      </a:r>
                    </a:p>
                  </a:txBody>
                  <a:tcPr marL="76200" marR="76200">
                    <a:solidFill>
                      <a:srgbClr val="F9F3ED"/>
                    </a:solidFill>
                  </a:tcPr>
                </a:tc>
                <a:extLst>
                  <a:ext uri="{0D108BD9-81ED-4DB2-BD59-A6C34878D82A}">
                    <a16:rowId xmlns:a16="http://schemas.microsoft.com/office/drawing/2014/main" val="940105995"/>
                  </a:ext>
                </a:extLst>
              </a:tr>
            </a:tbl>
          </a:graphicData>
        </a:graphic>
      </p:graphicFrame>
      <p:sp>
        <p:nvSpPr>
          <p:cNvPr id="7" name="CuadroTexto 6">
            <a:extLst>
              <a:ext uri="{FF2B5EF4-FFF2-40B4-BE49-F238E27FC236}">
                <a16:creationId xmlns:a16="http://schemas.microsoft.com/office/drawing/2014/main" id="{000B8BCB-636A-46F6-3F9E-87B3EBAF5251}"/>
              </a:ext>
            </a:extLst>
          </p:cNvPr>
          <p:cNvSpPr txBox="1"/>
          <p:nvPr/>
        </p:nvSpPr>
        <p:spPr>
          <a:xfrm>
            <a:off x="7874000" y="5537200"/>
            <a:ext cx="7747000" cy="369332"/>
          </a:xfrm>
          <a:prstGeom prst="rect">
            <a:avLst/>
          </a:prstGeom>
          <a:noFill/>
        </p:spPr>
        <p:txBody>
          <a:bodyPr vert="horz" wrap="square" rtlCol="0">
            <a:noAutofit/>
          </a:bodyPr>
          <a:lstStyle/>
          <a:p>
            <a:r>
              <a:rPr lang="es-ES" sz="1500">
                <a:solidFill>
                  <a:srgbClr val="DCD0C8"/>
                </a:solidFill>
                <a:latin typeface="Segoe UI" panose="020B0502040204020203" pitchFamily="34" charset="0"/>
              </a:rPr>
              <a:t>En este caso estoy ensenando la exportacion de solicitudes de empresa.
El archivo sale del endpoint real del backend y tambien lo he dejado guardado en formato Excel para presentarlo de forma mas clara.</a:t>
            </a:r>
          </a:p>
        </p:txBody>
      </p:sp>
    </p:spTree>
    <p:extLst>
      <p:ext uri="{BB962C8B-B14F-4D97-AF65-F5344CB8AC3E}">
        <p14:creationId xmlns:p14="http://schemas.microsoft.com/office/powerpoint/2010/main" val="354607200"/>
      </p:ext>
    </p:extLst>
  </p:cSld>
  <p:clrMapOvr>
    <a:masterClrMapping/>
  </p:clrMapOvr>
  <mc:AlternateContent xmlns:mc="http://schemas.openxmlformats.org/markup-compatibility/2006">
    <mc:Choice xmlns:p14="http://schemas.microsoft.com/office/powerpoint/2010/main" Requires="p14">
      <p:transition spd="slow" p14:dur="2000" advTm="24000"/>
    </mc:Choice>
    <mc:Fallback>
      <p:transition spd="slow" advTm="24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898499E-6934-8E20-DC2E-D3EA144179EF}"/>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MENSAJERIA</a:t>
            </a:r>
          </a:p>
        </p:txBody>
      </p:sp>
      <p:sp>
        <p:nvSpPr>
          <p:cNvPr id="3" name="CuadroTexto 2">
            <a:extLst>
              <a:ext uri="{FF2B5EF4-FFF2-40B4-BE49-F238E27FC236}">
                <a16:creationId xmlns:a16="http://schemas.microsoft.com/office/drawing/2014/main" id="{0FADAD9A-201B-358D-D7EA-7C8D671010F9}"/>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Bandeja unificada de empresas</a:t>
            </a:r>
          </a:p>
        </p:txBody>
      </p:sp>
      <p:sp>
        <p:nvSpPr>
          <p:cNvPr id="4" name="CuadroTexto 3">
            <a:extLst>
              <a:ext uri="{FF2B5EF4-FFF2-40B4-BE49-F238E27FC236}">
                <a16:creationId xmlns:a16="http://schemas.microsoft.com/office/drawing/2014/main" id="{67921C6F-9921-164A-5E9A-DF8ABDBF4BD8}"/>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Otra mejora importante es la bandeja unificada. En vez de obligar a entrar solicitud por solicitud, aqui puedo ver todas las conversaciones con las empresas en una vista tipo inbox y responder desde el propio portal interno.</a:t>
            </a:r>
          </a:p>
        </p:txBody>
      </p:sp>
      <p:pic>
        <p:nvPicPr>
          <p:cNvPr id="6" name="Imagen 5">
            <a:extLst>
              <a:ext uri="{FF2B5EF4-FFF2-40B4-BE49-F238E27FC236}">
                <a16:creationId xmlns:a16="http://schemas.microsoft.com/office/drawing/2014/main" id="{3AE0197D-E3D0-7A48-56B5-320A18D85E8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874000" y="660400"/>
            <a:ext cx="7874000" cy="4432300"/>
          </a:xfrm>
          <a:prstGeom prst="rect">
            <a:avLst/>
          </a:prstGeom>
        </p:spPr>
      </p:pic>
    </p:spTree>
    <p:extLst>
      <p:ext uri="{BB962C8B-B14F-4D97-AF65-F5344CB8AC3E}">
        <p14:creationId xmlns:p14="http://schemas.microsoft.com/office/powerpoint/2010/main" val="3503828121"/>
      </p:ext>
    </p:extLst>
  </p:cSld>
  <p:clrMapOvr>
    <a:masterClrMapping/>
  </p:clrMapOvr>
  <mc:AlternateContent xmlns:mc="http://schemas.openxmlformats.org/markup-compatibility/2006">
    <mc:Choice xmlns:p14="http://schemas.microsoft.com/office/powerpoint/2010/main" Requires="p14">
      <p:transition spd="slow" p14:dur="2000" advTm="20000"/>
    </mc:Choice>
    <mc:Fallback>
      <p:transition spd="slow" advTm="20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A6ED40C-3329-58FD-D856-19B717477997}"/>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ASIGNACIONES</a:t>
            </a:r>
          </a:p>
        </p:txBody>
      </p:sp>
      <p:sp>
        <p:nvSpPr>
          <p:cNvPr id="3" name="CuadroTexto 2">
            <a:extLst>
              <a:ext uri="{FF2B5EF4-FFF2-40B4-BE49-F238E27FC236}">
                <a16:creationId xmlns:a16="http://schemas.microsoft.com/office/drawing/2014/main" id="{FC4FD954-7B54-0993-F4BF-8AF0DDD46371}"/>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Seguimientos, evidencias y cierre</a:t>
            </a:r>
          </a:p>
        </p:txBody>
      </p:sp>
      <p:sp>
        <p:nvSpPr>
          <p:cNvPr id="4" name="CuadroTexto 3">
            <a:extLst>
              <a:ext uri="{FF2B5EF4-FFF2-40B4-BE49-F238E27FC236}">
                <a16:creationId xmlns:a16="http://schemas.microsoft.com/office/drawing/2014/main" id="{E0E88463-5163-0C57-1830-D9372030A8D8}"/>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En las asignaciones no me he quedado solo en el alta basica. He anadido seguimientos, evidencias y una evaluacion final para que el ciclo de practicas quede mas completo y tenga trazabilidad real.</a:t>
            </a:r>
          </a:p>
        </p:txBody>
      </p:sp>
    </p:spTree>
    <p:extLst>
      <p:ext uri="{BB962C8B-B14F-4D97-AF65-F5344CB8AC3E}">
        <p14:creationId xmlns:p14="http://schemas.microsoft.com/office/powerpoint/2010/main" val="2522684866"/>
      </p:ext>
    </p:extLst>
  </p:cSld>
  <p:clrMapOvr>
    <a:masterClrMapping/>
  </p:clrMapOvr>
  <mc:AlternateContent xmlns:mc="http://schemas.openxmlformats.org/markup-compatibility/2006">
    <mc:Choice xmlns:p14="http://schemas.microsoft.com/office/powerpoint/2010/main" Requires="p14">
      <p:transition spd="slow" p14:dur="2000" advTm="16000"/>
    </mc:Choice>
    <mc:Fallback>
      <p:transition spd="slow" advTm="16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A41502-C10A-6086-8110-DEB196D3A67C}"/>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PORTAL EXTERNO</a:t>
            </a:r>
          </a:p>
        </p:txBody>
      </p:sp>
      <p:sp>
        <p:nvSpPr>
          <p:cNvPr id="3" name="CuadroTexto 2">
            <a:extLst>
              <a:ext uri="{FF2B5EF4-FFF2-40B4-BE49-F238E27FC236}">
                <a16:creationId xmlns:a16="http://schemas.microsoft.com/office/drawing/2014/main" id="{082C1D70-8B78-8F99-C8B7-6825564EDB91}"/>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Registro y seguimiento de la empresa</a:t>
            </a:r>
          </a:p>
        </p:txBody>
      </p:sp>
      <p:sp>
        <p:nvSpPr>
          <p:cNvPr id="4" name="CuadroTexto 3">
            <a:extLst>
              <a:ext uri="{FF2B5EF4-FFF2-40B4-BE49-F238E27FC236}">
                <a16:creationId xmlns:a16="http://schemas.microsoft.com/office/drawing/2014/main" id="{29BC67A5-BC9E-E18E-2018-D2377AB79399}"/>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Este es el portal externo. Aqui la empresa puede registrarse, verificar su correo, consultar el estado de la solicitud y, cuando ya esta aprobada, pasar a su acceso privado sin mezclarse con el panel interno del centro.</a:t>
            </a:r>
          </a:p>
        </p:txBody>
      </p:sp>
      <p:pic>
        <p:nvPicPr>
          <p:cNvPr id="6" name="Imagen 5">
            <a:extLst>
              <a:ext uri="{FF2B5EF4-FFF2-40B4-BE49-F238E27FC236}">
                <a16:creationId xmlns:a16="http://schemas.microsoft.com/office/drawing/2014/main" id="{148DEAC4-1623-8D19-CCEA-D626745E0B2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874000" y="660400"/>
            <a:ext cx="7874000" cy="4432300"/>
          </a:xfrm>
          <a:prstGeom prst="rect">
            <a:avLst/>
          </a:prstGeom>
        </p:spPr>
      </p:pic>
    </p:spTree>
    <p:extLst>
      <p:ext uri="{BB962C8B-B14F-4D97-AF65-F5344CB8AC3E}">
        <p14:creationId xmlns:p14="http://schemas.microsoft.com/office/powerpoint/2010/main" val="3343584463"/>
      </p:ext>
    </p:extLst>
  </p:cSld>
  <p:clrMapOvr>
    <a:masterClrMapping/>
  </p:clrMapOvr>
  <mc:AlternateContent xmlns:mc="http://schemas.openxmlformats.org/markup-compatibility/2006">
    <mc:Choice xmlns:p14="http://schemas.microsoft.com/office/powerpoint/2010/main" Requires="p14">
      <p:transition spd="slow" p14:dur="2000" advTm="22000"/>
    </mc:Choice>
    <mc:Fallback>
      <p:transition spd="slow" advTm="2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3FF60A0-4AF8-59D0-683E-34D1B79A295C}"/>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CUENTA EMPRESA</a:t>
            </a:r>
          </a:p>
        </p:txBody>
      </p:sp>
      <p:sp>
        <p:nvSpPr>
          <p:cNvPr id="3" name="CuadroTexto 2">
            <a:extLst>
              <a:ext uri="{FF2B5EF4-FFF2-40B4-BE49-F238E27FC236}">
                <a16:creationId xmlns:a16="http://schemas.microsoft.com/office/drawing/2014/main" id="{56601FF8-6C57-4FC5-D08A-04DBF1B17E87}"/>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Acceso persistente y recuperacion de contrasena</a:t>
            </a:r>
          </a:p>
        </p:txBody>
      </p:sp>
      <p:sp>
        <p:nvSpPr>
          <p:cNvPr id="4" name="CuadroTexto 3">
            <a:extLst>
              <a:ext uri="{FF2B5EF4-FFF2-40B4-BE49-F238E27FC236}">
                <a16:creationId xmlns:a16="http://schemas.microsoft.com/office/drawing/2014/main" id="{FBC013F6-CF8D-38D1-B6F8-6A96BB5E19FB}"/>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Despues de la aprobacion, la empresa ya no depende solo del correo inicial. He dejado cuenta persistente, inicio de sesion y recuperacion de contrasena para que el flujo sea mas parecido al de una aplicacion real.</a:t>
            </a:r>
          </a:p>
        </p:txBody>
      </p:sp>
    </p:spTree>
    <p:extLst>
      <p:ext uri="{BB962C8B-B14F-4D97-AF65-F5344CB8AC3E}">
        <p14:creationId xmlns:p14="http://schemas.microsoft.com/office/powerpoint/2010/main" val="2902704072"/>
      </p:ext>
    </p:extLst>
  </p:cSld>
  <p:clrMapOvr>
    <a:masterClrMapping/>
  </p:clrMapOvr>
  <mc:AlternateContent xmlns:mc="http://schemas.openxmlformats.org/markup-compatibility/2006">
    <mc:Choice xmlns:p14="http://schemas.microsoft.com/office/powerpoint/2010/main" Requires="p14">
      <p:transition spd="slow" p14:dur="2000" advTm="16000"/>
    </mc:Choice>
    <mc:Fallback>
      <p:transition spd="slow" advTm="16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0AAC427-79F3-FA09-0674-6C04A1284D64}"/>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DOCUMENTACION</a:t>
            </a:r>
          </a:p>
        </p:txBody>
      </p:sp>
      <p:sp>
        <p:nvSpPr>
          <p:cNvPr id="3" name="CuadroTexto 2">
            <a:extLst>
              <a:ext uri="{FF2B5EF4-FFF2-40B4-BE49-F238E27FC236}">
                <a16:creationId xmlns:a16="http://schemas.microsoft.com/office/drawing/2014/main" id="{4206FDB1-0EEA-707E-E876-CC126CF0244E}"/>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Guia y memoria separadas del portal</a:t>
            </a:r>
          </a:p>
        </p:txBody>
      </p:sp>
      <p:sp>
        <p:nvSpPr>
          <p:cNvPr id="4" name="CuadroTexto 3">
            <a:extLst>
              <a:ext uri="{FF2B5EF4-FFF2-40B4-BE49-F238E27FC236}">
                <a16:creationId xmlns:a16="http://schemas.microsoft.com/office/drawing/2014/main" id="{1A7709BB-99A6-2FC1-CFD5-2B92C84D70C6}"/>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La documentacion la he dejado separada del uso operativo. Asi puedo ensenar la memoria, las capturas y la guia del proyecto sin entrar en menus internos ni mezclar la defensa con el trabajo diario de la aplicacion.</a:t>
            </a:r>
          </a:p>
        </p:txBody>
      </p:sp>
      <p:pic>
        <p:nvPicPr>
          <p:cNvPr id="6" name="Imagen 5">
            <a:extLst>
              <a:ext uri="{FF2B5EF4-FFF2-40B4-BE49-F238E27FC236}">
                <a16:creationId xmlns:a16="http://schemas.microsoft.com/office/drawing/2014/main" id="{E7CC4375-DCA8-F0D2-B771-CF0499768E0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874000" y="660400"/>
            <a:ext cx="7874000" cy="4432300"/>
          </a:xfrm>
          <a:prstGeom prst="rect">
            <a:avLst/>
          </a:prstGeom>
        </p:spPr>
      </p:pic>
    </p:spTree>
    <p:extLst>
      <p:ext uri="{BB962C8B-B14F-4D97-AF65-F5344CB8AC3E}">
        <p14:creationId xmlns:p14="http://schemas.microsoft.com/office/powerpoint/2010/main" val="3963306873"/>
      </p:ext>
    </p:extLst>
  </p:cSld>
  <p:clrMapOvr>
    <a:masterClrMapping/>
  </p:clrMapOvr>
  <mc:AlternateContent xmlns:mc="http://schemas.openxmlformats.org/markup-compatibility/2006">
    <mc:Choice xmlns:p14="http://schemas.microsoft.com/office/powerpoint/2010/main" Requires="p14">
      <p:transition spd="slow" p14:dur="2000" advTm="16000"/>
    </mc:Choice>
    <mc:Fallback>
      <p:transition spd="slow" advTm="16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931C6AF-4626-ECED-B926-D0C381D8414C}"/>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MONITOR PRIVADO</a:t>
            </a:r>
          </a:p>
        </p:txBody>
      </p:sp>
      <p:sp>
        <p:nvSpPr>
          <p:cNvPr id="3" name="CuadroTexto 2">
            <a:extLst>
              <a:ext uri="{FF2B5EF4-FFF2-40B4-BE49-F238E27FC236}">
                <a16:creationId xmlns:a16="http://schemas.microsoft.com/office/drawing/2014/main" id="{54490259-EFFF-81C3-704B-C12C82A3D655}"/>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Supervision tecnica y acceso publico</a:t>
            </a:r>
          </a:p>
        </p:txBody>
      </p:sp>
      <p:sp>
        <p:nvSpPr>
          <p:cNvPr id="4" name="CuadroTexto 3">
            <a:extLst>
              <a:ext uri="{FF2B5EF4-FFF2-40B4-BE49-F238E27FC236}">
                <a16:creationId xmlns:a16="http://schemas.microsoft.com/office/drawing/2014/main" id="{6BA5769D-3A3E-D467-7DF5-8174168E5823}"/>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Por ultimo, he separado un monitor privado para la parte tecnica. Desde aqui reviso servicios, logs, documentos y el acceso publico temporal, y las acciones sensibles quedan protegidas con MFA para no mezclarlas con el portal funcional.</a:t>
            </a:r>
          </a:p>
        </p:txBody>
      </p:sp>
      <p:pic>
        <p:nvPicPr>
          <p:cNvPr id="6" name="Imagen 5">
            <a:extLst>
              <a:ext uri="{FF2B5EF4-FFF2-40B4-BE49-F238E27FC236}">
                <a16:creationId xmlns:a16="http://schemas.microsoft.com/office/drawing/2014/main" id="{3FE89B79-E91D-D9E0-29EF-66FFA9ABED3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874000" y="660400"/>
            <a:ext cx="7874000" cy="4432300"/>
          </a:xfrm>
          <a:prstGeom prst="rect">
            <a:avLst/>
          </a:prstGeom>
        </p:spPr>
      </p:pic>
    </p:spTree>
    <p:extLst>
      <p:ext uri="{BB962C8B-B14F-4D97-AF65-F5344CB8AC3E}">
        <p14:creationId xmlns:p14="http://schemas.microsoft.com/office/powerpoint/2010/main" val="3816807318"/>
      </p:ext>
    </p:extLst>
  </p:cSld>
  <p:clrMapOvr>
    <a:masterClrMapping/>
  </p:clrMapOvr>
  <mc:AlternateContent xmlns:mc="http://schemas.openxmlformats.org/markup-compatibility/2006">
    <mc:Choice xmlns:p14="http://schemas.microsoft.com/office/powerpoint/2010/main" Requires="p14">
      <p:transition spd="slow" p14:dur="2000" advTm="20000"/>
    </mc:Choice>
    <mc:Fallback>
      <p:transition spd="slow" advTm="20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91310"/>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727FB2-ACA0-C5BB-1F34-4CE0ED4216F7}"/>
              </a:ext>
            </a:extLst>
          </p:cNvPr>
          <p:cNvSpPr txBox="1"/>
          <p:nvPr/>
        </p:nvSpPr>
        <p:spPr>
          <a:xfrm>
            <a:off x="533400" y="406400"/>
            <a:ext cx="6350000" cy="369332"/>
          </a:xfrm>
          <a:prstGeom prst="rect">
            <a:avLst/>
          </a:prstGeom>
          <a:noFill/>
        </p:spPr>
        <p:txBody>
          <a:bodyPr vert="horz" wrap="square" rtlCol="0">
            <a:noAutofit/>
          </a:bodyPr>
          <a:lstStyle/>
          <a:p>
            <a:r>
              <a:rPr lang="es-ES" sz="1400">
                <a:solidFill>
                  <a:srgbClr val="5C9AC3"/>
                </a:solidFill>
                <a:latin typeface="Segoe UI" panose="020B0502040204020203" pitchFamily="34" charset="0"/>
              </a:rPr>
              <a:t>CIERRE</a:t>
            </a:r>
          </a:p>
        </p:txBody>
      </p:sp>
      <p:sp>
        <p:nvSpPr>
          <p:cNvPr id="3" name="CuadroTexto 2">
            <a:extLst>
              <a:ext uri="{FF2B5EF4-FFF2-40B4-BE49-F238E27FC236}">
                <a16:creationId xmlns:a16="http://schemas.microsoft.com/office/drawing/2014/main" id="{9C3DDAD7-6332-0589-1979-F708AF0545BA}"/>
              </a:ext>
            </a:extLst>
          </p:cNvPr>
          <p:cNvSpPr txBox="1"/>
          <p:nvPr/>
        </p:nvSpPr>
        <p:spPr>
          <a:xfrm>
            <a:off x="533400" y="787400"/>
            <a:ext cx="7112000" cy="369332"/>
          </a:xfrm>
          <a:prstGeom prst="rect">
            <a:avLst/>
          </a:prstGeom>
          <a:noFill/>
        </p:spPr>
        <p:txBody>
          <a:bodyPr vert="horz" wrap="square" rtlCol="0">
            <a:noAutofit/>
          </a:bodyPr>
          <a:lstStyle/>
          <a:p>
            <a:r>
              <a:rPr lang="es-ES" sz="2800" b="1">
                <a:solidFill>
                  <a:srgbClr val="FCF8F7"/>
                </a:solidFill>
                <a:latin typeface="Segoe UI" panose="020B0502040204020203" pitchFamily="34" charset="0"/>
              </a:rPr>
              <a:t>Estado de la entrega final</a:t>
            </a:r>
          </a:p>
        </p:txBody>
      </p:sp>
      <p:sp>
        <p:nvSpPr>
          <p:cNvPr id="4" name="CuadroTexto 3">
            <a:extLst>
              <a:ext uri="{FF2B5EF4-FFF2-40B4-BE49-F238E27FC236}">
                <a16:creationId xmlns:a16="http://schemas.microsoft.com/office/drawing/2014/main" id="{D6EE7176-E6F2-17EC-D47E-13117FD79D5B}"/>
              </a:ext>
            </a:extLst>
          </p:cNvPr>
          <p:cNvSpPr txBox="1"/>
          <p:nvPr/>
        </p:nvSpPr>
        <p:spPr>
          <a:xfrm>
            <a:off x="533400" y="2032000"/>
            <a:ext cx="7112000" cy="369332"/>
          </a:xfrm>
          <a:prstGeom prst="rect">
            <a:avLst/>
          </a:prstGeom>
          <a:noFill/>
        </p:spPr>
        <p:txBody>
          <a:bodyPr vert="horz" wrap="square" rtlCol="0">
            <a:noAutofit/>
          </a:bodyPr>
          <a:lstStyle/>
          <a:p>
            <a:r>
              <a:rPr lang="es-ES" sz="1600">
                <a:solidFill>
                  <a:srgbClr val="DCD0C8"/>
                </a:solidFill>
                <a:latin typeface="Segoe UI" panose="020B0502040204020203" pitchFamily="34" charset="0"/>
              </a:rPr>
              <a:t>Con esto cierro la demostracion. La aplicacion queda organizada en portal interno, portal externo, documentacion y monitor, y tanto la memoria como el video se han preparado sobre el estado real del sistema.</a:t>
            </a:r>
          </a:p>
        </p:txBody>
      </p:sp>
    </p:spTree>
    <p:extLst>
      <p:ext uri="{BB962C8B-B14F-4D97-AF65-F5344CB8AC3E}">
        <p14:creationId xmlns:p14="http://schemas.microsoft.com/office/powerpoint/2010/main" val="568433181"/>
      </p:ext>
    </p:extLst>
  </p:cSld>
  <p:clrMapOvr>
    <a:masterClrMapping/>
  </p:clrMapOvr>
  <mc:AlternateContent xmlns:mc="http://schemas.openxmlformats.org/markup-compatibility/2006">
    <mc:Choice xmlns:p14="http://schemas.microsoft.com/office/powerpoint/2010/main" Requires="p14">
      <p:transition spd="slow" p14:dur="2000" advTm="12000"/>
    </mc:Choice>
    <mc:Fallback>
      <p:transition spd="slow" advTm="12000"/>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673</Words>
  <Application>Microsoft Office PowerPoint</Application>
  <PresentationFormat>Personalizado</PresentationFormat>
  <Paragraphs>76</Paragraphs>
  <Slides>11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11</vt:i4>
      </vt:variant>
    </vt:vector>
  </HeadingPairs>
  <TitlesOfParts>
    <vt:vector size="17" baseType="lpstr">
      <vt:lpstr>Aptos</vt:lpstr>
      <vt:lpstr>Aptos Display</vt:lpstr>
      <vt:lpstr>Arial</vt:lpstr>
      <vt:lpstr>Calibri</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1</cp:revision>
  <dcterms:created xsi:type="dcterms:W3CDTF">2026-03-29T22:08:38Z</dcterms:created>
  <dcterms:modified xsi:type="dcterms:W3CDTF">2026-03-29T22:08:38Z</dcterms:modified>
</cp:coreProperties>
</file>