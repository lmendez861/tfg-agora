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108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C54974-BA2D-DEDD-C4EA-D896F5C0B0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47899D-3FD5-4A89-FA44-5DBCD877AD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60B31B-B9C0-C336-2A57-A6E6BBB4C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CF83EF-85BC-63EA-D2FA-C6A3E8F94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7DCD0F0-F06F-9ADD-8E63-6562F6595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2639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B77EEA-82FC-9F37-0FD4-F2BDEFAAA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4C850AE-C979-AACE-243F-5CB284D2CC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4129A5-5E8A-92C4-9C72-FBED8CB35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37C3BFC-1B17-7AD1-80C7-9515311E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5567DB-4CDF-7698-7AA0-C554F337E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1971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C3F6F4-D80B-C1BB-227F-C03E5E048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7B172BB-7E5F-A4E2-217D-2B059083E5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907FA87-7F86-8183-E1EF-2A9AF0EA9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1A7589-02BA-C1C3-69B5-29607B14D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522CDD7-3053-0DFD-CBA5-11D5E492D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0898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1C9FE-8E6C-6103-9CD2-6BFB8A35C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BE22F8-F11E-2617-8DDE-BC25BF2E1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59EDAFD-C4AA-A7DA-0144-0B0957FC35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E15B96B-28C3-475D-E3D7-9F4B7C107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648C4D-4C4E-BF09-1C47-79A8CD5B1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80DF2E6-58DE-5F43-20DB-5D39F5BBB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3574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AB916-AE9D-26D9-28F7-EEAE8FF8B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C66CB01-328B-4D7B-2A2A-901DDF0FD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A1AD0B3-48E2-FC6C-9471-725BB47630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28D16E9-BEDB-A73C-EBD5-0F9712E94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07545AB-BEF7-3457-90A3-BE2C725516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5EED2F8-B104-278A-D121-8B6BA5C29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8AF0901-8B10-FD68-79A6-2E732472E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DFA98F8-B109-C8D4-B883-DF8CD2E5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6948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4145F3-8199-D652-0EA9-25539AAC5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457EB84-2E78-A4B6-D3D2-C4FB4D1B5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97D25ED-0BC3-CF86-49E8-64B39358E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B127638-D7CA-147F-C3F0-4BEC62CCD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6854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77768E8-3F42-6276-86AF-68715D8E9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FC22073-20C1-8832-0253-F179A022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702840-060A-E60B-D143-1F1FDA271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94746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4CCFB2-E81E-F719-766D-D55382D7F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52FC578-50BC-9A1A-9F42-60BDC233E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A6805FF-578A-B13E-9A1C-74EB8A8CBF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038623A-9E5A-3228-0571-79279CCE6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1793859-5ABA-672E-9504-362653336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C603FE4-4FC9-6622-C43B-7AD3545EA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21965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F6048-BB77-75B2-E0F5-556AA73FB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B4CB789-4CC6-7027-7FB7-32FEDDD108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1E7A35C-702C-1D8B-E13C-D710823AB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632614-54E4-2380-00E4-802994933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8EA630A-5FCE-62C7-BBCC-041308A8D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7B00146-435A-13A2-94AE-52EA686AA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80032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E84534-547B-71A0-B679-9C0F624EB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3EAF322-BC57-4BEE-65E7-C16B7C6AC1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F5F553-D299-15A6-CA75-45D65513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5CDBA8-0711-42FF-A9DE-0C266E338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0520F7-6A37-AAFB-22CF-3F8D5458D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88459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E4D055C-5670-F16A-6CC3-B33FD87A64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0278FE-F21E-EF15-4C2C-1A5678C55A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AC1D2A-64B6-78B0-815C-FE8E11F2E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64ABB7-CEE7-B824-3FC7-57ACF3EDB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9A95BCA-06D3-E659-4D09-2D237348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2709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3E795E7-988F-6D5A-2223-AFB25A944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176D17D-F500-CAF0-EB2E-9DD9DFBEF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8D3EAFA-06BC-8492-B4AD-7465FE921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9C1A0A-BF9E-48A0-991D-0EB02B84C89C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A64E50F-701B-BD30-C2B7-F8BB0DFF3D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911B98D-8394-836F-1E49-B6D9878521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465923-C01A-429D-BF48-FE1C1E8CA4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24308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8D26A0E0-FB4C-849C-CDCB-FE3596B00D9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0B0E1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C0ABDE1-768B-4E8F-4DF2-1182CD15BFB9}"/>
              </a:ext>
            </a:extLst>
          </p:cNvPr>
          <p:cNvSpPr txBox="1"/>
          <p:nvPr/>
        </p:nvSpPr>
        <p:spPr>
          <a:xfrm>
            <a:off x="736600" y="6858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DBA14D"/>
                </a:solidFill>
                <a:latin typeface="Segoe UI" panose="020B0502040204020203" pitchFamily="34" charset="0"/>
              </a:rPr>
              <a:t>Trabajo Final de Grado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9513875-C1AF-3123-1236-18C82A862A02}"/>
              </a:ext>
            </a:extLst>
          </p:cNvPr>
          <p:cNvSpPr txBox="1"/>
          <p:nvPr/>
        </p:nvSpPr>
        <p:spPr>
          <a:xfrm>
            <a:off x="736600" y="1320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4200" b="1">
                <a:solidFill>
                  <a:srgbClr val="F6F8FC"/>
                </a:solidFill>
                <a:latin typeface="Segoe UI" panose="020B0502040204020203" pitchFamily="34" charset="0"/>
              </a:rPr>
              <a:t>Gestion de Empresas Colaboradoras para FP Dual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8CE9AC4-3231-5E43-571C-63C921B839FE}"/>
              </a:ext>
            </a:extLst>
          </p:cNvPr>
          <p:cNvSpPr txBox="1"/>
          <p:nvPr/>
        </p:nvSpPr>
        <p:spPr>
          <a:xfrm>
            <a:off x="787400" y="3124200"/>
            <a:ext cx="8064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Plataforma web para centralizar empresas, convenios, practicas, solicitudes externas, seguimiento documental y comunicacion empresa-centro.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269820E-5F1A-E35A-BF32-5F29D2355FF6}"/>
              </a:ext>
            </a:extLst>
          </p:cNvPr>
          <p:cNvSpPr txBox="1"/>
          <p:nvPr/>
        </p:nvSpPr>
        <p:spPr>
          <a:xfrm>
            <a:off x="787400" y="52324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Autor: Luis Angel</a:t>
            </a:r>
          </a:p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Tutora: Elena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EBD596F-2F18-6433-8D13-E18EBF7F6B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968500"/>
            <a:ext cx="4064000" cy="2286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706983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F56AC7-7911-E2BF-6CC8-50571390860A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01 / PROBLEMA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DACE98E-D820-9E94-C264-77DF6C4CC2D0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Punto de partida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E355E7C-61B8-B4B6-062F-AEE7AA8F3A2E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gestion anterior estaba repartida entre hojas de calculo, correos y documentos sin una vista unificada.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C6AFCC8-F7F9-CD3D-7C00-AE222E696E86}"/>
              </a:ext>
            </a:extLst>
          </p:cNvPr>
          <p:cNvSpPr txBox="1"/>
          <p:nvPr/>
        </p:nvSpPr>
        <p:spPr>
          <a:xfrm>
            <a:off x="889000" y="2349500"/>
            <a:ext cx="520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Informacion dispersa entre varias fuentes.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Dificultad para conocer el estado real de convenios, solicitudes y asignaciones.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Dependencia del conocimiento manual de la persona que coordina las practicas.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Poca trazabilidad sobre mensajes, documentos y cambios.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6B6F8E0-E615-808A-AE2B-459EA13B7754}"/>
              </a:ext>
            </a:extLst>
          </p:cNvPr>
          <p:cNvSpPr/>
          <p:nvPr/>
        </p:nvSpPr>
        <p:spPr>
          <a:xfrm>
            <a:off x="7112000" y="2184400"/>
            <a:ext cx="3937000" cy="2413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8189235-ECAA-6164-31A7-4E28D358B8AD}"/>
              </a:ext>
            </a:extLst>
          </p:cNvPr>
          <p:cNvSpPr txBox="1"/>
          <p:nvPr/>
        </p:nvSpPr>
        <p:spPr>
          <a:xfrm>
            <a:off x="7493000" y="2540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700" b="1">
                <a:solidFill>
                  <a:srgbClr val="DBA14D"/>
                </a:solidFill>
                <a:latin typeface="Segoe UI" panose="020B0502040204020203" pitchFamily="34" charset="0"/>
              </a:rPr>
              <a:t>Necesidad principal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DB71B71-AA2A-A750-F9FF-835945CF0CC0}"/>
              </a:ext>
            </a:extLst>
          </p:cNvPr>
          <p:cNvSpPr txBox="1"/>
          <p:nvPr/>
        </p:nvSpPr>
        <p:spPr>
          <a:xfrm>
            <a:off x="7493000" y="3149600"/>
            <a:ext cx="3124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Pasar de una gestion dispersa a una plataforma unica, trazable y defendible.</a:t>
            </a:r>
          </a:p>
        </p:txBody>
      </p:sp>
    </p:spTree>
    <p:extLst>
      <p:ext uri="{BB962C8B-B14F-4D97-AF65-F5344CB8AC3E}">
        <p14:creationId xmlns:p14="http://schemas.microsoft.com/office/powerpoint/2010/main" val="3731850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AAB2597-D46F-DC71-2F5D-8B25AD7F5E96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02 / OBJETIVOS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B0BFD7C-8183-3CF0-551B-72C4115A75D0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tenia que resolver la aplicacion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5ACFF23C-810F-5790-7D24-C53279CEBFB7}"/>
              </a:ext>
            </a:extLst>
          </p:cNvPr>
          <p:cNvSpPr/>
          <p:nvPr/>
        </p:nvSpPr>
        <p:spPr>
          <a:xfrm>
            <a:off x="7366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FB3D499-5187-1BDF-4588-99C5D6332F04}"/>
              </a:ext>
            </a:extLst>
          </p:cNvPr>
          <p:cNvSpPr txBox="1"/>
          <p:nvPr/>
        </p:nvSpPr>
        <p:spPr>
          <a:xfrm>
            <a:off x="10160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Centralizar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0DAC83-A0C8-BD46-CF8F-8FCE3D48137D}"/>
              </a:ext>
            </a:extLst>
          </p:cNvPr>
          <p:cNvSpPr txBox="1"/>
          <p:nvPr/>
        </p:nvSpPr>
        <p:spPr>
          <a:xfrm>
            <a:off x="10160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Empresas, convenios, estudiantes, tutores y asignaciones.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1CAEE8A-4BB9-F904-5B9C-2A8358F24A0C}"/>
              </a:ext>
            </a:extLst>
          </p:cNvPr>
          <p:cNvSpPr/>
          <p:nvPr/>
        </p:nvSpPr>
        <p:spPr>
          <a:xfrm>
            <a:off x="61341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89F4701-DED3-63D5-604F-BD99DA9C461F}"/>
              </a:ext>
            </a:extLst>
          </p:cNvPr>
          <p:cNvSpPr txBox="1"/>
          <p:nvPr/>
        </p:nvSpPr>
        <p:spPr>
          <a:xfrm>
            <a:off x="64135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Abrir canal externo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9E830CB-5452-93D8-1B37-4A6C6438CD90}"/>
              </a:ext>
            </a:extLst>
          </p:cNvPr>
          <p:cNvSpPr txBox="1"/>
          <p:nvPr/>
        </p:nvSpPr>
        <p:spPr>
          <a:xfrm>
            <a:off x="64135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Registro de empresas, verificacion, estado y cuenta persistente.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D6F1CA5-94D8-2603-631E-BD4AC7C7EBD1}"/>
              </a:ext>
            </a:extLst>
          </p:cNvPr>
          <p:cNvSpPr/>
          <p:nvPr/>
        </p:nvSpPr>
        <p:spPr>
          <a:xfrm>
            <a:off x="7366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A663033-27A2-3610-6B2D-7F359410D3C7}"/>
              </a:ext>
            </a:extLst>
          </p:cNvPr>
          <p:cNvSpPr txBox="1"/>
          <p:nvPr/>
        </p:nvSpPr>
        <p:spPr>
          <a:xfrm>
            <a:off x="10160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Trazabilidad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5CC91123-17E1-FCBA-E28D-24E2E13D265D}"/>
              </a:ext>
            </a:extLst>
          </p:cNvPr>
          <p:cNvSpPr txBox="1"/>
          <p:nvPr/>
        </p:nvSpPr>
        <p:spPr>
          <a:xfrm>
            <a:off x="10160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Mensajeria, documentos versionados, evidencias y evaluacion final.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5DB876D-AC76-BBF4-BA80-FB66462E361B}"/>
              </a:ext>
            </a:extLst>
          </p:cNvPr>
          <p:cNvSpPr/>
          <p:nvPr/>
        </p:nvSpPr>
        <p:spPr>
          <a:xfrm>
            <a:off x="61341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F44A214-6240-E986-C66F-ECF824B30C93}"/>
              </a:ext>
            </a:extLst>
          </p:cNvPr>
          <p:cNvSpPr txBox="1"/>
          <p:nvPr/>
        </p:nvSpPr>
        <p:spPr>
          <a:xfrm>
            <a:off x="64135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Defensa tecnica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10B48E6-11A1-611D-CE0A-7C67FBD0FDAF}"/>
              </a:ext>
            </a:extLst>
          </p:cNvPr>
          <p:cNvSpPr txBox="1"/>
          <p:nvPr/>
        </p:nvSpPr>
        <p:spPr>
          <a:xfrm>
            <a:off x="64135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Arquitectura separada, pruebas, demo y documentacion final.</a:t>
            </a:r>
          </a:p>
        </p:txBody>
      </p:sp>
    </p:spTree>
    <p:extLst>
      <p:ext uri="{BB962C8B-B14F-4D97-AF65-F5344CB8AC3E}">
        <p14:creationId xmlns:p14="http://schemas.microsoft.com/office/powerpoint/2010/main" val="2054924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00CF1E5-9882-84D1-A36B-F9975948F1C6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03 / ARQUITECTURA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B084417-75B2-1CA6-8C4F-EDF1A9BF7DBA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Topologia operativa y de despliegue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314A682-2146-998E-587D-E8B92A72BFEC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misma URL publica sirve los dos portales, la documentacion y el monitor legacy, mientras el escritorio opera por API y SSH.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C9AB106-711F-8883-918A-0B752336D2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" y="2196774"/>
            <a:ext cx="6477000" cy="355665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BFF87F8D-632E-0E66-12F6-BCED179951DD}"/>
              </a:ext>
            </a:extLst>
          </p:cNvPr>
          <p:cNvSpPr txBox="1"/>
          <p:nvPr/>
        </p:nvSpPr>
        <p:spPr>
          <a:xfrm>
            <a:off x="7937500" y="22098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Caddy expone HTTPS y enruta a la aplicacion.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Symfony concentra seguridad, negocio y APIs.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PostgreSQL y documentos persisten fuera del contenedor.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Agora Desktop trabaja en local o en cloud.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shell web de monitor queda en legacy.</a:t>
            </a:r>
          </a:p>
        </p:txBody>
      </p:sp>
    </p:spTree>
    <p:extLst>
      <p:ext uri="{BB962C8B-B14F-4D97-AF65-F5344CB8AC3E}">
        <p14:creationId xmlns:p14="http://schemas.microsoft.com/office/powerpoint/2010/main" val="1561485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3CF5C9E-9ECB-3DD5-6D4F-A407C7C0ED49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04 / MODELO DE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491214E-0C65-5F9E-16EE-1A317A0FB4E8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De la cuenta de empresa a la asignacion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AE1B80D-AE78-6905-6235-AB2486E053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2016478"/>
            <a:ext cx="5969000" cy="371404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E454F16-1D60-5900-7AD6-BD4EEB8BB38D}"/>
              </a:ext>
            </a:extLst>
          </p:cNvPr>
          <p:cNvSpPr txBox="1"/>
          <p:nvPr/>
        </p:nvSpPr>
        <p:spPr>
          <a:xfrm>
            <a:off x="7239000" y="2006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Regla de negocio defendible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3694235-5164-8076-25CE-63B5F4A19767}"/>
              </a:ext>
            </a:extLst>
          </p:cNvPr>
          <p:cNvSpPr txBox="1"/>
          <p:nvPr/>
        </p:nvSpPr>
        <p:spPr>
          <a:xfrm>
            <a:off x="7493000" y="2667000"/>
            <a:ext cx="3619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cuenta portal sobrevive al preregistro inicial.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solicitud concentra verificacion, estado y mensajes.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empresa aprobada hereda convenios, documentos y tutores.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Asignacion, seguimiento y evaluacion cierran el ciclo.</a:t>
            </a:r>
          </a:p>
        </p:txBody>
      </p:sp>
    </p:spTree>
    <p:extLst>
      <p:ext uri="{BB962C8B-B14F-4D97-AF65-F5344CB8AC3E}">
        <p14:creationId xmlns:p14="http://schemas.microsoft.com/office/powerpoint/2010/main" val="2548476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CCBF99B-D613-FA12-9C8A-6D8075887DF4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05 / PANEL INTERNO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43A3967-F235-BEB6-A9A9-0C204031D56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Gestion diaria del centro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5B1EF6C-E4F6-9647-687F-3CA25CCEDA32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Dashboard, CRUD operativo, solicitudes, bandeja, documentos, seguimientos y exportacion.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C4C337B-4936-585C-0416-47FA306F1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1905000"/>
            <a:ext cx="7112000" cy="40005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5311EDC-1A2C-CDBE-CECF-C96DC6623FE5}"/>
              </a:ext>
            </a:extLst>
          </p:cNvPr>
          <p:cNvSpPr/>
          <p:nvPr/>
        </p:nvSpPr>
        <p:spPr>
          <a:xfrm>
            <a:off x="8407400" y="20955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DD254F0-0569-7FA3-77EB-BAA24FF8113D}"/>
              </a:ext>
            </a:extLst>
          </p:cNvPr>
          <p:cNvSpPr txBox="1"/>
          <p:nvPr/>
        </p:nvSpPr>
        <p:spPr>
          <a:xfrm>
            <a:off x="8636000" y="22606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20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34E3904-911B-D57D-4B7B-A09895F73D32}"/>
              </a:ext>
            </a:extLst>
          </p:cNvPr>
          <p:cNvSpPr txBox="1"/>
          <p:nvPr/>
        </p:nvSpPr>
        <p:spPr>
          <a:xfrm>
            <a:off x="8636000" y="27559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empresas demo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AE624A3-0614-02E0-0F30-1AE23EB98776}"/>
              </a:ext>
            </a:extLst>
          </p:cNvPr>
          <p:cNvSpPr/>
          <p:nvPr/>
        </p:nvSpPr>
        <p:spPr>
          <a:xfrm>
            <a:off x="8407400" y="35306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3DBD568-99F4-558D-B372-3422623ED7F5}"/>
              </a:ext>
            </a:extLst>
          </p:cNvPr>
          <p:cNvSpPr txBox="1"/>
          <p:nvPr/>
        </p:nvSpPr>
        <p:spPr>
          <a:xfrm>
            <a:off x="8636000" y="36957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DBA14D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9792F97-BD91-8F4B-B7E6-2A7A2B088498}"/>
              </a:ext>
            </a:extLst>
          </p:cNvPr>
          <p:cNvSpPr txBox="1"/>
          <p:nvPr/>
        </p:nvSpPr>
        <p:spPr>
          <a:xfrm>
            <a:off x="8636000" y="41910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convenios demo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A96305F9-22DA-CECB-E7E2-F1D4752C8E88}"/>
              </a:ext>
            </a:extLst>
          </p:cNvPr>
          <p:cNvSpPr/>
          <p:nvPr/>
        </p:nvSpPr>
        <p:spPr>
          <a:xfrm>
            <a:off x="8407400" y="49657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3036D62-8AF8-71F6-7714-3D71EF962E77}"/>
              </a:ext>
            </a:extLst>
          </p:cNvPr>
          <p:cNvSpPr txBox="1"/>
          <p:nvPr/>
        </p:nvSpPr>
        <p:spPr>
          <a:xfrm>
            <a:off x="8636000" y="5130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CSV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E26A294-69A6-3EA2-CDFC-AEDCBFB4FE72}"/>
              </a:ext>
            </a:extLst>
          </p:cNvPr>
          <p:cNvSpPr txBox="1"/>
          <p:nvPr/>
        </p:nvSpPr>
        <p:spPr>
          <a:xfrm>
            <a:off x="8636000" y="56261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exportacion operativa</a:t>
            </a:r>
          </a:p>
        </p:txBody>
      </p:sp>
    </p:spTree>
    <p:extLst>
      <p:ext uri="{BB962C8B-B14F-4D97-AF65-F5344CB8AC3E}">
        <p14:creationId xmlns:p14="http://schemas.microsoft.com/office/powerpoint/2010/main" val="682710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8526C7C-7F36-1F36-B098-CEBCE391698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06 / FLUJO EMPRESA-CENTRO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BF120A3-159A-D241-747C-B27F5AF2C4F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Solicitudes, aprobacion y bandeja unificada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F10EABB-4CE5-12E1-2136-83BB85DEC7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911747"/>
            <a:ext cx="6794500" cy="38219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D1F0883-D8B9-2E22-202D-0A67982F9561}"/>
              </a:ext>
            </a:extLst>
          </p:cNvPr>
          <p:cNvSpPr txBox="1"/>
          <p:nvPr/>
        </p:nvSpPr>
        <p:spPr>
          <a:xfrm>
            <a:off x="7937500" y="2108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empresa solicita colaborar desde el portal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correo queda verificado antes de la revision.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centro aprueba o rechaza desde el panel interno.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conversacion queda ligada a la solicitud y a la empresa.</a:t>
            </a:r>
          </a:p>
        </p:txBody>
      </p:sp>
    </p:spTree>
    <p:extLst>
      <p:ext uri="{BB962C8B-B14F-4D97-AF65-F5344CB8AC3E}">
        <p14:creationId xmlns:p14="http://schemas.microsoft.com/office/powerpoint/2010/main" val="2840323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90B48C7-75E2-7233-F8AA-29C8EEBDAEB1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07 / PORTAL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A9766DC-1F20-1D12-E634-CE6B986FF7BB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Experiencia de la empresa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6B4A59F-FEE4-F93D-75F8-DF07877C923E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Alta, seguimiento de estado, activacion de cuenta, recuperacion de contrasena y area privada.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55106AF-20D9-DF0B-FDD5-2C136CBA74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55" y="1854200"/>
            <a:ext cx="7224889" cy="4064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202FD18-0355-7146-3EBE-A846FBAC2C23}"/>
              </a:ext>
            </a:extLst>
          </p:cNvPr>
          <p:cNvSpPr/>
          <p:nvPr/>
        </p:nvSpPr>
        <p:spPr>
          <a:xfrm>
            <a:off x="8763000" y="2082800"/>
            <a:ext cx="2286000" cy="914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96D24EC-4409-1E20-190F-4FC7BDC4705F}"/>
              </a:ext>
            </a:extLst>
          </p:cNvPr>
          <p:cNvSpPr txBox="1"/>
          <p:nvPr/>
        </p:nvSpPr>
        <p:spPr>
          <a:xfrm>
            <a:off x="9042400" y="23368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Sin acceso interno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D793C89-ECDB-35EC-F819-FEB290F7A142}"/>
              </a:ext>
            </a:extLst>
          </p:cNvPr>
          <p:cNvSpPr txBox="1"/>
          <p:nvPr/>
        </p:nvSpPr>
        <p:spPr>
          <a:xfrm>
            <a:off x="8763000" y="327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portal externo tiene su propio recorrido y no mezcla credenciales de empresa con el panel del centro.</a:t>
            </a:r>
          </a:p>
        </p:txBody>
      </p:sp>
    </p:spTree>
    <p:extLst>
      <p:ext uri="{BB962C8B-B14F-4D97-AF65-F5344CB8AC3E}">
        <p14:creationId xmlns:p14="http://schemas.microsoft.com/office/powerpoint/2010/main" val="236568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E8FE010-8AAF-D77A-6FE3-A432594F744F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08 / DESARROLLO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5DD18C2-C5F8-BD47-72A7-CE0CB63325F1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lo he desarrollado y que partes tiene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DB07F75-413F-95A5-9FAF-BE68D811BCC1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presentacion se apoya en bloques funcionales y decisiones de arquitectura, no en fragmentos de codigo.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7C06495-A4E4-1550-2896-9DA0D0108873}"/>
              </a:ext>
            </a:extLst>
          </p:cNvPr>
          <p:cNvSpPr/>
          <p:nvPr/>
        </p:nvSpPr>
        <p:spPr>
          <a:xfrm>
            <a:off x="762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2EFF471-8EFC-84EC-BCB5-3096366249FD}"/>
              </a:ext>
            </a:extLst>
          </p:cNvPr>
          <p:cNvSpPr txBox="1"/>
          <p:nvPr/>
        </p:nvSpPr>
        <p:spPr>
          <a:xfrm>
            <a:off x="990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Analisis del problema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6DAEDEA-D504-B0E3-6717-DC1BDC86404A}"/>
              </a:ext>
            </a:extLst>
          </p:cNvPr>
          <p:cNvSpPr txBox="1"/>
          <p:nvPr/>
        </p:nvSpPr>
        <p:spPr>
          <a:xfrm>
            <a:off x="990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Necesidad real del centro y alcance viable para el TFG.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1BA7AAAC-B458-3E5B-461A-2FD52BE81980}"/>
              </a:ext>
            </a:extLst>
          </p:cNvPr>
          <p:cNvSpPr/>
          <p:nvPr/>
        </p:nvSpPr>
        <p:spPr>
          <a:xfrm>
            <a:off x="6096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743EDE1-291D-83D0-5EC5-20CBC69A6DA4}"/>
              </a:ext>
            </a:extLst>
          </p:cNvPr>
          <p:cNvSpPr txBox="1"/>
          <p:nvPr/>
        </p:nvSpPr>
        <p:spPr>
          <a:xfrm>
            <a:off x="6324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Modelo y reglas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4240100-1FDE-723F-3EEE-A537BB373D6F}"/>
              </a:ext>
            </a:extLst>
          </p:cNvPr>
          <p:cNvSpPr txBox="1"/>
          <p:nvPr/>
        </p:nvSpPr>
        <p:spPr>
          <a:xfrm>
            <a:off x="6324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Empresa, convenio, asignacion, seguimiento y evaluacion.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D802EDA8-4287-0BAC-408C-2404BCC2D9EF}"/>
              </a:ext>
            </a:extLst>
          </p:cNvPr>
          <p:cNvSpPr/>
          <p:nvPr/>
        </p:nvSpPr>
        <p:spPr>
          <a:xfrm>
            <a:off x="762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10E48B9-43AA-1CDE-BD8D-A06072EB02FF}"/>
              </a:ext>
            </a:extLst>
          </p:cNvPr>
          <p:cNvSpPr txBox="1"/>
          <p:nvPr/>
        </p:nvSpPr>
        <p:spPr>
          <a:xfrm>
            <a:off x="990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Backend Symfony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33D04DF-D4DB-920E-8E59-9BA968219784}"/>
              </a:ext>
            </a:extLst>
          </p:cNvPr>
          <p:cNvSpPr txBox="1"/>
          <p:nvPr/>
        </p:nvSpPr>
        <p:spPr>
          <a:xfrm>
            <a:off x="990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API, seguridad, correo, tokens, auditoria y persistencia.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A0AA643C-F3E5-D18C-91F2-2DAA1A4FA014}"/>
              </a:ext>
            </a:extLst>
          </p:cNvPr>
          <p:cNvSpPr/>
          <p:nvPr/>
        </p:nvSpPr>
        <p:spPr>
          <a:xfrm>
            <a:off x="6096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080C4FD-0FBC-6437-20BE-F5B8B213E917}"/>
              </a:ext>
            </a:extLst>
          </p:cNvPr>
          <p:cNvSpPr txBox="1"/>
          <p:nvPr/>
        </p:nvSpPr>
        <p:spPr>
          <a:xfrm>
            <a:off x="6324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interno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C6CAE58-62EF-43B8-DD30-6B325291064C}"/>
              </a:ext>
            </a:extLst>
          </p:cNvPr>
          <p:cNvSpPr txBox="1"/>
          <p:nvPr/>
        </p:nvSpPr>
        <p:spPr>
          <a:xfrm>
            <a:off x="6324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Gestion academica, bandeja, documentos y exportacion CSV.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6731DF98-6AED-5524-51E0-924ECE61238F}"/>
              </a:ext>
            </a:extLst>
          </p:cNvPr>
          <p:cNvSpPr/>
          <p:nvPr/>
        </p:nvSpPr>
        <p:spPr>
          <a:xfrm>
            <a:off x="762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39EF097E-AF1A-0F6F-554C-A59448AD9CCF}"/>
              </a:ext>
            </a:extLst>
          </p:cNvPr>
          <p:cNvSpPr txBox="1"/>
          <p:nvPr/>
        </p:nvSpPr>
        <p:spPr>
          <a:xfrm>
            <a:off x="990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externo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9DF365D-C7F0-598F-EC66-AC5AAB5B0A7F}"/>
              </a:ext>
            </a:extLst>
          </p:cNvPr>
          <p:cNvSpPr txBox="1"/>
          <p:nvPr/>
        </p:nvSpPr>
        <p:spPr>
          <a:xfrm>
            <a:off x="990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Registro, verificacion, estado, acceso empresa y chat.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669B39C3-1217-FE7E-C31D-618BC248FBEA}"/>
              </a:ext>
            </a:extLst>
          </p:cNvPr>
          <p:cNvSpPr/>
          <p:nvPr/>
        </p:nvSpPr>
        <p:spPr>
          <a:xfrm>
            <a:off x="6096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F0D5959-5B01-4D0B-3964-25ADBEB33461}"/>
              </a:ext>
            </a:extLst>
          </p:cNvPr>
          <p:cNvSpPr txBox="1"/>
          <p:nvPr/>
        </p:nvSpPr>
        <p:spPr>
          <a:xfrm>
            <a:off x="6324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Operacion final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A8B7B50-67E3-B823-CBBD-B7BDA19192B7}"/>
              </a:ext>
            </a:extLst>
          </p:cNvPr>
          <p:cNvSpPr txBox="1"/>
          <p:nvPr/>
        </p:nvSpPr>
        <p:spPr>
          <a:xfrm>
            <a:off x="6324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App de escritorio, pruebas, logs, backups y empaquetado.</a:t>
            </a:r>
          </a:p>
        </p:txBody>
      </p:sp>
    </p:spTree>
    <p:extLst>
      <p:ext uri="{BB962C8B-B14F-4D97-AF65-F5344CB8AC3E}">
        <p14:creationId xmlns:p14="http://schemas.microsoft.com/office/powerpoint/2010/main" val="922881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53EF905-F911-2F31-FAD0-191A0ABDC73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09 / CORREO Y RECHAZO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AC5B46A-73DC-C0DA-A717-F918A125DF90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Gestor de correos y comunicaciones transaccionales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D9A8A3D-6BE3-DF76-621E-68EC907B1E31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proveedor configurado es Brevo y cubre tanto correo funcional como operaciones sensibles.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0267645-03DD-3F9E-8A5C-ACC0A038705F}"/>
              </a:ext>
            </a:extLst>
          </p:cNvPr>
          <p:cNvSpPr/>
          <p:nvPr/>
        </p:nvSpPr>
        <p:spPr>
          <a:xfrm>
            <a:off x="736600" y="2032000"/>
            <a:ext cx="3175000" cy="28702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574122-3348-8DEC-8605-5777C07B6B77}"/>
              </a:ext>
            </a:extLst>
          </p:cNvPr>
          <p:cNvSpPr txBox="1"/>
          <p:nvPr/>
        </p:nvSpPr>
        <p:spPr>
          <a:xfrm>
            <a:off x="1168400" y="2438400"/>
            <a:ext cx="231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800" b="1">
                <a:solidFill>
                  <a:srgbClr val="DBA14D"/>
                </a:solidFill>
                <a:latin typeface="Segoe UI" panose="020B0502040204020203" pitchFamily="34" charset="0"/>
              </a:rPr>
              <a:t>Brevo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ECE2E86-538E-E01B-C1A1-43D459DEDF96}"/>
              </a:ext>
            </a:extLst>
          </p:cNvPr>
          <p:cNvSpPr txBox="1"/>
          <p:nvPr/>
        </p:nvSpPr>
        <p:spPr>
          <a:xfrm>
            <a:off x="1092200" y="3124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Verificacion de solicitud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Activacion de cuenta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Recuperacion de contrasena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MFA tecnico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Aviso de rechazo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E4AC941-C4EB-6AA4-CFEF-367570CD132C}"/>
              </a:ext>
            </a:extLst>
          </p:cNvPr>
          <p:cNvSpPr/>
          <p:nvPr/>
        </p:nvSpPr>
        <p:spPr>
          <a:xfrm>
            <a:off x="4597400" y="20320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A230D46-A039-48F1-6951-B3907F354812}"/>
              </a:ext>
            </a:extLst>
          </p:cNvPr>
          <p:cNvSpPr txBox="1"/>
          <p:nvPr/>
        </p:nvSpPr>
        <p:spPr>
          <a:xfrm>
            <a:off x="4876800" y="21590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1. Registro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9D1DCA1-02C2-37EC-F365-BF7A1591B8A5}"/>
              </a:ext>
            </a:extLst>
          </p:cNvPr>
          <p:cNvSpPr txBox="1"/>
          <p:nvPr/>
        </p:nvSpPr>
        <p:spPr>
          <a:xfrm>
            <a:off x="6604000" y="2159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empresa envia la solicitud.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E39B7F81-D49F-313C-4427-E8F19D10EEAC}"/>
              </a:ext>
            </a:extLst>
          </p:cNvPr>
          <p:cNvSpPr/>
          <p:nvPr/>
        </p:nvSpPr>
        <p:spPr>
          <a:xfrm>
            <a:off x="4597400" y="28956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A87F822-D891-FF4A-0F02-3A44124C393C}"/>
              </a:ext>
            </a:extLst>
          </p:cNvPr>
          <p:cNvSpPr txBox="1"/>
          <p:nvPr/>
        </p:nvSpPr>
        <p:spPr>
          <a:xfrm>
            <a:off x="4876800" y="30226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2. Verificacion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BD15F83-4415-9C0B-7155-65874520B084}"/>
              </a:ext>
            </a:extLst>
          </p:cNvPr>
          <p:cNvSpPr txBox="1"/>
          <p:nvPr/>
        </p:nvSpPr>
        <p:spPr>
          <a:xfrm>
            <a:off x="6604000" y="30226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Recibe enlace y confirma correo.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E6277D89-DBAA-2D26-1F05-0DDA9C48350B}"/>
              </a:ext>
            </a:extLst>
          </p:cNvPr>
          <p:cNvSpPr/>
          <p:nvPr/>
        </p:nvSpPr>
        <p:spPr>
          <a:xfrm>
            <a:off x="4597400" y="37592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FBCEB81-C9E4-117B-6E0E-691521121747}"/>
              </a:ext>
            </a:extLst>
          </p:cNvPr>
          <p:cNvSpPr txBox="1"/>
          <p:nvPr/>
        </p:nvSpPr>
        <p:spPr>
          <a:xfrm>
            <a:off x="4876800" y="38862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3. Revision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CBE7796-47DA-A9C1-28C3-B31118239767}"/>
              </a:ext>
            </a:extLst>
          </p:cNvPr>
          <p:cNvSpPr txBox="1"/>
          <p:nvPr/>
        </p:nvSpPr>
        <p:spPr>
          <a:xfrm>
            <a:off x="6604000" y="3886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El centro aprueba o rechaza.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412FF78-0457-639A-95B9-F5A764DC1F2E}"/>
              </a:ext>
            </a:extLst>
          </p:cNvPr>
          <p:cNvSpPr/>
          <p:nvPr/>
        </p:nvSpPr>
        <p:spPr>
          <a:xfrm>
            <a:off x="4597400" y="46228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01D4939-99A3-2E12-1723-E851F1822DD1}"/>
              </a:ext>
            </a:extLst>
          </p:cNvPr>
          <p:cNvSpPr txBox="1"/>
          <p:nvPr/>
        </p:nvSpPr>
        <p:spPr>
          <a:xfrm>
            <a:off x="4876800" y="47498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4. Resultado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30D73CA-612E-113F-E469-7345AC7385B8}"/>
              </a:ext>
            </a:extLst>
          </p:cNvPr>
          <p:cNvSpPr txBox="1"/>
          <p:nvPr/>
        </p:nvSpPr>
        <p:spPr>
          <a:xfrm>
            <a:off x="6604000" y="4749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Si se rechaza llega correo y el estado sigue visible en el portal.</a:t>
            </a:r>
          </a:p>
        </p:txBody>
      </p:sp>
    </p:spTree>
    <p:extLst>
      <p:ext uri="{BB962C8B-B14F-4D97-AF65-F5344CB8AC3E}">
        <p14:creationId xmlns:p14="http://schemas.microsoft.com/office/powerpoint/2010/main" val="10852617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9CE2496-B627-360A-0DE6-E28B88385026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10 / DOMINIO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EAAC5C9-558C-9D42-5BE1-5C7307F83F0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resuelvo el acceso publico y los enlaces de correo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69B89BD-8C1F-4180-61AA-830F085D55A4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problema ya no es una IP local incrustada: la plataforma publica una URL HTTPS estable sobre la VM cloud.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A18BF32F-543C-4B07-53B5-071EF1D619EA}"/>
              </a:ext>
            </a:extLst>
          </p:cNvPr>
          <p:cNvSpPr/>
          <p:nvPr/>
        </p:nvSpPr>
        <p:spPr>
          <a:xfrm>
            <a:off x="9144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F47EC61-8F1D-2851-871F-131752F80F3C}"/>
              </a:ext>
            </a:extLst>
          </p:cNvPr>
          <p:cNvSpPr txBox="1"/>
          <p:nvPr/>
        </p:nvSpPr>
        <p:spPr>
          <a:xfrm>
            <a:off x="12192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Infraestructura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DC65C6E-A3AC-7652-FC0C-195AF025C4A3}"/>
              </a:ext>
            </a:extLst>
          </p:cNvPr>
          <p:cNvSpPr txBox="1"/>
          <p:nvPr/>
        </p:nvSpPr>
        <p:spPr>
          <a:xfrm>
            <a:off x="1219200" y="31242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>
                <a:solidFill>
                  <a:srgbClr val="1F2937"/>
                </a:solidFill>
                <a:latin typeface="Consolas" panose="020B0609020204030204" pitchFamily="49" charset="0"/>
              </a:rPr>
              <a:t>GCP + Docker Compose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665AABE-9481-7904-707B-8B83BD57F6EE}"/>
              </a:ext>
            </a:extLst>
          </p:cNvPr>
          <p:cNvSpPr/>
          <p:nvPr/>
        </p:nvSpPr>
        <p:spPr>
          <a:xfrm>
            <a:off x="47752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FE73C81-E429-D3D9-830A-6DB641563943}"/>
              </a:ext>
            </a:extLst>
          </p:cNvPr>
          <p:cNvSpPr txBox="1"/>
          <p:nvPr/>
        </p:nvSpPr>
        <p:spPr>
          <a:xfrm>
            <a:off x="51308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Borde HTTPS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280473F-2B7C-326A-5B51-55325D52D43C}"/>
              </a:ext>
            </a:extLst>
          </p:cNvPr>
          <p:cNvSpPr txBox="1"/>
          <p:nvPr/>
        </p:nvSpPr>
        <p:spPr>
          <a:xfrm>
            <a:off x="5410200" y="3124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Consolas" panose="020B0609020204030204" pitchFamily="49" charset="0"/>
              </a:rPr>
              <a:t>Caddy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6C36FDC8-533A-55F0-E957-C6CB5C8B24A9}"/>
              </a:ext>
            </a:extLst>
          </p:cNvPr>
          <p:cNvSpPr/>
          <p:nvPr/>
        </p:nvSpPr>
        <p:spPr>
          <a:xfrm>
            <a:off x="8255000" y="2463800"/>
            <a:ext cx="3073400" cy="11684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A22A1A6-B1CF-A65E-0681-A3C7634201C6}"/>
              </a:ext>
            </a:extLst>
          </p:cNvPr>
          <p:cNvSpPr txBox="1"/>
          <p:nvPr/>
        </p:nvSpPr>
        <p:spPr>
          <a:xfrm>
            <a:off x="8559800" y="27178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DBA14D"/>
                </a:solidFill>
                <a:latin typeface="Segoe UI" panose="020B0502040204020203" pitchFamily="34" charset="0"/>
              </a:rPr>
              <a:t>URL publica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495F043-46E0-F646-7CC0-812ADC68107C}"/>
              </a:ext>
            </a:extLst>
          </p:cNvPr>
          <p:cNvSpPr txBox="1"/>
          <p:nvPr/>
        </p:nvSpPr>
        <p:spPr>
          <a:xfrm>
            <a:off x="8483600" y="3124200"/>
            <a:ext cx="2641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000">
                <a:solidFill>
                  <a:srgbClr val="F6F8FC"/>
                </a:solidFill>
                <a:latin typeface="Consolas" panose="020B0609020204030204" pitchFamily="49" charset="0"/>
              </a:rPr>
              <a:t>https://agora.34.175...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ABD840C-177C-F59E-E464-A85BC72E47D1}"/>
              </a:ext>
            </a:extLst>
          </p:cNvPr>
          <p:cNvSpPr txBox="1"/>
          <p:nvPr/>
        </p:nvSpPr>
        <p:spPr>
          <a:xfrm>
            <a:off x="1168400" y="4216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portal externo y los correos usan ya el origen publico correcto de la VM.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APP_EXTERNAL_BASE_URL fija la URL canonica para enlaces y notificaciones.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siguiente paso natural seria cambiar nip.io por dominio institucional propio.</a:t>
            </a:r>
          </a:p>
        </p:txBody>
      </p:sp>
    </p:spTree>
    <p:extLst>
      <p:ext uri="{BB962C8B-B14F-4D97-AF65-F5344CB8AC3E}">
        <p14:creationId xmlns:p14="http://schemas.microsoft.com/office/powerpoint/2010/main" val="2291224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EB2B62B-0F5C-9FAE-3695-0B8096FE97A4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11 / MENSAJERIA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7CA2F4B-0533-C986-3A02-48FACB2697C0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Bandeja y chat con actualizacion automatica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24CAE04-6D4D-6E66-B65C-2AA45DF48920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comunicacion entre centro y empresa no depende ya de recargar la pagina a mano.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54370F0-A0E6-C709-1CCD-B076CA9209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2028825"/>
            <a:ext cx="6604000" cy="37147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CE70DC4-CFBF-C5FF-EC49-BEC5D22BDA9B}"/>
              </a:ext>
            </a:extLst>
          </p:cNvPr>
          <p:cNvSpPr/>
          <p:nvPr/>
        </p:nvSpPr>
        <p:spPr>
          <a:xfrm>
            <a:off x="7874000" y="2082800"/>
            <a:ext cx="3175000" cy="10668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049EA37-A184-7DF4-182D-376712C62E7D}"/>
              </a:ext>
            </a:extLst>
          </p:cNvPr>
          <p:cNvSpPr txBox="1"/>
          <p:nvPr/>
        </p:nvSpPr>
        <p:spPr>
          <a:xfrm>
            <a:off x="8255000" y="2336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Actualizacion automatica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1A22A06-4C0C-1CFA-3D77-69EBA41A267D}"/>
              </a:ext>
            </a:extLst>
          </p:cNvPr>
          <p:cNvSpPr txBox="1"/>
          <p:nvPr/>
        </p:nvSpPr>
        <p:spPr>
          <a:xfrm>
            <a:off x="8813800" y="27178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F6F8FC"/>
                </a:solidFill>
                <a:latin typeface="Segoe UI" panose="020B0502040204020203" pitchFamily="34" charset="0"/>
              </a:rPr>
              <a:t>5 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9EDC992-F8C1-2C41-EA34-875E1A86BEBC}"/>
              </a:ext>
            </a:extLst>
          </p:cNvPr>
          <p:cNvSpPr txBox="1"/>
          <p:nvPr/>
        </p:nvSpPr>
        <p:spPr>
          <a:xfrm>
            <a:off x="7924800" y="3479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Refresco periodico del chat y de la bandeja.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Nueva carga cuando la ventana recupera el foco.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La empresa tambien ve cambios en su panel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El rechazo queda comunicado por correo y visible en estado.</a:t>
            </a:r>
          </a:p>
        </p:txBody>
      </p:sp>
    </p:spTree>
    <p:extLst>
      <p:ext uri="{BB962C8B-B14F-4D97-AF65-F5344CB8AC3E}">
        <p14:creationId xmlns:p14="http://schemas.microsoft.com/office/powerpoint/2010/main" val="3498344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ADF5E54-0B47-2896-54E3-FE6E770510EF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12 / AGORA DESKTOP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91576B8-16A1-4495-17BF-3AC78195030B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Consola tecnica local y cloud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FD1BC3C-47BB-01C6-455A-6F6A671E45B6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parte tecnica ya no depende de varios terminales sueltos ni de una pagina web separada: queda centralizada en una sola app.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67917A3-75A8-786E-F069-61A34019FA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2342377"/>
            <a:ext cx="5461000" cy="299874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73B96C4-CCAA-90A8-2D8D-513A151039E8}"/>
              </a:ext>
            </a:extLst>
          </p:cNvPr>
          <p:cNvSpPr txBox="1"/>
          <p:nvPr/>
        </p:nvSpPr>
        <p:spPr>
          <a:xfrm>
            <a:off x="6858000" y="20574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local para backend, SQLite y demo offline.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cloud para estado, smoke, logs y reinicios remotos.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MFA en operaciones sensibles del flujo local.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Diagnostico, logs y backups desde una sola interfaz.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Empaquetado Windows listo para la defensa.</a:t>
            </a:r>
          </a:p>
        </p:txBody>
      </p:sp>
    </p:spTree>
    <p:extLst>
      <p:ext uri="{BB962C8B-B14F-4D97-AF65-F5344CB8AC3E}">
        <p14:creationId xmlns:p14="http://schemas.microsoft.com/office/powerpoint/2010/main" val="1503816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3430133-8CE9-88BB-A591-7BC0AE2A0DDD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13 / VALIDACION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EA9BB5A-9ABC-1992-B21F-7371FD34CBB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Comprobaciones ejecutadas antes de la revision final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50330CCE-5524-BE3B-45F1-DEDCF3A76619}"/>
              </a:ext>
            </a:extLst>
          </p:cNvPr>
          <p:cNvSpPr/>
          <p:nvPr/>
        </p:nvSpPr>
        <p:spPr>
          <a:xfrm>
            <a:off x="8890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D2A64B2-6905-97C5-511E-73058293DD54}"/>
              </a:ext>
            </a:extLst>
          </p:cNvPr>
          <p:cNvSpPr txBox="1"/>
          <p:nvPr/>
        </p:nvSpPr>
        <p:spPr>
          <a:xfrm>
            <a:off x="11176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392E5AB-DD85-70A4-DE0F-CB2EC849E5A2}"/>
              </a:ext>
            </a:extLst>
          </p:cNvPr>
          <p:cNvSpPr txBox="1"/>
          <p:nvPr/>
        </p:nvSpPr>
        <p:spPr>
          <a:xfrm>
            <a:off x="11176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backend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BB172E4-595B-4818-63FB-64A0B92E2278}"/>
              </a:ext>
            </a:extLst>
          </p:cNvPr>
          <p:cNvSpPr/>
          <p:nvPr/>
        </p:nvSpPr>
        <p:spPr>
          <a:xfrm>
            <a:off x="37084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166C8F3-81C6-8EEC-CF1A-30A9D05A8D2A}"/>
              </a:ext>
            </a:extLst>
          </p:cNvPr>
          <p:cNvSpPr txBox="1"/>
          <p:nvPr/>
        </p:nvSpPr>
        <p:spPr>
          <a:xfrm>
            <a:off x="39370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567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E499E91-418B-4215-3ADE-DEA04F0C1D15}"/>
              </a:ext>
            </a:extLst>
          </p:cNvPr>
          <p:cNvSpPr txBox="1"/>
          <p:nvPr/>
        </p:nvSpPr>
        <p:spPr>
          <a:xfrm>
            <a:off x="39370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aserciones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53A2DBA-0CA8-E3D3-DDAA-6D31ECEC1F06}"/>
              </a:ext>
            </a:extLst>
          </p:cNvPr>
          <p:cNvSpPr/>
          <p:nvPr/>
        </p:nvSpPr>
        <p:spPr>
          <a:xfrm>
            <a:off x="65278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9D7216D-962D-40B3-A00F-974B4DE9EC8E}"/>
              </a:ext>
            </a:extLst>
          </p:cNvPr>
          <p:cNvSpPr txBox="1"/>
          <p:nvPr/>
        </p:nvSpPr>
        <p:spPr>
          <a:xfrm>
            <a:off x="67564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14/14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54119C0-8814-A475-8953-AE96D966C455}"/>
              </a:ext>
            </a:extLst>
          </p:cNvPr>
          <p:cNvSpPr txBox="1"/>
          <p:nvPr/>
        </p:nvSpPr>
        <p:spPr>
          <a:xfrm>
            <a:off x="67564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frontend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47F82F8-76A3-7CF0-F92E-2D0310069701}"/>
              </a:ext>
            </a:extLst>
          </p:cNvPr>
          <p:cNvSpPr/>
          <p:nvPr/>
        </p:nvSpPr>
        <p:spPr>
          <a:xfrm>
            <a:off x="93472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D02E93D-7A42-BD7A-43B8-420A5927D2DE}"/>
              </a:ext>
            </a:extLst>
          </p:cNvPr>
          <p:cNvSpPr txBox="1"/>
          <p:nvPr/>
        </p:nvSpPr>
        <p:spPr>
          <a:xfrm>
            <a:off x="95758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6/6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1D2B069-110C-FD48-F253-00EF4E48E793}"/>
              </a:ext>
            </a:extLst>
          </p:cNvPr>
          <p:cNvSpPr txBox="1"/>
          <p:nvPr/>
        </p:nvSpPr>
        <p:spPr>
          <a:xfrm>
            <a:off x="95758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E2E Playwright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2158504-D060-9EA0-221B-41A981AF51C2}"/>
              </a:ext>
            </a:extLst>
          </p:cNvPr>
          <p:cNvSpPr txBox="1"/>
          <p:nvPr/>
        </p:nvSpPr>
        <p:spPr>
          <a:xfrm>
            <a:off x="1193800" y="39878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Build integrada de /app y /externo publicada en Symfony.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Verificados correo, rechazo, URLs publicas, chat y consola tecnica de escritorio.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Tambien se ha validado el empaquetado Windows con PHP embebido y SQLite.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510BF8C-088D-0F57-AC6A-E090829EA2CB}"/>
              </a:ext>
            </a:extLst>
          </p:cNvPr>
          <p:cNvSpPr txBox="1"/>
          <p:nvPr/>
        </p:nvSpPr>
        <p:spPr>
          <a:xfrm>
            <a:off x="1193800" y="5562600"/>
            <a:ext cx="927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Queda una deprecacion tecnica de PHPUnit, no bloqueante para la demo ni para la funcionalidad.</a:t>
            </a:r>
          </a:p>
        </p:txBody>
      </p:sp>
    </p:spTree>
    <p:extLst>
      <p:ext uri="{BB962C8B-B14F-4D97-AF65-F5344CB8AC3E}">
        <p14:creationId xmlns:p14="http://schemas.microsoft.com/office/powerpoint/2010/main" val="22172785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97D073-59E3-5409-CF6C-C97B6296295A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14 / ACCESO DE EVALUACION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9C7F614-5499-76E6-C427-B77D4FC82F1B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puede probarla la profesora desde fuera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7568BDC-19A1-B02B-11CC-CCD27F9083CE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Con la VM levantada no necesita instalar dependencias en su equipo.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58FA41B2-903B-E960-4D4C-7649F102C072}"/>
              </a:ext>
            </a:extLst>
          </p:cNvPr>
          <p:cNvSpPr/>
          <p:nvPr/>
        </p:nvSpPr>
        <p:spPr>
          <a:xfrm>
            <a:off x="863600" y="2006600"/>
            <a:ext cx="104648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D07C734-D680-766C-EEDF-F6D166A0306A}"/>
              </a:ext>
            </a:extLst>
          </p:cNvPr>
          <p:cNvSpPr txBox="1"/>
          <p:nvPr/>
        </p:nvSpPr>
        <p:spPr>
          <a:xfrm>
            <a:off x="1244600" y="2362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 b="1">
                <a:solidFill>
                  <a:srgbClr val="4975B0"/>
                </a:solidFill>
                <a:latin typeface="Consolas" panose="020B0609020204030204" pitchFamily="49" charset="0"/>
              </a:rPr>
              <a:t>https://agora.34.175.224.87.nip.io/app   |   https://agora.34.175.224.87.nip.io/externo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A9B237C-E4F3-61B4-E479-E549D931655B}"/>
              </a:ext>
            </a:extLst>
          </p:cNvPr>
          <p:cNvSpPr txBox="1"/>
          <p:nvPr/>
        </p:nvSpPr>
        <p:spPr>
          <a:xfrm>
            <a:off x="1295400" y="2794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misma base sirve panel interno, portal externo y documentacion; la operacion tecnica se hace desde Agora Desktop.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D42DE42-5955-D968-3FEC-2E1E9579A8C8}"/>
              </a:ext>
            </a:extLst>
          </p:cNvPr>
          <p:cNvSpPr/>
          <p:nvPr/>
        </p:nvSpPr>
        <p:spPr>
          <a:xfrm>
            <a:off x="1092200" y="3835400"/>
            <a:ext cx="4064000" cy="14986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68B4253-FCBE-C837-4133-F7E478500FFB}"/>
              </a:ext>
            </a:extLst>
          </p:cNvPr>
          <p:cNvSpPr txBox="1"/>
          <p:nvPr/>
        </p:nvSpPr>
        <p:spPr>
          <a:xfrm>
            <a:off x="1498600" y="4165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Usuario de prueba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77F98AF-71D3-B7AA-A7BE-7F6AAB5DF75D}"/>
              </a:ext>
            </a:extLst>
          </p:cNvPr>
          <p:cNvSpPr txBox="1"/>
          <p:nvPr/>
        </p:nvSpPr>
        <p:spPr>
          <a:xfrm>
            <a:off x="1498600" y="45974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F6F8FC"/>
                </a:solidFill>
                <a:latin typeface="Consolas" panose="020B0609020204030204" pitchFamily="49" charset="0"/>
              </a:rPr>
              <a:t>profesora / Abrete01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1E5AB4E-15F6-D17F-8080-4724F36ADDC3}"/>
              </a:ext>
            </a:extLst>
          </p:cNvPr>
          <p:cNvSpPr txBox="1"/>
          <p:nvPr/>
        </p:nvSpPr>
        <p:spPr>
          <a:xfrm>
            <a:off x="1498600" y="497840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Rol: coordinacion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80F215D-46DF-AAAC-31BC-41213A603EF7}"/>
              </a:ext>
            </a:extLst>
          </p:cNvPr>
          <p:cNvSpPr txBox="1"/>
          <p:nvPr/>
        </p:nvSpPr>
        <p:spPr>
          <a:xfrm>
            <a:off x="5969000" y="38862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Puede revisar solicitudes, convenios, asignaciones y mensajes.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La empresa prueba el recorrido por /externo.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acceso remoto depende de que la VM siga activa.</a:t>
            </a:r>
          </a:p>
        </p:txBody>
      </p:sp>
    </p:spTree>
    <p:extLst>
      <p:ext uri="{BB962C8B-B14F-4D97-AF65-F5344CB8AC3E}">
        <p14:creationId xmlns:p14="http://schemas.microsoft.com/office/powerpoint/2010/main" val="3246461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4D3AD77-828F-E3E7-87B2-01EBE2689D0E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15 / MEJORAS FUTURAS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9FAC8C5-54BD-E621-AF51-DB21D5D6637F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endureceria despues de esta entrega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C040CF0-AD7D-80D0-B96D-A615BCB8C1AD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nucleo ya esta cerrado; lo siguiente ya no es supervivencia de la demo, sino evolucion del producto.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F2CF240-B952-37B3-8E06-AA83F789C3B2}"/>
              </a:ext>
            </a:extLst>
          </p:cNvPr>
          <p:cNvSpPr/>
          <p:nvPr/>
        </p:nvSpPr>
        <p:spPr>
          <a:xfrm>
            <a:off x="711200" y="2235200"/>
            <a:ext cx="3200400" cy="2235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DD5E688-21C6-A61A-38ED-F2084F038141}"/>
              </a:ext>
            </a:extLst>
          </p:cNvPr>
          <p:cNvSpPr txBox="1"/>
          <p:nvPr/>
        </p:nvSpPr>
        <p:spPr>
          <a:xfrm>
            <a:off x="965200" y="2489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1A772"/>
                </a:solidFill>
                <a:latin typeface="Segoe UI" panose="020B0502040204020203" pitchFamily="34" charset="0"/>
              </a:rPr>
              <a:t>Dominio propio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EC20374-7D60-B373-5141-2B0E4B57A84A}"/>
              </a:ext>
            </a:extLst>
          </p:cNvPr>
          <p:cNvSpPr txBox="1"/>
          <p:nvPr/>
        </p:nvSpPr>
        <p:spPr>
          <a:xfrm>
            <a:off x="965200" y="2997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Sustituir nip.io por dominio institucional y reforzar politicas TLS.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4089369-9A7A-35A8-0D6C-894B25FF9795}"/>
              </a:ext>
            </a:extLst>
          </p:cNvPr>
          <p:cNvSpPr/>
          <p:nvPr/>
        </p:nvSpPr>
        <p:spPr>
          <a:xfrm>
            <a:off x="4495800" y="2235200"/>
            <a:ext cx="3200400" cy="2235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EEC2744-B96F-CF63-628C-0EDA09C77340}"/>
              </a:ext>
            </a:extLst>
          </p:cNvPr>
          <p:cNvSpPr txBox="1"/>
          <p:nvPr/>
        </p:nvSpPr>
        <p:spPr>
          <a:xfrm>
            <a:off x="4749800" y="2489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B1D2"/>
                </a:solidFill>
                <a:latin typeface="Segoe UI" panose="020B0502040204020203" pitchFamily="34" charset="0"/>
              </a:rPr>
              <a:t>Servicios gestionados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1B5DCFA-D205-FAE9-F06F-EE173C4DD4F6}"/>
              </a:ext>
            </a:extLst>
          </p:cNvPr>
          <p:cNvSpPr txBox="1"/>
          <p:nvPr/>
        </p:nvSpPr>
        <p:spPr>
          <a:xfrm>
            <a:off x="4749800" y="2997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Mover documentos, backups y observabilidad a piezas gestionadas.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1EA7C88D-9F11-A261-C173-0FE8F14772A8}"/>
              </a:ext>
            </a:extLst>
          </p:cNvPr>
          <p:cNvSpPr/>
          <p:nvPr/>
        </p:nvSpPr>
        <p:spPr>
          <a:xfrm>
            <a:off x="8280400" y="2235200"/>
            <a:ext cx="3200400" cy="2235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A9BE991-68D7-7A46-3DAD-348D38562250}"/>
              </a:ext>
            </a:extLst>
          </p:cNvPr>
          <p:cNvSpPr txBox="1"/>
          <p:nvPr/>
        </p:nvSpPr>
        <p:spPr>
          <a:xfrm>
            <a:off x="8534400" y="2489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DBA14D"/>
                </a:solidFill>
                <a:latin typeface="Segoe UI" panose="020B0502040204020203" pitchFamily="34" charset="0"/>
              </a:rPr>
              <a:t>Cliente tecnico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336450E-CBEE-21AE-587B-B48FB2B794E0}"/>
              </a:ext>
            </a:extLst>
          </p:cNvPr>
          <p:cNvSpPr txBox="1"/>
          <p:nvPr/>
        </p:nvSpPr>
        <p:spPr>
          <a:xfrm>
            <a:off x="8534400" y="2997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Ampliar Agora Desktop con mas automatizacion y soporte operativo sin mezclarlo con negocio.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0BEA9F2-2AD8-C4B1-3F63-38965E41D1ED}"/>
              </a:ext>
            </a:extLst>
          </p:cNvPr>
          <p:cNvSpPr txBox="1"/>
          <p:nvPr/>
        </p:nvSpPr>
        <p:spPr>
          <a:xfrm>
            <a:off x="1117600" y="4978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Mantendria PostgreSQL en servidor y endureceria automatizacion, dominio y observabilidad.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No meteria nuevas funciones secundarias sin cerrar antes seguridad, pruebas y operacion.</a:t>
            </a:r>
          </a:p>
        </p:txBody>
      </p:sp>
    </p:spTree>
    <p:extLst>
      <p:ext uri="{BB962C8B-B14F-4D97-AF65-F5344CB8AC3E}">
        <p14:creationId xmlns:p14="http://schemas.microsoft.com/office/powerpoint/2010/main" val="3725548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3DC3612-2058-06AC-93C9-ED0D6726294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16 / LIMITACIONES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8C40224-81C6-4E36-7D5B-9F21B4FEE17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queda fuera de esta entrega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B5B60DC-A75D-45BE-804F-BC885F6F4CC1}"/>
              </a:ext>
            </a:extLst>
          </p:cNvPr>
          <p:cNvSpPr txBox="1"/>
          <p:nvPr/>
        </p:nvSpPr>
        <p:spPr>
          <a:xfrm>
            <a:off x="990600" y="20320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Despliegue permanente completamente automatizado.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Integracion con SSO o identidad corporativa.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Firma electronica avanzada.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Almacenamiento documental en nube gestionada.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Perfilado profundo de rendimiento en produccion.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48C1DE9-6BD5-EBD7-9950-DAE8920F1FF1}"/>
              </a:ext>
            </a:extLst>
          </p:cNvPr>
          <p:cNvSpPr/>
          <p:nvPr/>
        </p:nvSpPr>
        <p:spPr>
          <a:xfrm>
            <a:off x="6807200" y="2057400"/>
            <a:ext cx="4064000" cy="2667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6B12BC-610E-1351-D73C-368B4B1AC1CD}"/>
              </a:ext>
            </a:extLst>
          </p:cNvPr>
          <p:cNvSpPr txBox="1"/>
          <p:nvPr/>
        </p:nvSpPr>
        <p:spPr>
          <a:xfrm>
            <a:off x="7213600" y="24384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Siguiente iteracion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B1052AB-829B-F3AE-5AE2-1F6026116D3D}"/>
              </a:ext>
            </a:extLst>
          </p:cNvPr>
          <p:cNvSpPr txBox="1"/>
          <p:nvPr/>
        </p:nvSpPr>
        <p:spPr>
          <a:xfrm>
            <a:off x="7213600" y="3098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Despliegue estable, dominio propio, base de datos de servidor y seguridad endurecida.</a:t>
            </a:r>
          </a:p>
        </p:txBody>
      </p:sp>
    </p:spTree>
    <p:extLst>
      <p:ext uri="{BB962C8B-B14F-4D97-AF65-F5344CB8AC3E}">
        <p14:creationId xmlns:p14="http://schemas.microsoft.com/office/powerpoint/2010/main" val="1362884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A0FAC90-46C1-F43B-6044-79E44BD0FB4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17 / CIERRE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BFEF832-13B0-1285-9F0B-8C1528AD7B98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Resultado defendible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975764C-8698-FBD2-A0AF-D6D4D70C13B7}"/>
              </a:ext>
            </a:extLst>
          </p:cNvPr>
          <p:cNvSpPr txBox="1"/>
          <p:nvPr/>
        </p:nvSpPr>
        <p:spPr>
          <a:xfrm>
            <a:off x="1168400" y="2006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El proyecto transforma una gestion dispersa en una plataforma web funcional, trazable y documentada para empresas colaboradoras y practicas de FP Dual.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51DC6F8-9DAE-639A-2D06-7950D96433A1}"/>
              </a:ext>
            </a:extLst>
          </p:cNvPr>
          <p:cNvSpPr txBox="1"/>
          <p:nvPr/>
        </p:nvSpPr>
        <p:spPr>
          <a:xfrm>
            <a:off x="1625600" y="40894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Problema real del centro.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Arquitectura completa con backend, dos frontends y operacion local.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Validacion tecnica, empaquetado y demo preparados.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89D9B40-7C2B-6D34-46BD-BA660C281D6C}"/>
              </a:ext>
            </a:extLst>
          </p:cNvPr>
          <p:cNvSpPr txBox="1"/>
          <p:nvPr/>
        </p:nvSpPr>
        <p:spPr>
          <a:xfrm>
            <a:off x="4191000" y="594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200" b="1">
                <a:solidFill>
                  <a:srgbClr val="DBA14D"/>
                </a:solidFill>
                <a:latin typeface="Segoe UI" panose="020B0502040204020203" pitchFamily="34" charset="0"/>
              </a:rPr>
              <a:t>Demo y preguntas</a:t>
            </a:r>
          </a:p>
        </p:txBody>
      </p:sp>
    </p:spTree>
    <p:extLst>
      <p:ext uri="{BB962C8B-B14F-4D97-AF65-F5344CB8AC3E}">
        <p14:creationId xmlns:p14="http://schemas.microsoft.com/office/powerpoint/2010/main" val="41571627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1266</Words>
  <Application>Microsoft Office PowerPoint</Application>
  <PresentationFormat>Personalizado</PresentationFormat>
  <Paragraphs>172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Consolas</vt:lpstr>
      <vt:lpstr>Segoe UI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Ángel Méndez Minda</dc:creator>
  <cp:lastModifiedBy>Luis Ángel Méndez Minda</cp:lastModifiedBy>
  <cp:revision>1</cp:revision>
  <dcterms:created xsi:type="dcterms:W3CDTF">2026-05-18T22:00:49Z</dcterms:created>
  <dcterms:modified xsi:type="dcterms:W3CDTF">2026-05-18T22:00:49Z</dcterms:modified>
</cp:coreProperties>
</file>