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94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9B553E-4BFD-4556-9980-6AAD45C032C4}" type="datetimeFigureOut">
              <a:rPr lang="es-ES" smtClean="0"/>
              <a:t>05/06/2026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49BF2D8-5248-4F03-B1E7-1A7CACDA9D22}" type="slidenum">
              <a:rPr lang="es-ES" smtClean="0"/>
              <a:t>‹Nº›</a:t>
            </a:fld>
            <a:endParaRPr lang="es-ES"/>
          </a:p>
        </p:txBody>
      </p:sp>
    </p:spTree>
    <p:extLst>
      <p:ext uri="{BB962C8B-B14F-4D97-AF65-F5344CB8AC3E}">
        <p14:creationId xmlns:p14="http://schemas.microsoft.com/office/powerpoint/2010/main" val="10562886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portada tengo que abrir con el problema, no con tecnologia.
La idea principal es que he construido una plataforma para gestionar empresas colaboradoras y practicas de FP Dual.
La solucion final tiene dos portales, una API central, documentacion publica y una app de escritorio tecnica.
Durante la defensa voy a enseÃ±ar el flujo funcional y despues la parte de operacion y validacion.</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a:t>
            </a:fld>
            <a:endParaRPr lang="es-ES"/>
          </a:p>
        </p:txBody>
      </p:sp>
    </p:spTree>
    <p:extLst>
      <p:ext uri="{BB962C8B-B14F-4D97-AF65-F5344CB8AC3E}">
        <p14:creationId xmlns:p14="http://schemas.microsoft.com/office/powerpoint/2010/main" val="12345461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explicar el contexto inicial.
Antes la informacion estaba repartida entre correos, hojas de calculo y documentos en carpetas distintas.
Eso hacia dificil saber en que estado estaba cada empresa, cada convenio o cada practica.
Por eso el problema no era solo guardar datos, sino dar continuidad, trazabilidad y una vista unica al centro.</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2</a:t>
            </a:fld>
            <a:endParaRPr lang="es-ES"/>
          </a:p>
        </p:txBody>
      </p:sp>
    </p:spTree>
    <p:extLst>
      <p:ext uri="{BB962C8B-B14F-4D97-AF65-F5344CB8AC3E}">
        <p14:creationId xmlns:p14="http://schemas.microsoft.com/office/powerpoint/2010/main" val="8600819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resumo el alcance en cuatro objetivos claros.
Primero, centralizar la operativa del centro.
Segundo, abrir un canal externo para empresas sin mezclarlo con el panel interno.
Tercero, dejar trazabilidad documental y de mensajes.
Cuarto, cerrar una solucion defendible tecnicamente con pruebas, despliegue y documentacion.</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3</a:t>
            </a:fld>
            <a:endParaRPr lang="es-ES"/>
          </a:p>
        </p:txBody>
      </p:sp>
    </p:spTree>
    <p:extLst>
      <p:ext uri="{BB962C8B-B14F-4D97-AF65-F5344CB8AC3E}">
        <p14:creationId xmlns:p14="http://schemas.microsoft.com/office/powerpoint/2010/main" val="28165065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defender la separacion de responsabilidades.
Symfony concentra negocio, seguridad y persistencia.
React se divide en portal interno y portal externo.
La documentacion publica queda separada del flujo operativo.
Agora Desktop no es una tercera interfaz de negocio, sino una consola tecnica para soporte local y cloud.</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4</a:t>
            </a:fld>
            <a:endParaRPr lang="es-ES"/>
          </a:p>
        </p:txBody>
      </p:sp>
    </p:spTree>
    <p:extLst>
      <p:ext uri="{BB962C8B-B14F-4D97-AF65-F5344CB8AC3E}">
        <p14:creationId xmlns:p14="http://schemas.microsoft.com/office/powerpoint/2010/main" val="327869772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Flujo que debo explicar en esta diapositiva:
1. La empresa entra primero por solicitud externa.
2. Cuando el centro aprueba, esa solicitud pasa al catalogo interno de empresas activas.
3. Despues completo la ficha de empresa con contactos, documentos y tutor profesional.
4. Luego formalizo el convenio entre centro y empresa.
5. La asignacion es donde vinculo estudiante, convenio, tutor academico, tutor profesional, horas, fechas y modalidad.
6. Sobre esa asignacion registro seguimientos, reuniones, evidencias y la evaluacion final.
7. La evaluacion final se guarda sobre la asignacion, no como un seguimiento suelto ni como una nota general del estudiante.</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5</a:t>
            </a:fld>
            <a:endParaRPr lang="es-ES"/>
          </a:p>
        </p:txBody>
      </p:sp>
    </p:spTree>
    <p:extLst>
      <p:ext uri="{BB962C8B-B14F-4D97-AF65-F5344CB8AC3E}">
        <p14:creationId xmlns:p14="http://schemas.microsoft.com/office/powerpoint/2010/main" val="17298674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que el portal interno es la herramienta de trabajo diaria del centro.
Desde este panel se revisan KPI, solicitudes, empresas, convenios, tutores, estudiantes y asignaciones.
La idea es que no sea solo un CRUD, sino un shell operativo con accesos rapidos, bandeja y exportacion CSV.
Las fichas 360 de empresa y convenio ayudan a no perder contexto.</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6</a:t>
            </a:fld>
            <a:endParaRPr lang="es-ES"/>
          </a:p>
        </p:txBody>
      </p:sp>
    </p:spTree>
    <p:extLst>
      <p:ext uri="{BB962C8B-B14F-4D97-AF65-F5344CB8AC3E}">
        <p14:creationId xmlns:p14="http://schemas.microsoft.com/office/powerpoint/2010/main" val="34652377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conectar claramente portal externo y portal interno.
La empresa no entra directamente al dominio interno.
Primero crea su acceso, envia la solicitud y verifica el correo.
Despues el centro revisa, aprueba o rechaza.
La mensajeria queda ligada a la solicitud y, cuando se aprueba, continua sobre la empresa ya activada.</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7</a:t>
            </a:fld>
            <a:endParaRPr lang="es-ES"/>
          </a:p>
        </p:txBody>
      </p:sp>
    </p:spTree>
    <p:extLst>
      <p:ext uri="{BB962C8B-B14F-4D97-AF65-F5344CB8AC3E}">
        <p14:creationId xmlns:p14="http://schemas.microsoft.com/office/powerpoint/2010/main" val="297687352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En esta slide explico que el portal externo no es una copia reducida del interno.
Tiene su propio recorrido: alta de cuenta, solicitud, verificacion, estado, acceso persistente y chat.
La empresa nunca necesita credenciales del centro.
Cuando la empresa se aprueba, la misma cuenta sigue sirviendo para ver sus convenios, asignaciones y documentos.</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8</a:t>
            </a:fld>
            <a:endParaRPr lang="es-ES"/>
          </a:p>
        </p:txBody>
      </p:sp>
    </p:spTree>
    <p:extLst>
      <p:ext uri="{BB962C8B-B14F-4D97-AF65-F5344CB8AC3E}">
        <p14:creationId xmlns:p14="http://schemas.microsoft.com/office/powerpoint/2010/main" val="320230741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sustituye a una explicacion larga de desarrollo.
Aqui tengo que explicar el recorrido que si queda cerrado y que voy a defender en demo.
Primero entra la empresa desde el portal externo.
Despues el centro revisa la solicitud desde el panel interno.
Si se aprueba, la empresa pasa al catalogo y se pueden crear convenios.
Finalmente se crean asignaciones con estudiantes y tutores, y se completa el seguimiento con mensajes, documentos y evaluacion final.</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9</a:t>
            </a:fld>
            <a:endParaRPr lang="es-ES"/>
          </a:p>
        </p:txBody>
      </p:sp>
    </p:spTree>
    <p:extLst>
      <p:ext uri="{BB962C8B-B14F-4D97-AF65-F5344CB8AC3E}">
        <p14:creationId xmlns:p14="http://schemas.microsoft.com/office/powerpoint/2010/main" val="34202688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debo dejar claro que el correo no es decorativo.
Uso Brevo para verificacion de empresa, activacion de cuenta, recuperacion de contrasena y, si el transporte esta disponible, aviso de rechazo.
Eso permite que la profesora pruebe un flujo real desde fuera, no una simulacion local.
Tambien me sirve para justificar por que necesitaba una URL publica correcta en cloud.</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10</a:t>
            </a:fld>
            <a:endParaRPr lang="es-ES"/>
          </a:p>
        </p:txBody>
      </p:sp>
    </p:spTree>
    <p:extLst>
      <p:ext uri="{BB962C8B-B14F-4D97-AF65-F5344CB8AC3E}">
        <p14:creationId xmlns:p14="http://schemas.microsoft.com/office/powerpoint/2010/main" val="3456533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un problema real que tuve que resolver.
Una URL local dentro de un correo no sirve para una empresa externa.
Por eso el despliegue cloud publica una URL HTTPS y el backend genera enlaces con ese origen.
Con nip.io resuelvo la demo, aunque a futuro lo correcto seria un dominio institucional o una IP estatica.</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11</a:t>
            </a:fld>
            <a:endParaRPr lang="es-ES"/>
          </a:p>
        </p:txBody>
      </p:sp>
    </p:spTree>
    <p:extLst>
      <p:ext uri="{BB962C8B-B14F-4D97-AF65-F5344CB8AC3E}">
        <p14:creationId xmlns:p14="http://schemas.microsoft.com/office/powerpoint/2010/main" val="214269845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diapositiva me sirve para justificar que la aplicacion no da sensacion de maqueta estatica.
La bandeja interna y el chat externo se refrescan solos en segundo plano y tambien al recuperar el foco del navegador.
Eso evita tener que recargar manualmente durante la demo.
Ademas, el estado de rechazo queda visible dentro del portal externo y el backend intenta enviar aviso por correo cuando Brevo esta disponible.</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12</a:t>
            </a:fld>
            <a:endParaRPr lang="es-ES"/>
          </a:p>
        </p:txBody>
      </p:sp>
    </p:spTree>
    <p:extLst>
      <p:ext uri="{BB962C8B-B14F-4D97-AF65-F5344CB8AC3E}">
        <p14:creationId xmlns:p14="http://schemas.microsoft.com/office/powerpoint/2010/main" val="422021876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por que hice Agora Desktop.
No queria depender de varios terminales ni de una pagina tecnica aparte.
La app me concentra modo local, modo cloud, logs, reinicios, smoke y contingencia.
Si la VM cambia de IP o falla el servicio, desde aqui veo la URL efectiva y el estado de agora.service.</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13</a:t>
            </a:fld>
            <a:endParaRPr lang="es-ES"/>
          </a:p>
        </p:txBody>
      </p:sp>
    </p:spTree>
    <p:extLst>
      <p:ext uri="{BB962C8B-B14F-4D97-AF65-F5344CB8AC3E}">
        <p14:creationId xmlns:p14="http://schemas.microsoft.com/office/powerpoint/2010/main" val="32630740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explico dos decisiones tecnicas que pueden preguntar.
Primero, el arranque de la VM:
Docker por si solo reinicia contenedores, pero yo queria asegurar el arranque completo del stack.
Por eso instalo agora.service con systemd. Ese servicio ejecuta deploy/gcp/startup.sh.
startup.sh comprueba .env.gcp, recalcula la URL nip.io si cambia la IP publica y ejecuta docker compose up -d --remove-orphans.
El compose levanta proxy, app y base de datos.
Segundo, roles:
El proyecto ya separa permisos reales por rol.
ROLE_ADMIN tiene control completo y es el unico que puede eliminar datos de prueba desde el portal interno: asignaciones, convenios sin asignaciones y empresas sin convenios ni asignaciones. Esto me permite limpiar datos para pruebas sin tocar directamente la base de datos.
ROLE_COORDINATOR, que es el perfil que usan profesor o profesora en la demo, puede crear, editar y consultar empresas, convenios, asignaciones y mensajes, pero no ve ni puede ejecutar acciones de borrado.
No necesito detallar todos los roles tecnicos en la diapositiva.
Lo importante para defensa es que admin puede limpiar datos de prueba y profesor o coordinador puede trabajar sin riesgo de borrar.
Como evolucion futura, esta base se puede ampliar a una matriz de permisos mas fina: perfiles de solo lectura, responsables por departamento, auditoria visible por rol y separacion por centro educativo.</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14</a:t>
            </a:fld>
            <a:endParaRPr lang="es-ES"/>
          </a:p>
        </p:txBody>
      </p:sp>
    </p:spTree>
    <p:extLst>
      <p:ext uri="{BB962C8B-B14F-4D97-AF65-F5344CB8AC3E}">
        <p14:creationId xmlns:p14="http://schemas.microsoft.com/office/powerpoint/2010/main" val="49254794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no me interesa presumir de numeros sin contexto.
Lo importante es explicar que he validado backend, frontend, E2E, correo, mensajeria, documentos, cloud y escritorio.
Las cifras sirven como apoyo para demostrar que no me he quedado en una prueba manual superficial.
La deprecacion de PHPUnit existe, pero no afecta a la funcionalidad ni a la defensa.</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15</a:t>
            </a:fld>
            <a:endParaRPr lang="es-ES"/>
          </a:p>
        </p:txBody>
      </p:sp>
    </p:spTree>
    <p:extLst>
      <p:ext uri="{BB962C8B-B14F-4D97-AF65-F5344CB8AC3E}">
        <p14:creationId xmlns:p14="http://schemas.microsoft.com/office/powerpoint/2010/main" val="31000997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Esta slide es muy practica: explica como se puede probar el sistema desde fuera.
Debo remarcar que la referencia buena es la URL cloud efectiva.
Si cambia la IP publica, Agora Desktop me dice la nueva URL.
Con una cuenta interna de prueba se puede revisar el flujo del centro sin usar la cuenta administradora principal.</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16</a:t>
            </a:fld>
            <a:endParaRPr lang="es-ES"/>
          </a:p>
        </p:txBody>
      </p:sp>
    </p:spTree>
    <p:extLst>
      <p:ext uri="{BB962C8B-B14F-4D97-AF65-F5344CB8AC3E}">
        <p14:creationId xmlns:p14="http://schemas.microsoft.com/office/powerpoint/2010/main" val="256541832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tengo que defender bien el alcance.
Lo principal ya esta cerrado: portales, documentos, mensajeria, correo, cloud y escritorio.
Lo que dejo para despues no son huecos del nucleo, sino mejoras de alcance que requieren mas tiempo.
Eso demuestra criterio: he preferido cerrar bien el producto base antes que abarcar mas cosas a medias.</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17</a:t>
            </a:fld>
            <a:endParaRPr lang="es-ES"/>
          </a:p>
        </p:txBody>
      </p:sp>
    </p:spTree>
    <p:extLst>
      <p:ext uri="{BB962C8B-B14F-4D97-AF65-F5344CB8AC3E}">
        <p14:creationId xmlns:p14="http://schemas.microsoft.com/office/powerpoint/2010/main" val="2166271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No debo esconder las limitaciones.
Lo que falta no invalida el TFG, pero si marca una hoja de ruta realista.
Lo principal pendiente es cerrar almacenamiento documental de forma mas robusta, ampliar roles y preparar multi-centro.
SSO o firma electronica podrian estudiarse mas adelante, pero no los pondria como prioridad principal de esta defensa.</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18</a:t>
            </a:fld>
            <a:endParaRPr lang="es-ES"/>
          </a:p>
        </p:txBody>
      </p:sp>
    </p:spTree>
    <p:extLst>
      <p:ext uri="{BB962C8B-B14F-4D97-AF65-F5344CB8AC3E}">
        <p14:creationId xmlns:p14="http://schemas.microsoft.com/office/powerpoint/2010/main" val="21736095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a:t>Aqui cierro con una idea simple.
El valor del proyecto no esta en una tecnologia concreta, sino en haber convertido una necesidad real del centro en una solucion completa, funcional y defendible.
Despues de esta slide paso a demo o a preguntas, segun el tiempo.</a:t>
            </a:r>
          </a:p>
        </p:txBody>
      </p:sp>
      <p:sp>
        <p:nvSpPr>
          <p:cNvPr id="4" name="Marcador de número de diapositiva 3"/>
          <p:cNvSpPr>
            <a:spLocks noGrp="1"/>
          </p:cNvSpPr>
          <p:nvPr>
            <p:ph type="sldNum" sz="quarter" idx="5"/>
          </p:nvPr>
        </p:nvSpPr>
        <p:spPr/>
        <p:txBody>
          <a:bodyPr/>
          <a:lstStyle/>
          <a:p>
            <a:fld id="{849BF2D8-5248-4F03-B1E7-1A7CACDA9D22}" type="slidenum">
              <a:rPr lang="es-ES" smtClean="0"/>
              <a:t>19</a:t>
            </a:fld>
            <a:endParaRPr lang="es-ES"/>
          </a:p>
        </p:txBody>
      </p:sp>
    </p:spTree>
    <p:extLst>
      <p:ext uri="{BB962C8B-B14F-4D97-AF65-F5344CB8AC3E}">
        <p14:creationId xmlns:p14="http://schemas.microsoft.com/office/powerpoint/2010/main" val="33474566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3EB5125-1A16-71A7-7092-AF53739E624E}"/>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9E83F700-711B-DEC0-B824-755AC185A6A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6BBA1F1C-B503-DC9E-6190-E42416DB4A3D}"/>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914C70CD-4695-56CA-404F-665D5DABADAF}"/>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5308D9E3-3A9B-CB47-2012-B7411493BDFA}"/>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590272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ED1E29-6896-29EE-5A48-9FAA359BD08D}"/>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B33F91AE-CF5E-1815-2834-08122468714B}"/>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C98A78AB-E7FC-7ACE-2B2B-BED9C7EA474B}"/>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89DC86EB-F43A-A00D-B410-D45B02F718D0}"/>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710BB58B-E4AD-AC03-00ED-05513C66C127}"/>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22200941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188B0CB-8643-B064-E8AB-43A0570DE207}"/>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FF3DAEEF-AAC0-44FA-FF2F-7E51B23D25C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9FEDDA22-487F-0079-9429-96626C25A0DA}"/>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755EA9CC-15DB-33B2-8596-7B83836510AB}"/>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43D564AD-B25F-83D8-CB7D-F8F71B02535B}"/>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86089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651E4B-834E-6D74-BEAF-DA2100C9FA34}"/>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D1388136-C91A-4484-DD6D-4F83400825C0}"/>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698D060F-F73A-91FC-87BE-E00D66C0C0D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B078E6FA-21B7-9F4A-706F-99B95281C4A8}"/>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6" name="Marcador de pie de página 5">
            <a:extLst>
              <a:ext uri="{FF2B5EF4-FFF2-40B4-BE49-F238E27FC236}">
                <a16:creationId xmlns:a16="http://schemas.microsoft.com/office/drawing/2014/main" id="{66193498-E1C2-42B0-883A-DD355095AFD8}"/>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A9A5CE30-E0BC-39EA-72A4-39A0F5E2CC7F}"/>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3788797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70A6B0C-CB64-3B5B-59C9-FD1ADE3622A1}"/>
              </a:ext>
            </a:extLst>
          </p:cNvPr>
          <p:cNvSpPr>
            <a:spLocks noGrp="1"/>
          </p:cNvSpPr>
          <p:nvPr>
            <p:ph type="title"/>
          </p:nvPr>
        </p:nvSpPr>
        <p:spPr>
          <a:xfrm>
            <a:off x="839788" y="365125"/>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6D1C8D09-9A53-8D0F-E540-03622E663F6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6FCA77A1-0B3D-81F5-457D-773825CEB67E}"/>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8E82C7A7-9335-0D8B-B3CE-E13938C6239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D9FCF85B-275D-85D7-9563-B858F3D2798A}"/>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AD64A585-0CE6-1E2C-5991-2A90E53DDA66}"/>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8" name="Marcador de pie de página 7">
            <a:extLst>
              <a:ext uri="{FF2B5EF4-FFF2-40B4-BE49-F238E27FC236}">
                <a16:creationId xmlns:a16="http://schemas.microsoft.com/office/drawing/2014/main" id="{5027F3FA-DC37-011B-ABD0-10DCB461C5C4}"/>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A6B11349-C083-4B00-D411-C9389CEF7140}"/>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3946363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1B8CCF7-A8C7-7AC2-F214-F497BFE48299}"/>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38EF4EF3-C1C9-728A-1B0D-1B19362C3DAD}"/>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4" name="Marcador de pie de página 3">
            <a:extLst>
              <a:ext uri="{FF2B5EF4-FFF2-40B4-BE49-F238E27FC236}">
                <a16:creationId xmlns:a16="http://schemas.microsoft.com/office/drawing/2014/main" id="{F717D523-C237-D2B2-0968-CCD4911E4FDA}"/>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18D2B131-9578-1413-AD01-559F68847070}"/>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9928919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1154F283-3AA6-61E3-0E7A-DF6A7C38EA3F}"/>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3" name="Marcador de pie de página 2">
            <a:extLst>
              <a:ext uri="{FF2B5EF4-FFF2-40B4-BE49-F238E27FC236}">
                <a16:creationId xmlns:a16="http://schemas.microsoft.com/office/drawing/2014/main" id="{95D164E4-1D7C-64D7-F58C-1F427ADE43C6}"/>
              </a:ext>
            </a:extLst>
          </p:cNvPr>
          <p:cNvSpPr>
            <a:spLocks noGrp="1"/>
          </p:cNvSpPr>
          <p:nvPr>
            <p:ph type="ftr" sz="quarter" idx="11"/>
          </p:nvPr>
        </p:nvSpPr>
        <p:spPr/>
        <p:txBody>
          <a:bodyPr/>
          <a:lstStyle/>
          <a:p>
            <a:endParaRPr lang="es-ES"/>
          </a:p>
        </p:txBody>
      </p:sp>
      <p:sp>
        <p:nvSpPr>
          <p:cNvPr id="4" name="Marcador de número de diapositiva 3">
            <a:extLst>
              <a:ext uri="{FF2B5EF4-FFF2-40B4-BE49-F238E27FC236}">
                <a16:creationId xmlns:a16="http://schemas.microsoft.com/office/drawing/2014/main" id="{1060D7AB-2776-A6BD-A9DE-A615E03733B3}"/>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4666154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D055A39-0470-91DF-34FE-75D075A09B87}"/>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DD56824D-5E37-BECA-8DAB-39890878517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53BF99B0-3E1A-2C2A-E004-547EAD34A1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12E2C92-4994-1905-5222-CF9D0047DB24}"/>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6" name="Marcador de pie de página 5">
            <a:extLst>
              <a:ext uri="{FF2B5EF4-FFF2-40B4-BE49-F238E27FC236}">
                <a16:creationId xmlns:a16="http://schemas.microsoft.com/office/drawing/2014/main" id="{B7E6B257-408D-01AA-45C2-BF431E6A6B96}"/>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A590E6CF-C1D4-C9F4-7196-F591409EC533}"/>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204905130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E013734-85ED-A24B-4421-8A9BFD37807A}"/>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1B388422-47A6-B6BD-1026-CC2BC981C22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ES"/>
          </a:p>
        </p:txBody>
      </p:sp>
      <p:sp>
        <p:nvSpPr>
          <p:cNvPr id="4" name="Marcador de texto 3">
            <a:extLst>
              <a:ext uri="{FF2B5EF4-FFF2-40B4-BE49-F238E27FC236}">
                <a16:creationId xmlns:a16="http://schemas.microsoft.com/office/drawing/2014/main" id="{568E8F76-E769-0922-DB9B-C99EB60BD32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76E4D32-88EF-B268-5561-E27632B1C1A9}"/>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6" name="Marcador de pie de página 5">
            <a:extLst>
              <a:ext uri="{FF2B5EF4-FFF2-40B4-BE49-F238E27FC236}">
                <a16:creationId xmlns:a16="http://schemas.microsoft.com/office/drawing/2014/main" id="{3B4A94D4-E9AA-7EA5-D9C7-8C47164B29EF}"/>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877E1BF3-E9CA-3E78-DDA2-6B7E1A5FCB64}"/>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30070626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6B6B06-6BDF-7DB0-FFDB-E38739C470D6}"/>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F9018F3-AFB9-036B-1C8E-5BE954E35808}"/>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FF78BEFC-8DD7-5397-DC0F-824D7E47ECC8}"/>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288A8323-B6B3-A236-A689-EC216E6C39B9}"/>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0827DC63-3139-664D-E166-8A510CE00AA7}"/>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60811906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F66723D-1A5D-B17C-63E5-5C944826973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D4811F53-A390-972D-5806-1B54631E6C1F}"/>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1A8DF0B7-1DE2-614E-8A3C-5169B50BE5C6}"/>
              </a:ext>
            </a:extLst>
          </p:cNvPr>
          <p:cNvSpPr>
            <a:spLocks noGrp="1"/>
          </p:cNvSpPr>
          <p:nvPr>
            <p:ph type="dt" sz="half" idx="10"/>
          </p:nvPr>
        </p:nvSpPr>
        <p:spPr/>
        <p:txBody>
          <a:body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71BC2A54-CFEF-44E1-141E-FEC28C24FC3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7C64FBF5-27FC-06C1-C371-E4DB64E02D3D}"/>
              </a:ext>
            </a:extLst>
          </p:cNvPr>
          <p:cNvSpPr>
            <a:spLocks noGrp="1"/>
          </p:cNvSpPr>
          <p:nvPr>
            <p:ph type="sldNum" sz="quarter" idx="12"/>
          </p:nvPr>
        </p:nvSpPr>
        <p:spPr/>
        <p:txBody>
          <a:bodyPr/>
          <a:lstStyle/>
          <a:p>
            <a:fld id="{B70DEA89-46F8-45E1-B8C6-A199CAA1F9BC}" type="slidenum">
              <a:rPr lang="es-ES" smtClean="0"/>
              <a:t>‹Nº›</a:t>
            </a:fld>
            <a:endParaRPr lang="es-ES"/>
          </a:p>
        </p:txBody>
      </p:sp>
    </p:spTree>
    <p:extLst>
      <p:ext uri="{BB962C8B-B14F-4D97-AF65-F5344CB8AC3E}">
        <p14:creationId xmlns:p14="http://schemas.microsoft.com/office/powerpoint/2010/main" val="12425767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2299F70-BDDD-71B6-049C-8956A09894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F27F7B85-DAD1-CFA2-75AB-80F6EC350FA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82233BD8-B367-592C-377F-72620308EFA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461DEB2-4BB3-433F-9637-3247C637FAE0}" type="datetimeFigureOut">
              <a:rPr lang="es-ES" smtClean="0"/>
              <a:t>05/06/2026</a:t>
            </a:fld>
            <a:endParaRPr lang="es-ES"/>
          </a:p>
        </p:txBody>
      </p:sp>
      <p:sp>
        <p:nvSpPr>
          <p:cNvPr id="5" name="Marcador de pie de página 4">
            <a:extLst>
              <a:ext uri="{FF2B5EF4-FFF2-40B4-BE49-F238E27FC236}">
                <a16:creationId xmlns:a16="http://schemas.microsoft.com/office/drawing/2014/main" id="{0445FF9D-34F1-0D73-8C9E-C4AACDB9EF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ES"/>
          </a:p>
        </p:txBody>
      </p:sp>
      <p:sp>
        <p:nvSpPr>
          <p:cNvPr id="6" name="Marcador de número de diapositiva 5">
            <a:extLst>
              <a:ext uri="{FF2B5EF4-FFF2-40B4-BE49-F238E27FC236}">
                <a16:creationId xmlns:a16="http://schemas.microsoft.com/office/drawing/2014/main" id="{5BD6FBC9-6894-F4D8-2E92-F146C9DC60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70DEA89-46F8-45E1-B8C6-A199CAA1F9BC}" type="slidenum">
              <a:rPr lang="es-ES" smtClean="0"/>
              <a:t>‹Nº›</a:t>
            </a:fld>
            <a:endParaRPr lang="es-ES"/>
          </a:p>
        </p:txBody>
      </p:sp>
    </p:spTree>
    <p:extLst>
      <p:ext uri="{BB962C8B-B14F-4D97-AF65-F5344CB8AC3E}">
        <p14:creationId xmlns:p14="http://schemas.microsoft.com/office/powerpoint/2010/main" val="27876867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Rectángulo: esquinas redondeadas 1">
            <a:extLst>
              <a:ext uri="{FF2B5EF4-FFF2-40B4-BE49-F238E27FC236}">
                <a16:creationId xmlns:a16="http://schemas.microsoft.com/office/drawing/2014/main" id="{AF96811D-A434-42A6-63E8-2B8113EB6DA1}"/>
              </a:ext>
            </a:extLst>
          </p:cNvPr>
          <p:cNvSpPr/>
          <p:nvPr/>
        </p:nvSpPr>
        <p:spPr>
          <a:xfrm>
            <a:off x="0" y="0"/>
            <a:ext cx="12192000" cy="6858000"/>
          </a:xfrm>
          <a:prstGeom prst="roundRect">
            <a:avLst/>
          </a:prstGeom>
          <a:solidFill>
            <a:srgbClr val="0B0E14"/>
          </a:solidFill>
          <a:ln w="12700">
            <a:solidFill>
              <a:srgbClr val="0B0E1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3" name="CuadroTexto 2">
            <a:extLst>
              <a:ext uri="{FF2B5EF4-FFF2-40B4-BE49-F238E27FC236}">
                <a16:creationId xmlns:a16="http://schemas.microsoft.com/office/drawing/2014/main" id="{821CF857-B71E-8912-A838-6EE662D1B1A8}"/>
              </a:ext>
            </a:extLst>
          </p:cNvPr>
          <p:cNvSpPr txBox="1"/>
          <p:nvPr/>
        </p:nvSpPr>
        <p:spPr>
          <a:xfrm>
            <a:off x="736600" y="685800"/>
            <a:ext cx="9144000" cy="369332"/>
          </a:xfrm>
          <a:prstGeom prst="rect">
            <a:avLst/>
          </a:prstGeom>
          <a:noFill/>
        </p:spPr>
        <p:txBody>
          <a:bodyPr vert="horz" wrap="square" lIns="0" tIns="0" rIns="0" bIns="0" rtlCol="0">
            <a:noAutofit/>
          </a:bodyPr>
          <a:lstStyle/>
          <a:p>
            <a:r>
              <a:rPr lang="es-ES" sz="1600" b="1">
                <a:solidFill>
                  <a:srgbClr val="DBA14D"/>
                </a:solidFill>
                <a:latin typeface="Segoe UI" panose="020B0502040204020203" pitchFamily="34" charset="0"/>
              </a:rPr>
              <a:t>Trabajo Final de Grado</a:t>
            </a:r>
          </a:p>
        </p:txBody>
      </p:sp>
      <p:sp>
        <p:nvSpPr>
          <p:cNvPr id="4" name="CuadroTexto 3">
            <a:extLst>
              <a:ext uri="{FF2B5EF4-FFF2-40B4-BE49-F238E27FC236}">
                <a16:creationId xmlns:a16="http://schemas.microsoft.com/office/drawing/2014/main" id="{47EB8DFF-0F44-C7DD-B9CB-65ACCD24A780}"/>
              </a:ext>
            </a:extLst>
          </p:cNvPr>
          <p:cNvSpPr txBox="1"/>
          <p:nvPr/>
        </p:nvSpPr>
        <p:spPr>
          <a:xfrm>
            <a:off x="736600" y="1320800"/>
            <a:ext cx="9652000" cy="369332"/>
          </a:xfrm>
          <a:prstGeom prst="rect">
            <a:avLst/>
          </a:prstGeom>
          <a:noFill/>
        </p:spPr>
        <p:txBody>
          <a:bodyPr vert="horz" wrap="square" lIns="0" tIns="0" rIns="0" bIns="0" rtlCol="0">
            <a:noAutofit/>
          </a:bodyPr>
          <a:lstStyle/>
          <a:p>
            <a:r>
              <a:rPr lang="es-ES" sz="4200" b="1">
                <a:solidFill>
                  <a:srgbClr val="F6F8FC"/>
                </a:solidFill>
                <a:latin typeface="Segoe UI" panose="020B0502040204020203" pitchFamily="34" charset="0"/>
              </a:rPr>
              <a:t>Gestion de Empresas Colaboradoras para FP Dual</a:t>
            </a:r>
          </a:p>
        </p:txBody>
      </p:sp>
      <p:sp>
        <p:nvSpPr>
          <p:cNvPr id="5" name="CuadroTexto 4">
            <a:extLst>
              <a:ext uri="{FF2B5EF4-FFF2-40B4-BE49-F238E27FC236}">
                <a16:creationId xmlns:a16="http://schemas.microsoft.com/office/drawing/2014/main" id="{233BBCBA-6AFC-F67B-4D98-9BBA9408C01A}"/>
              </a:ext>
            </a:extLst>
          </p:cNvPr>
          <p:cNvSpPr txBox="1"/>
          <p:nvPr/>
        </p:nvSpPr>
        <p:spPr>
          <a:xfrm>
            <a:off x="787400" y="3124200"/>
            <a:ext cx="8064500" cy="369332"/>
          </a:xfrm>
          <a:prstGeom prst="rect">
            <a:avLst/>
          </a:prstGeom>
          <a:noFill/>
        </p:spPr>
        <p:txBody>
          <a:bodyPr vert="horz" wrap="square" lIns="0" tIns="0" rIns="0" bIns="0" rtlCol="0">
            <a:noAutofit/>
          </a:bodyPr>
          <a:lstStyle/>
          <a:p>
            <a:r>
              <a:rPr lang="es-ES">
                <a:solidFill>
                  <a:srgbClr val="C2CBD8"/>
                </a:solidFill>
                <a:latin typeface="Segoe UI" panose="020B0502040204020203" pitchFamily="34" charset="0"/>
              </a:rPr>
              <a:t>Plataforma web para centralizar empresas, convenios, practicas, solicitudes externas, seguimiento documental y comunicacion empresa-centro.</a:t>
            </a:r>
          </a:p>
        </p:txBody>
      </p:sp>
      <p:sp>
        <p:nvSpPr>
          <p:cNvPr id="6" name="CuadroTexto 5">
            <a:extLst>
              <a:ext uri="{FF2B5EF4-FFF2-40B4-BE49-F238E27FC236}">
                <a16:creationId xmlns:a16="http://schemas.microsoft.com/office/drawing/2014/main" id="{ED1543CB-BD7E-6C3B-0E8A-5214C06CA04A}"/>
              </a:ext>
            </a:extLst>
          </p:cNvPr>
          <p:cNvSpPr txBox="1"/>
          <p:nvPr/>
        </p:nvSpPr>
        <p:spPr>
          <a:xfrm>
            <a:off x="787400" y="5232400"/>
            <a:ext cx="5588000" cy="369332"/>
          </a:xfrm>
          <a:prstGeom prst="rect">
            <a:avLst/>
          </a:prstGeom>
          <a:noFill/>
        </p:spPr>
        <p:txBody>
          <a:bodyPr vert="horz" wrap="square" lIns="0" tIns="0" rIns="0" bIns="0" rtlCol="0">
            <a:noAutofit/>
          </a:bodyPr>
          <a:lstStyle/>
          <a:p>
            <a:r>
              <a:rPr lang="es-ES" sz="1600">
                <a:solidFill>
                  <a:srgbClr val="C2CBD8"/>
                </a:solidFill>
                <a:latin typeface="Segoe UI" panose="020B0502040204020203" pitchFamily="34" charset="0"/>
              </a:rPr>
              <a:t>Autor: Luis Angel</a:t>
            </a:r>
          </a:p>
          <a:p>
            <a:r>
              <a:rPr lang="es-ES" sz="1600">
                <a:solidFill>
                  <a:srgbClr val="C2CBD8"/>
                </a:solidFill>
                <a:latin typeface="Segoe UI" panose="020B0502040204020203" pitchFamily="34" charset="0"/>
              </a:rPr>
              <a:t>Tutora: Elena</a:t>
            </a:r>
          </a:p>
        </p:txBody>
      </p:sp>
      <p:pic>
        <p:nvPicPr>
          <p:cNvPr id="8" name="Imagen 7">
            <a:extLst>
              <a:ext uri="{FF2B5EF4-FFF2-40B4-BE49-F238E27FC236}">
                <a16:creationId xmlns:a16="http://schemas.microsoft.com/office/drawing/2014/main" id="{5B1EAC07-1FF0-A08C-E9D0-BC571E7FEF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40600" y="4032766"/>
            <a:ext cx="4064000" cy="2286000"/>
          </a:xfrm>
          <a:prstGeom prst="rect">
            <a:avLst/>
          </a:prstGeom>
          <a:ln w="12700">
            <a:solidFill>
              <a:schemeClr val="tx1"/>
            </a:solidFill>
          </a:ln>
        </p:spPr>
      </p:pic>
    </p:spTree>
    <p:extLst>
      <p:ext uri="{BB962C8B-B14F-4D97-AF65-F5344CB8AC3E}">
        <p14:creationId xmlns:p14="http://schemas.microsoft.com/office/powerpoint/2010/main" val="107520227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020D28-933C-54F1-C2B7-F9BD82E5659A}"/>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01 / PROBLEMA</a:t>
            </a:r>
          </a:p>
        </p:txBody>
      </p:sp>
      <p:sp>
        <p:nvSpPr>
          <p:cNvPr id="3" name="CuadroTexto 2">
            <a:extLst>
              <a:ext uri="{FF2B5EF4-FFF2-40B4-BE49-F238E27FC236}">
                <a16:creationId xmlns:a16="http://schemas.microsoft.com/office/drawing/2014/main" id="{4C85F53D-94E4-F026-3AB9-773491EE1F46}"/>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Punto de partida</a:t>
            </a:r>
          </a:p>
        </p:txBody>
      </p:sp>
      <p:sp>
        <p:nvSpPr>
          <p:cNvPr id="4" name="CuadroTexto 3">
            <a:extLst>
              <a:ext uri="{FF2B5EF4-FFF2-40B4-BE49-F238E27FC236}">
                <a16:creationId xmlns:a16="http://schemas.microsoft.com/office/drawing/2014/main" id="{5005A4AC-89D9-93D5-8A0A-0E77D0C46577}"/>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gestion anterior estaba repartida entre hojas de calculo, correos y documentos sin una vista unificada.</a:t>
            </a:r>
          </a:p>
        </p:txBody>
      </p:sp>
      <p:sp>
        <p:nvSpPr>
          <p:cNvPr id="5" name="CuadroTexto 4">
            <a:extLst>
              <a:ext uri="{FF2B5EF4-FFF2-40B4-BE49-F238E27FC236}">
                <a16:creationId xmlns:a16="http://schemas.microsoft.com/office/drawing/2014/main" id="{A3D42945-EAE0-2795-7194-A6F6101F9F70}"/>
              </a:ext>
            </a:extLst>
          </p:cNvPr>
          <p:cNvSpPr txBox="1"/>
          <p:nvPr/>
        </p:nvSpPr>
        <p:spPr>
          <a:xfrm>
            <a:off x="889000" y="2349500"/>
            <a:ext cx="5207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2000">
                <a:solidFill>
                  <a:srgbClr val="C2CBD8"/>
                </a:solidFill>
                <a:latin typeface="Segoe UI" panose="020B0502040204020203" pitchFamily="34" charset="0"/>
              </a:rPr>
              <a:t>Informacion dispersa entre varias fuentes.</a:t>
            </a:r>
          </a:p>
          <a:p>
            <a:pPr marL="457200" indent="-457200">
              <a:spcAft>
                <a:spcPts val="1000"/>
              </a:spcAft>
              <a:buFont typeface="+mj-lt"/>
              <a:buChar char="•"/>
            </a:pPr>
            <a:r>
              <a:rPr lang="es-ES" sz="2000">
                <a:solidFill>
                  <a:srgbClr val="C2CBD8"/>
                </a:solidFill>
                <a:latin typeface="Segoe UI" panose="020B0502040204020203" pitchFamily="34" charset="0"/>
              </a:rPr>
              <a:t>Dificultad para conocer el estado real de convenios, solicitudes y asignaciones.</a:t>
            </a:r>
          </a:p>
          <a:p>
            <a:pPr marL="457200" indent="-457200">
              <a:spcAft>
                <a:spcPts val="1000"/>
              </a:spcAft>
              <a:buFont typeface="+mj-lt"/>
              <a:buChar char="•"/>
            </a:pPr>
            <a:r>
              <a:rPr lang="es-ES" sz="2000">
                <a:solidFill>
                  <a:srgbClr val="C2CBD8"/>
                </a:solidFill>
                <a:latin typeface="Segoe UI" panose="020B0502040204020203" pitchFamily="34" charset="0"/>
              </a:rPr>
              <a:t>Dependencia del conocimiento manual de la persona que coordina las practicas.</a:t>
            </a:r>
          </a:p>
          <a:p>
            <a:pPr marL="457200" indent="-457200">
              <a:spcAft>
                <a:spcPts val="1000"/>
              </a:spcAft>
              <a:buFont typeface="+mj-lt"/>
              <a:buChar char="•"/>
            </a:pPr>
            <a:r>
              <a:rPr lang="es-ES" sz="2000">
                <a:solidFill>
                  <a:srgbClr val="C2CBD8"/>
                </a:solidFill>
                <a:latin typeface="Segoe UI" panose="020B0502040204020203" pitchFamily="34" charset="0"/>
              </a:rPr>
              <a:t>Poca trazabilidad sobre mensajes, documentos y cambios.</a:t>
            </a:r>
          </a:p>
        </p:txBody>
      </p:sp>
      <p:sp>
        <p:nvSpPr>
          <p:cNvPr id="6" name="Rectángulo: esquinas redondeadas 5">
            <a:extLst>
              <a:ext uri="{FF2B5EF4-FFF2-40B4-BE49-F238E27FC236}">
                <a16:creationId xmlns:a16="http://schemas.microsoft.com/office/drawing/2014/main" id="{F1723FC9-24D5-7548-77B8-7D1548D8BA09}"/>
              </a:ext>
            </a:extLst>
          </p:cNvPr>
          <p:cNvSpPr/>
          <p:nvPr/>
        </p:nvSpPr>
        <p:spPr>
          <a:xfrm>
            <a:off x="7112000" y="2184400"/>
            <a:ext cx="3937000" cy="2413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CuadroTexto 6">
            <a:extLst>
              <a:ext uri="{FF2B5EF4-FFF2-40B4-BE49-F238E27FC236}">
                <a16:creationId xmlns:a16="http://schemas.microsoft.com/office/drawing/2014/main" id="{9C1D5659-3588-E56F-BA96-C1358EABD5AE}"/>
              </a:ext>
            </a:extLst>
          </p:cNvPr>
          <p:cNvSpPr txBox="1"/>
          <p:nvPr/>
        </p:nvSpPr>
        <p:spPr>
          <a:xfrm>
            <a:off x="7493000" y="2540000"/>
            <a:ext cx="3175000" cy="369332"/>
          </a:xfrm>
          <a:prstGeom prst="rect">
            <a:avLst/>
          </a:prstGeom>
          <a:noFill/>
        </p:spPr>
        <p:txBody>
          <a:bodyPr vert="horz" wrap="square" lIns="0" tIns="0" rIns="0" bIns="0" rtlCol="0">
            <a:noAutofit/>
          </a:bodyPr>
          <a:lstStyle/>
          <a:p>
            <a:r>
              <a:rPr lang="es-ES" sz="1700" b="1">
                <a:solidFill>
                  <a:srgbClr val="DBA14D"/>
                </a:solidFill>
                <a:latin typeface="Segoe UI" panose="020B0502040204020203" pitchFamily="34" charset="0"/>
              </a:rPr>
              <a:t>Necesidad principal</a:t>
            </a:r>
          </a:p>
        </p:txBody>
      </p:sp>
      <p:sp>
        <p:nvSpPr>
          <p:cNvPr id="8" name="CuadroTexto 7">
            <a:extLst>
              <a:ext uri="{FF2B5EF4-FFF2-40B4-BE49-F238E27FC236}">
                <a16:creationId xmlns:a16="http://schemas.microsoft.com/office/drawing/2014/main" id="{E28A9D30-353B-F38E-FB27-FD2FC08D0B87}"/>
              </a:ext>
            </a:extLst>
          </p:cNvPr>
          <p:cNvSpPr txBox="1"/>
          <p:nvPr/>
        </p:nvSpPr>
        <p:spPr>
          <a:xfrm>
            <a:off x="7493000" y="3149600"/>
            <a:ext cx="3124200" cy="369332"/>
          </a:xfrm>
          <a:prstGeom prst="rect">
            <a:avLst/>
          </a:prstGeom>
          <a:noFill/>
        </p:spPr>
        <p:txBody>
          <a:bodyPr vert="horz" wrap="square" lIns="0" tIns="0" rIns="0" bIns="0" rtlCol="0">
            <a:noAutofit/>
          </a:bodyPr>
          <a:lstStyle/>
          <a:p>
            <a:r>
              <a:rPr lang="es-ES" sz="2300" b="1">
                <a:solidFill>
                  <a:srgbClr val="F6F8FC"/>
                </a:solidFill>
                <a:latin typeface="Segoe UI" panose="020B0502040204020203" pitchFamily="34" charset="0"/>
              </a:rPr>
              <a:t>Pasar de una gestion dispersa a una plataforma unica, trazable y defendible.</a:t>
            </a:r>
          </a:p>
        </p:txBody>
      </p:sp>
    </p:spTree>
    <p:extLst>
      <p:ext uri="{BB962C8B-B14F-4D97-AF65-F5344CB8AC3E}">
        <p14:creationId xmlns:p14="http://schemas.microsoft.com/office/powerpoint/2010/main" val="25113146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DB0B54B7-1A51-C9F1-BE56-82FD51C6BE2C}"/>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02 / OBJETIVOS</a:t>
            </a:r>
          </a:p>
        </p:txBody>
      </p:sp>
      <p:sp>
        <p:nvSpPr>
          <p:cNvPr id="3" name="CuadroTexto 2">
            <a:extLst>
              <a:ext uri="{FF2B5EF4-FFF2-40B4-BE49-F238E27FC236}">
                <a16:creationId xmlns:a16="http://schemas.microsoft.com/office/drawing/2014/main" id="{4167D1CF-9751-4373-F880-5BD51396DED3}"/>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tenia que resolver la aplicacion</a:t>
            </a:r>
          </a:p>
        </p:txBody>
      </p:sp>
      <p:sp>
        <p:nvSpPr>
          <p:cNvPr id="4" name="Rectángulo: esquinas redondeadas 3">
            <a:extLst>
              <a:ext uri="{FF2B5EF4-FFF2-40B4-BE49-F238E27FC236}">
                <a16:creationId xmlns:a16="http://schemas.microsoft.com/office/drawing/2014/main" id="{7342831E-ABA3-5337-50B7-E5F93EED7145}"/>
              </a:ext>
            </a:extLst>
          </p:cNvPr>
          <p:cNvSpPr/>
          <p:nvPr/>
        </p:nvSpPr>
        <p:spPr>
          <a:xfrm>
            <a:off x="7366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C9068F03-F866-0289-7634-087545984B51}"/>
              </a:ext>
            </a:extLst>
          </p:cNvPr>
          <p:cNvSpPr txBox="1"/>
          <p:nvPr/>
        </p:nvSpPr>
        <p:spPr>
          <a:xfrm>
            <a:off x="10160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Centralizar</a:t>
            </a:r>
          </a:p>
        </p:txBody>
      </p:sp>
      <p:sp>
        <p:nvSpPr>
          <p:cNvPr id="6" name="CuadroTexto 5">
            <a:extLst>
              <a:ext uri="{FF2B5EF4-FFF2-40B4-BE49-F238E27FC236}">
                <a16:creationId xmlns:a16="http://schemas.microsoft.com/office/drawing/2014/main" id="{8385254C-BEE2-A2E8-ACF3-6197E92CE12A}"/>
              </a:ext>
            </a:extLst>
          </p:cNvPr>
          <p:cNvSpPr txBox="1"/>
          <p:nvPr/>
        </p:nvSpPr>
        <p:spPr>
          <a:xfrm>
            <a:off x="10160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Empresas, convenios, estudiantes, tutores y asignaciones.</a:t>
            </a:r>
          </a:p>
        </p:txBody>
      </p:sp>
      <p:sp>
        <p:nvSpPr>
          <p:cNvPr id="7" name="Rectángulo: esquinas redondeadas 6">
            <a:extLst>
              <a:ext uri="{FF2B5EF4-FFF2-40B4-BE49-F238E27FC236}">
                <a16:creationId xmlns:a16="http://schemas.microsoft.com/office/drawing/2014/main" id="{92A194B0-9D26-6E89-6697-6F0A3E341685}"/>
              </a:ext>
            </a:extLst>
          </p:cNvPr>
          <p:cNvSpPr/>
          <p:nvPr/>
        </p:nvSpPr>
        <p:spPr>
          <a:xfrm>
            <a:off x="6134100" y="19558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B7265368-417D-8CF7-D6CC-44C2C962A845}"/>
              </a:ext>
            </a:extLst>
          </p:cNvPr>
          <p:cNvSpPr txBox="1"/>
          <p:nvPr/>
        </p:nvSpPr>
        <p:spPr>
          <a:xfrm>
            <a:off x="6413500" y="21844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Abrir canal externo</a:t>
            </a:r>
          </a:p>
        </p:txBody>
      </p:sp>
      <p:sp>
        <p:nvSpPr>
          <p:cNvPr id="9" name="CuadroTexto 8">
            <a:extLst>
              <a:ext uri="{FF2B5EF4-FFF2-40B4-BE49-F238E27FC236}">
                <a16:creationId xmlns:a16="http://schemas.microsoft.com/office/drawing/2014/main" id="{DDA87816-E9D1-F9A8-BCE6-E9C18C33CD7F}"/>
              </a:ext>
            </a:extLst>
          </p:cNvPr>
          <p:cNvSpPr txBox="1"/>
          <p:nvPr/>
        </p:nvSpPr>
        <p:spPr>
          <a:xfrm>
            <a:off x="6413500" y="26162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Registro de empresas, verificacion, estado y cuenta persistente.</a:t>
            </a:r>
          </a:p>
        </p:txBody>
      </p:sp>
      <p:sp>
        <p:nvSpPr>
          <p:cNvPr id="10" name="Rectángulo: esquinas redondeadas 9">
            <a:extLst>
              <a:ext uri="{FF2B5EF4-FFF2-40B4-BE49-F238E27FC236}">
                <a16:creationId xmlns:a16="http://schemas.microsoft.com/office/drawing/2014/main" id="{9E521CE2-9619-B62A-598C-05212E2086DB}"/>
              </a:ext>
            </a:extLst>
          </p:cNvPr>
          <p:cNvSpPr/>
          <p:nvPr/>
        </p:nvSpPr>
        <p:spPr>
          <a:xfrm>
            <a:off x="7366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EC5A8C0C-B961-9A1F-9081-E89BED912CE3}"/>
              </a:ext>
            </a:extLst>
          </p:cNvPr>
          <p:cNvSpPr txBox="1"/>
          <p:nvPr/>
        </p:nvSpPr>
        <p:spPr>
          <a:xfrm>
            <a:off x="10160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Trazabilidad</a:t>
            </a:r>
          </a:p>
        </p:txBody>
      </p:sp>
      <p:sp>
        <p:nvSpPr>
          <p:cNvPr id="12" name="CuadroTexto 11">
            <a:extLst>
              <a:ext uri="{FF2B5EF4-FFF2-40B4-BE49-F238E27FC236}">
                <a16:creationId xmlns:a16="http://schemas.microsoft.com/office/drawing/2014/main" id="{403627B6-2459-65C7-94BD-E00DBDBBF570}"/>
              </a:ext>
            </a:extLst>
          </p:cNvPr>
          <p:cNvSpPr txBox="1"/>
          <p:nvPr/>
        </p:nvSpPr>
        <p:spPr>
          <a:xfrm>
            <a:off x="10160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Mensajeria, documentos versionados, evidencias y evaluacion final.</a:t>
            </a:r>
          </a:p>
        </p:txBody>
      </p:sp>
      <p:sp>
        <p:nvSpPr>
          <p:cNvPr id="13" name="Rectángulo: esquinas redondeadas 12">
            <a:extLst>
              <a:ext uri="{FF2B5EF4-FFF2-40B4-BE49-F238E27FC236}">
                <a16:creationId xmlns:a16="http://schemas.microsoft.com/office/drawing/2014/main" id="{592E57D2-6D4B-8B8D-062D-6E19DE145D70}"/>
              </a:ext>
            </a:extLst>
          </p:cNvPr>
          <p:cNvSpPr/>
          <p:nvPr/>
        </p:nvSpPr>
        <p:spPr>
          <a:xfrm>
            <a:off x="6134100" y="3759200"/>
            <a:ext cx="4635500" cy="1295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2ED6D522-F1EA-7B94-8754-A82EB74CD398}"/>
              </a:ext>
            </a:extLst>
          </p:cNvPr>
          <p:cNvSpPr txBox="1"/>
          <p:nvPr/>
        </p:nvSpPr>
        <p:spPr>
          <a:xfrm>
            <a:off x="6413500" y="3987800"/>
            <a:ext cx="3810000" cy="369332"/>
          </a:xfrm>
          <a:prstGeom prst="rect">
            <a:avLst/>
          </a:prstGeom>
          <a:noFill/>
        </p:spPr>
        <p:txBody>
          <a:bodyPr vert="horz" wrap="square" lIns="0" tIns="0" rIns="0" bIns="0" rtlCol="0">
            <a:noAutofit/>
          </a:bodyPr>
          <a:lstStyle/>
          <a:p>
            <a:r>
              <a:rPr lang="es-ES" sz="2100" b="1">
                <a:solidFill>
                  <a:srgbClr val="4975B0"/>
                </a:solidFill>
                <a:latin typeface="Segoe UI" panose="020B0502040204020203" pitchFamily="34" charset="0"/>
              </a:rPr>
              <a:t>Defensa tecnica</a:t>
            </a:r>
          </a:p>
        </p:txBody>
      </p:sp>
      <p:sp>
        <p:nvSpPr>
          <p:cNvPr id="15" name="CuadroTexto 14">
            <a:extLst>
              <a:ext uri="{FF2B5EF4-FFF2-40B4-BE49-F238E27FC236}">
                <a16:creationId xmlns:a16="http://schemas.microsoft.com/office/drawing/2014/main" id="{91961B62-5726-095D-61C9-2C6DCF721513}"/>
              </a:ext>
            </a:extLst>
          </p:cNvPr>
          <p:cNvSpPr txBox="1"/>
          <p:nvPr/>
        </p:nvSpPr>
        <p:spPr>
          <a:xfrm>
            <a:off x="6413500" y="4419600"/>
            <a:ext cx="3937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Arquitectura separada, pruebas, demo y documentacion final.</a:t>
            </a:r>
          </a:p>
        </p:txBody>
      </p:sp>
    </p:spTree>
    <p:extLst>
      <p:ext uri="{BB962C8B-B14F-4D97-AF65-F5344CB8AC3E}">
        <p14:creationId xmlns:p14="http://schemas.microsoft.com/office/powerpoint/2010/main" val="25342661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04B692FA-03D2-DD2B-CB9D-2FFB89C14FBD}"/>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03 / ARQUITECTURA</a:t>
            </a:r>
          </a:p>
        </p:txBody>
      </p:sp>
      <p:sp>
        <p:nvSpPr>
          <p:cNvPr id="3" name="CuadroTexto 2">
            <a:extLst>
              <a:ext uri="{FF2B5EF4-FFF2-40B4-BE49-F238E27FC236}">
                <a16:creationId xmlns:a16="http://schemas.microsoft.com/office/drawing/2014/main" id="{51790278-3336-43C1-736E-D89B7DAAAA32}"/>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Topologia operativa y de despliegue</a:t>
            </a:r>
          </a:p>
        </p:txBody>
      </p:sp>
      <p:sp>
        <p:nvSpPr>
          <p:cNvPr id="4" name="CuadroTexto 3">
            <a:extLst>
              <a:ext uri="{FF2B5EF4-FFF2-40B4-BE49-F238E27FC236}">
                <a16:creationId xmlns:a16="http://schemas.microsoft.com/office/drawing/2014/main" id="{DE5D0344-4891-A8A6-410F-DB3668E37E7E}"/>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URL publica termina en una VM con HTTPS, persistencia real y una consola tecnica de escritorio separada del flujo funcional.</a:t>
            </a:r>
          </a:p>
        </p:txBody>
      </p:sp>
      <p:pic>
        <p:nvPicPr>
          <p:cNvPr id="6" name="Imagen 5">
            <a:extLst>
              <a:ext uri="{FF2B5EF4-FFF2-40B4-BE49-F238E27FC236}">
                <a16:creationId xmlns:a16="http://schemas.microsoft.com/office/drawing/2014/main" id="{FCB053C4-F073-E1A7-5A1A-6BDDFBC9A50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3078" y="1854200"/>
            <a:ext cx="6183443" cy="4191000"/>
          </a:xfrm>
          <a:prstGeom prst="rect">
            <a:avLst/>
          </a:prstGeom>
          <a:ln w="12700">
            <a:solidFill>
              <a:schemeClr val="tx1"/>
            </a:solidFill>
          </a:ln>
        </p:spPr>
      </p:pic>
      <p:sp>
        <p:nvSpPr>
          <p:cNvPr id="7" name="CuadroTexto 6">
            <a:extLst>
              <a:ext uri="{FF2B5EF4-FFF2-40B4-BE49-F238E27FC236}">
                <a16:creationId xmlns:a16="http://schemas.microsoft.com/office/drawing/2014/main" id="{CAD90268-AB04-F55A-7E14-96DF875C706B}"/>
              </a:ext>
            </a:extLst>
          </p:cNvPr>
          <p:cNvSpPr txBox="1"/>
          <p:nvPr/>
        </p:nvSpPr>
        <p:spPr>
          <a:xfrm>
            <a:off x="7937500" y="2209800"/>
            <a:ext cx="330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Caddy expone HTTPS y enruta a la aplicacion.</a:t>
            </a:r>
          </a:p>
          <a:p>
            <a:pPr marL="342900" indent="-342900">
              <a:spcAft>
                <a:spcPts val="1000"/>
              </a:spcAft>
              <a:buFont typeface="+mj-lt"/>
              <a:buChar char="•"/>
            </a:pPr>
            <a:r>
              <a:rPr lang="es-ES">
                <a:solidFill>
                  <a:srgbClr val="C2CBD8"/>
                </a:solidFill>
                <a:latin typeface="Segoe UI" panose="020B0502040204020203" pitchFamily="34" charset="0"/>
              </a:rPr>
              <a:t>Symfony concentra seguridad, negocio y APIs.</a:t>
            </a:r>
          </a:p>
          <a:p>
            <a:pPr marL="342900" indent="-342900">
              <a:spcAft>
                <a:spcPts val="1000"/>
              </a:spcAft>
              <a:buFont typeface="+mj-lt"/>
              <a:buChar char="•"/>
            </a:pPr>
            <a:r>
              <a:rPr lang="es-ES">
                <a:solidFill>
                  <a:srgbClr val="C2CBD8"/>
                </a:solidFill>
                <a:latin typeface="Segoe UI" panose="020B0502040204020203" pitchFamily="34" charset="0"/>
              </a:rPr>
              <a:t>PostgreSQL y documentos persisten fuera del contenedor.</a:t>
            </a:r>
          </a:p>
          <a:p>
            <a:pPr marL="342900" indent="-342900">
              <a:spcAft>
                <a:spcPts val="1000"/>
              </a:spcAft>
              <a:buFont typeface="+mj-lt"/>
              <a:buChar char="•"/>
            </a:pPr>
            <a:r>
              <a:rPr lang="es-ES">
                <a:solidFill>
                  <a:srgbClr val="C2CBD8"/>
                </a:solidFill>
                <a:latin typeface="Segoe UI" panose="020B0502040204020203" pitchFamily="34" charset="0"/>
              </a:rPr>
              <a:t>Agora Desktop trabaja en local o en cloud.</a:t>
            </a:r>
          </a:p>
          <a:p>
            <a:pPr marL="342900" indent="-342900">
              <a:spcAft>
                <a:spcPts val="1000"/>
              </a:spcAft>
              <a:buFont typeface="+mj-lt"/>
              <a:buChar char="•"/>
            </a:pPr>
            <a:r>
              <a:rPr lang="es-ES">
                <a:solidFill>
                  <a:srgbClr val="C2CBD8"/>
                </a:solidFill>
                <a:latin typeface="Segoe UI" panose="020B0502040204020203" pitchFamily="34" charset="0"/>
              </a:rPr>
              <a:t>La operacion tecnica queda fuera del flujo web principal.</a:t>
            </a:r>
          </a:p>
        </p:txBody>
      </p:sp>
    </p:spTree>
    <p:extLst>
      <p:ext uri="{BB962C8B-B14F-4D97-AF65-F5344CB8AC3E}">
        <p14:creationId xmlns:p14="http://schemas.microsoft.com/office/powerpoint/2010/main" val="32101474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A973594-7741-0198-F74A-DC1BCB2A1942}"/>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04 / MODELO DE DATOS</a:t>
            </a:r>
          </a:p>
        </p:txBody>
      </p:sp>
      <p:sp>
        <p:nvSpPr>
          <p:cNvPr id="3" name="CuadroTexto 2">
            <a:extLst>
              <a:ext uri="{FF2B5EF4-FFF2-40B4-BE49-F238E27FC236}">
                <a16:creationId xmlns:a16="http://schemas.microsoft.com/office/drawing/2014/main" id="{969B1E9D-E162-BBD4-1F01-F007A17A5DA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De la cuenta de empresa a la asignacion</a:t>
            </a:r>
          </a:p>
        </p:txBody>
      </p:sp>
      <p:pic>
        <p:nvPicPr>
          <p:cNvPr id="5" name="Imagen 4">
            <a:extLst>
              <a:ext uri="{FF2B5EF4-FFF2-40B4-BE49-F238E27FC236}">
                <a16:creationId xmlns:a16="http://schemas.microsoft.com/office/drawing/2014/main" id="{60BFBA19-66D0-6373-5CDC-C909433DEF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4200" y="1784350"/>
            <a:ext cx="5969000" cy="4178300"/>
          </a:xfrm>
          <a:prstGeom prst="rect">
            <a:avLst/>
          </a:prstGeom>
          <a:ln w="12700">
            <a:solidFill>
              <a:schemeClr val="tx1"/>
            </a:solidFill>
          </a:ln>
        </p:spPr>
      </p:pic>
      <p:sp>
        <p:nvSpPr>
          <p:cNvPr id="6" name="CuadroTexto 5">
            <a:extLst>
              <a:ext uri="{FF2B5EF4-FFF2-40B4-BE49-F238E27FC236}">
                <a16:creationId xmlns:a16="http://schemas.microsoft.com/office/drawing/2014/main" id="{08F31B93-0332-CA5C-9C7F-268A6ED66CC7}"/>
              </a:ext>
            </a:extLst>
          </p:cNvPr>
          <p:cNvSpPr txBox="1"/>
          <p:nvPr/>
        </p:nvSpPr>
        <p:spPr>
          <a:xfrm>
            <a:off x="7239000" y="2006600"/>
            <a:ext cx="3937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Regla de negocio defendible</a:t>
            </a:r>
          </a:p>
        </p:txBody>
      </p:sp>
      <p:sp>
        <p:nvSpPr>
          <p:cNvPr id="7" name="CuadroTexto 6">
            <a:extLst>
              <a:ext uri="{FF2B5EF4-FFF2-40B4-BE49-F238E27FC236}">
                <a16:creationId xmlns:a16="http://schemas.microsoft.com/office/drawing/2014/main" id="{499BFAAD-C366-AEAC-E006-624FBD4B18B1}"/>
              </a:ext>
            </a:extLst>
          </p:cNvPr>
          <p:cNvSpPr txBox="1"/>
          <p:nvPr/>
        </p:nvSpPr>
        <p:spPr>
          <a:xfrm>
            <a:off x="7493000" y="2667000"/>
            <a:ext cx="36195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La cuenta portal sobrevive al preregistro inicial.</a:t>
            </a:r>
          </a:p>
          <a:p>
            <a:pPr marL="457200" indent="-457200">
              <a:spcAft>
                <a:spcPts val="1000"/>
              </a:spcAft>
              <a:buFont typeface="+mj-lt"/>
              <a:buChar char="•"/>
            </a:pPr>
            <a:r>
              <a:rPr lang="es-ES" sz="1900">
                <a:solidFill>
                  <a:srgbClr val="C2CBD8"/>
                </a:solidFill>
                <a:latin typeface="Segoe UI" panose="020B0502040204020203" pitchFamily="34" charset="0"/>
              </a:rPr>
              <a:t>La solicitud concentra verificacion, estado y mensajes.</a:t>
            </a:r>
          </a:p>
          <a:p>
            <a:pPr marL="457200" indent="-457200">
              <a:spcAft>
                <a:spcPts val="1000"/>
              </a:spcAft>
              <a:buFont typeface="+mj-lt"/>
              <a:buChar char="•"/>
            </a:pPr>
            <a:r>
              <a:rPr lang="es-ES" sz="1900">
                <a:solidFill>
                  <a:srgbClr val="C2CBD8"/>
                </a:solidFill>
                <a:latin typeface="Segoe UI" panose="020B0502040204020203" pitchFamily="34" charset="0"/>
              </a:rPr>
              <a:t>La empresa aprobada hereda convenios, documentos y tutores.</a:t>
            </a:r>
          </a:p>
          <a:p>
            <a:pPr marL="457200" indent="-457200">
              <a:spcAft>
                <a:spcPts val="1000"/>
              </a:spcAft>
              <a:buFont typeface="+mj-lt"/>
              <a:buChar char="•"/>
            </a:pPr>
            <a:r>
              <a:rPr lang="es-ES" sz="1900">
                <a:solidFill>
                  <a:srgbClr val="C2CBD8"/>
                </a:solidFill>
                <a:latin typeface="Segoe UI" panose="020B0502040204020203" pitchFamily="34" charset="0"/>
              </a:rPr>
              <a:t>Asignacion, seguimiento y evaluacion cierran el ciclo.</a:t>
            </a:r>
          </a:p>
        </p:txBody>
      </p:sp>
    </p:spTree>
    <p:extLst>
      <p:ext uri="{BB962C8B-B14F-4D97-AF65-F5344CB8AC3E}">
        <p14:creationId xmlns:p14="http://schemas.microsoft.com/office/powerpoint/2010/main" val="3604982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9094051E-18EE-66B2-2688-58E9C78B6312}"/>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05 / PANEL INTERNO</a:t>
            </a:r>
          </a:p>
        </p:txBody>
      </p:sp>
      <p:sp>
        <p:nvSpPr>
          <p:cNvPr id="3" name="CuadroTexto 2">
            <a:extLst>
              <a:ext uri="{FF2B5EF4-FFF2-40B4-BE49-F238E27FC236}">
                <a16:creationId xmlns:a16="http://schemas.microsoft.com/office/drawing/2014/main" id="{C797AED2-862F-C2EB-BC2C-5DB4F3B6EAD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Gestion diaria del centro</a:t>
            </a:r>
          </a:p>
        </p:txBody>
      </p:sp>
      <p:sp>
        <p:nvSpPr>
          <p:cNvPr id="4" name="CuadroTexto 3">
            <a:extLst>
              <a:ext uri="{FF2B5EF4-FFF2-40B4-BE49-F238E27FC236}">
                <a16:creationId xmlns:a16="http://schemas.microsoft.com/office/drawing/2014/main" id="{622E9172-3673-9631-3BEB-07E753D181E1}"/>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Dashboard, CRUD operativo, solicitudes, bandeja, documentos, seguimientos y exportacion.</a:t>
            </a:r>
          </a:p>
        </p:txBody>
      </p:sp>
      <p:pic>
        <p:nvPicPr>
          <p:cNvPr id="6" name="Imagen 5">
            <a:extLst>
              <a:ext uri="{FF2B5EF4-FFF2-40B4-BE49-F238E27FC236}">
                <a16:creationId xmlns:a16="http://schemas.microsoft.com/office/drawing/2014/main" id="{E7A6C0D7-0D12-049E-59B6-DFB96BCDF67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0400" y="1905000"/>
            <a:ext cx="7112000" cy="40005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B006D3B4-6F2B-7C77-7886-012B37873781}"/>
              </a:ext>
            </a:extLst>
          </p:cNvPr>
          <p:cNvSpPr/>
          <p:nvPr/>
        </p:nvSpPr>
        <p:spPr>
          <a:xfrm>
            <a:off x="8407400" y="20955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256021A2-81B0-86AC-B228-EE98914F140E}"/>
              </a:ext>
            </a:extLst>
          </p:cNvPr>
          <p:cNvSpPr txBox="1"/>
          <p:nvPr/>
        </p:nvSpPr>
        <p:spPr>
          <a:xfrm>
            <a:off x="8636000" y="22606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3</a:t>
            </a:r>
          </a:p>
        </p:txBody>
      </p:sp>
      <p:sp>
        <p:nvSpPr>
          <p:cNvPr id="9" name="CuadroTexto 8">
            <a:extLst>
              <a:ext uri="{FF2B5EF4-FFF2-40B4-BE49-F238E27FC236}">
                <a16:creationId xmlns:a16="http://schemas.microsoft.com/office/drawing/2014/main" id="{61D045D7-65D5-F9D4-E5F3-56849A3654C3}"/>
              </a:ext>
            </a:extLst>
          </p:cNvPr>
          <p:cNvSpPr txBox="1"/>
          <p:nvPr/>
        </p:nvSpPr>
        <p:spPr>
          <a:xfrm>
            <a:off x="8636000" y="27559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empresas demo</a:t>
            </a:r>
          </a:p>
        </p:txBody>
      </p:sp>
      <p:sp>
        <p:nvSpPr>
          <p:cNvPr id="10" name="Rectángulo: esquinas redondeadas 9">
            <a:extLst>
              <a:ext uri="{FF2B5EF4-FFF2-40B4-BE49-F238E27FC236}">
                <a16:creationId xmlns:a16="http://schemas.microsoft.com/office/drawing/2014/main" id="{B5133DCF-BECA-3B05-3CA7-116DCD586987}"/>
              </a:ext>
            </a:extLst>
          </p:cNvPr>
          <p:cNvSpPr/>
          <p:nvPr/>
        </p:nvSpPr>
        <p:spPr>
          <a:xfrm>
            <a:off x="8407400" y="35306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508F03D7-7445-53D1-F2E7-2F798626E1B6}"/>
              </a:ext>
            </a:extLst>
          </p:cNvPr>
          <p:cNvSpPr txBox="1"/>
          <p:nvPr/>
        </p:nvSpPr>
        <p:spPr>
          <a:xfrm>
            <a:off x="8636000" y="3695700"/>
            <a:ext cx="1905000" cy="369332"/>
          </a:xfrm>
          <a:prstGeom prst="rect">
            <a:avLst/>
          </a:prstGeom>
          <a:noFill/>
        </p:spPr>
        <p:txBody>
          <a:bodyPr vert="horz" wrap="square" lIns="0" tIns="0" rIns="0" bIns="0" rtlCol="0">
            <a:noAutofit/>
          </a:bodyPr>
          <a:lstStyle/>
          <a:p>
            <a:r>
              <a:rPr lang="es-ES" sz="2600" b="1">
                <a:solidFill>
                  <a:srgbClr val="DBA14D"/>
                </a:solidFill>
                <a:latin typeface="Segoe UI" panose="020B0502040204020203" pitchFamily="34" charset="0"/>
              </a:rPr>
              <a:t>3</a:t>
            </a:r>
          </a:p>
        </p:txBody>
      </p:sp>
      <p:sp>
        <p:nvSpPr>
          <p:cNvPr id="12" name="CuadroTexto 11">
            <a:extLst>
              <a:ext uri="{FF2B5EF4-FFF2-40B4-BE49-F238E27FC236}">
                <a16:creationId xmlns:a16="http://schemas.microsoft.com/office/drawing/2014/main" id="{C8315CDE-F7EB-FEE1-C08D-20A3C2F9DD7D}"/>
              </a:ext>
            </a:extLst>
          </p:cNvPr>
          <p:cNvSpPr txBox="1"/>
          <p:nvPr/>
        </p:nvSpPr>
        <p:spPr>
          <a:xfrm>
            <a:off x="8636000" y="41910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convenios demo</a:t>
            </a:r>
          </a:p>
        </p:txBody>
      </p:sp>
      <p:sp>
        <p:nvSpPr>
          <p:cNvPr id="13" name="Rectángulo: esquinas redondeadas 12">
            <a:extLst>
              <a:ext uri="{FF2B5EF4-FFF2-40B4-BE49-F238E27FC236}">
                <a16:creationId xmlns:a16="http://schemas.microsoft.com/office/drawing/2014/main" id="{6E08BFBC-7104-7DBF-4725-841B78F0D529}"/>
              </a:ext>
            </a:extLst>
          </p:cNvPr>
          <p:cNvSpPr/>
          <p:nvPr/>
        </p:nvSpPr>
        <p:spPr>
          <a:xfrm>
            <a:off x="8407400" y="49657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A1AF1292-558C-29ED-9B82-469D6441EE2B}"/>
              </a:ext>
            </a:extLst>
          </p:cNvPr>
          <p:cNvSpPr txBox="1"/>
          <p:nvPr/>
        </p:nvSpPr>
        <p:spPr>
          <a:xfrm>
            <a:off x="8636000" y="51308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CSV</a:t>
            </a:r>
          </a:p>
        </p:txBody>
      </p:sp>
      <p:sp>
        <p:nvSpPr>
          <p:cNvPr id="15" name="CuadroTexto 14">
            <a:extLst>
              <a:ext uri="{FF2B5EF4-FFF2-40B4-BE49-F238E27FC236}">
                <a16:creationId xmlns:a16="http://schemas.microsoft.com/office/drawing/2014/main" id="{ADD2420F-ECF0-9AEE-2F7F-3EE171BA209C}"/>
              </a:ext>
            </a:extLst>
          </p:cNvPr>
          <p:cNvSpPr txBox="1"/>
          <p:nvPr/>
        </p:nvSpPr>
        <p:spPr>
          <a:xfrm>
            <a:off x="8636000" y="56261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exportacion operativa</a:t>
            </a:r>
          </a:p>
        </p:txBody>
      </p:sp>
    </p:spTree>
    <p:extLst>
      <p:ext uri="{BB962C8B-B14F-4D97-AF65-F5344CB8AC3E}">
        <p14:creationId xmlns:p14="http://schemas.microsoft.com/office/powerpoint/2010/main" val="20086623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605B9C2E-C6D9-53E0-CD6B-6C0ACA1B77A4}"/>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06 / FLUJO EMPRESA-CENTRO</a:t>
            </a:r>
          </a:p>
        </p:txBody>
      </p:sp>
      <p:sp>
        <p:nvSpPr>
          <p:cNvPr id="3" name="CuadroTexto 2">
            <a:extLst>
              <a:ext uri="{FF2B5EF4-FFF2-40B4-BE49-F238E27FC236}">
                <a16:creationId xmlns:a16="http://schemas.microsoft.com/office/drawing/2014/main" id="{E2A8FFA2-E4EC-B497-851D-2AE407F68C81}"/>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Solicitudes, aprobacion y bandeja unificada</a:t>
            </a:r>
          </a:p>
        </p:txBody>
      </p:sp>
      <p:pic>
        <p:nvPicPr>
          <p:cNvPr id="5" name="Imagen 4">
            <a:extLst>
              <a:ext uri="{FF2B5EF4-FFF2-40B4-BE49-F238E27FC236}">
                <a16:creationId xmlns:a16="http://schemas.microsoft.com/office/drawing/2014/main" id="{D9EE1A30-C6A6-9604-7845-E88FCDE5D2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 y="1911747"/>
            <a:ext cx="6794500" cy="3821906"/>
          </a:xfrm>
          <a:prstGeom prst="rect">
            <a:avLst/>
          </a:prstGeom>
          <a:ln w="12700">
            <a:solidFill>
              <a:schemeClr val="tx1"/>
            </a:solidFill>
          </a:ln>
        </p:spPr>
      </p:pic>
      <p:sp>
        <p:nvSpPr>
          <p:cNvPr id="6" name="CuadroTexto 5">
            <a:extLst>
              <a:ext uri="{FF2B5EF4-FFF2-40B4-BE49-F238E27FC236}">
                <a16:creationId xmlns:a16="http://schemas.microsoft.com/office/drawing/2014/main" id="{3BF9AE3C-C6EE-5AD1-280A-1CC1EE01888C}"/>
              </a:ext>
            </a:extLst>
          </p:cNvPr>
          <p:cNvSpPr txBox="1"/>
          <p:nvPr/>
        </p:nvSpPr>
        <p:spPr>
          <a:xfrm>
            <a:off x="7937500" y="2108200"/>
            <a:ext cx="3429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La empresa solicita colaborar desde el portal externo.</a:t>
            </a:r>
          </a:p>
          <a:p>
            <a:pPr marL="342900" indent="-342900">
              <a:spcAft>
                <a:spcPts val="1000"/>
              </a:spcAft>
              <a:buFont typeface="+mj-lt"/>
              <a:buChar char="•"/>
            </a:pPr>
            <a:r>
              <a:rPr lang="es-ES">
                <a:solidFill>
                  <a:srgbClr val="C2CBD8"/>
                </a:solidFill>
                <a:latin typeface="Segoe UI" panose="020B0502040204020203" pitchFamily="34" charset="0"/>
              </a:rPr>
              <a:t>El correo queda verificado antes de la revision.</a:t>
            </a:r>
          </a:p>
          <a:p>
            <a:pPr marL="342900" indent="-342900">
              <a:spcAft>
                <a:spcPts val="1000"/>
              </a:spcAft>
              <a:buFont typeface="+mj-lt"/>
              <a:buChar char="•"/>
            </a:pPr>
            <a:r>
              <a:rPr lang="es-ES">
                <a:solidFill>
                  <a:srgbClr val="C2CBD8"/>
                </a:solidFill>
                <a:latin typeface="Segoe UI" panose="020B0502040204020203" pitchFamily="34" charset="0"/>
              </a:rPr>
              <a:t>El centro aprueba o rechaza desde el panel interno.</a:t>
            </a:r>
          </a:p>
          <a:p>
            <a:pPr marL="342900" indent="-342900">
              <a:spcAft>
                <a:spcPts val="1000"/>
              </a:spcAft>
              <a:buFont typeface="+mj-lt"/>
              <a:buChar char="•"/>
            </a:pPr>
            <a:r>
              <a:rPr lang="es-ES">
                <a:solidFill>
                  <a:srgbClr val="C2CBD8"/>
                </a:solidFill>
                <a:latin typeface="Segoe UI" panose="020B0502040204020203" pitchFamily="34" charset="0"/>
              </a:rPr>
              <a:t>La conversacion queda ligada a la solicitud y a la empresa.</a:t>
            </a:r>
          </a:p>
        </p:txBody>
      </p:sp>
    </p:spTree>
    <p:extLst>
      <p:ext uri="{BB962C8B-B14F-4D97-AF65-F5344CB8AC3E}">
        <p14:creationId xmlns:p14="http://schemas.microsoft.com/office/powerpoint/2010/main" val="21780011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C2435C5-682F-CB73-70EA-CDD67D44A5F6}"/>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07 / PORTAL EXTERNO</a:t>
            </a:r>
          </a:p>
        </p:txBody>
      </p:sp>
      <p:sp>
        <p:nvSpPr>
          <p:cNvPr id="3" name="CuadroTexto 2">
            <a:extLst>
              <a:ext uri="{FF2B5EF4-FFF2-40B4-BE49-F238E27FC236}">
                <a16:creationId xmlns:a16="http://schemas.microsoft.com/office/drawing/2014/main" id="{EB68F9B0-6948-D606-9EA4-A9DA6F65E8F8}"/>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Experiencia de la empresa</a:t>
            </a:r>
          </a:p>
        </p:txBody>
      </p:sp>
      <p:sp>
        <p:nvSpPr>
          <p:cNvPr id="4" name="CuadroTexto 3">
            <a:extLst>
              <a:ext uri="{FF2B5EF4-FFF2-40B4-BE49-F238E27FC236}">
                <a16:creationId xmlns:a16="http://schemas.microsoft.com/office/drawing/2014/main" id="{02F71A86-E8C4-518E-11FB-52D41E755908}"/>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Alta, seguimiento de estado, activacion de cuenta, recuperacion de contrasena y area privada.</a:t>
            </a:r>
          </a:p>
        </p:txBody>
      </p:sp>
      <p:pic>
        <p:nvPicPr>
          <p:cNvPr id="6" name="Imagen 5">
            <a:extLst>
              <a:ext uri="{FF2B5EF4-FFF2-40B4-BE49-F238E27FC236}">
                <a16:creationId xmlns:a16="http://schemas.microsoft.com/office/drawing/2014/main" id="{C73A2303-FE17-803C-3C0C-DA347895493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155" y="1854200"/>
            <a:ext cx="7224889" cy="406400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8CDB6A68-B201-4D87-D2C6-C4C6D873CC6E}"/>
              </a:ext>
            </a:extLst>
          </p:cNvPr>
          <p:cNvSpPr/>
          <p:nvPr/>
        </p:nvSpPr>
        <p:spPr>
          <a:xfrm>
            <a:off x="8763000" y="2082800"/>
            <a:ext cx="2286000" cy="914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71425291-03D1-5B3F-4FE3-ED2305FFCB6C}"/>
              </a:ext>
            </a:extLst>
          </p:cNvPr>
          <p:cNvSpPr txBox="1"/>
          <p:nvPr/>
        </p:nvSpPr>
        <p:spPr>
          <a:xfrm>
            <a:off x="9042400" y="2336800"/>
            <a:ext cx="1778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Sin acceso interno</a:t>
            </a:r>
          </a:p>
        </p:txBody>
      </p:sp>
      <p:sp>
        <p:nvSpPr>
          <p:cNvPr id="9" name="CuadroTexto 8">
            <a:extLst>
              <a:ext uri="{FF2B5EF4-FFF2-40B4-BE49-F238E27FC236}">
                <a16:creationId xmlns:a16="http://schemas.microsoft.com/office/drawing/2014/main" id="{7D5E2356-D702-4013-FE15-953F754877F1}"/>
              </a:ext>
            </a:extLst>
          </p:cNvPr>
          <p:cNvSpPr txBox="1"/>
          <p:nvPr/>
        </p:nvSpPr>
        <p:spPr>
          <a:xfrm>
            <a:off x="8763000" y="3276600"/>
            <a:ext cx="2413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portal externo tiene su propio recorrido y no mezcla credenciales de empresa con el panel del centro.</a:t>
            </a:r>
          </a:p>
        </p:txBody>
      </p:sp>
    </p:spTree>
    <p:extLst>
      <p:ext uri="{BB962C8B-B14F-4D97-AF65-F5344CB8AC3E}">
        <p14:creationId xmlns:p14="http://schemas.microsoft.com/office/powerpoint/2010/main" val="37417606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7C2479C-1178-3B08-4332-F63DB78EF9C1}"/>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08 / FLUJO FUNCIONAL</a:t>
            </a:r>
          </a:p>
        </p:txBody>
      </p:sp>
      <p:sp>
        <p:nvSpPr>
          <p:cNvPr id="3" name="CuadroTexto 2">
            <a:extLst>
              <a:ext uri="{FF2B5EF4-FFF2-40B4-BE49-F238E27FC236}">
                <a16:creationId xmlns:a16="http://schemas.microsoft.com/office/drawing/2014/main" id="{B4670353-1AC4-9709-C84C-D6F125359E17}"/>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Recorrido principal que queda cerrado</a:t>
            </a:r>
          </a:p>
        </p:txBody>
      </p:sp>
      <p:sp>
        <p:nvSpPr>
          <p:cNvPr id="4" name="CuadroTexto 3">
            <a:extLst>
              <a:ext uri="{FF2B5EF4-FFF2-40B4-BE49-F238E27FC236}">
                <a16:creationId xmlns:a16="http://schemas.microsoft.com/office/drawing/2014/main" id="{0762AAE2-D919-6A8C-5127-7777470DC727}"/>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defensa se centra en el flujo real de empresa, convenio, asignacion, seguimiento y comunicacion.</a:t>
            </a:r>
          </a:p>
        </p:txBody>
      </p:sp>
      <p:sp>
        <p:nvSpPr>
          <p:cNvPr id="5" name="Rectángulo: esquinas redondeadas 4">
            <a:extLst>
              <a:ext uri="{FF2B5EF4-FFF2-40B4-BE49-F238E27FC236}">
                <a16:creationId xmlns:a16="http://schemas.microsoft.com/office/drawing/2014/main" id="{D953EF2E-B3FC-0967-76C9-6F8FCE76F7B5}"/>
              </a:ext>
            </a:extLst>
          </p:cNvPr>
          <p:cNvSpPr/>
          <p:nvPr/>
        </p:nvSpPr>
        <p:spPr>
          <a:xfrm>
            <a:off x="889000" y="2108200"/>
            <a:ext cx="43180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A8CB3E7F-8DC3-FF7F-8EB5-DE7CC2588564}"/>
              </a:ext>
            </a:extLst>
          </p:cNvPr>
          <p:cNvSpPr txBox="1"/>
          <p:nvPr/>
        </p:nvSpPr>
        <p:spPr>
          <a:xfrm>
            <a:off x="1143000" y="2311400"/>
            <a:ext cx="3556000" cy="369332"/>
          </a:xfrm>
          <a:prstGeom prst="rect">
            <a:avLst/>
          </a:prstGeom>
          <a:noFill/>
        </p:spPr>
        <p:txBody>
          <a:bodyPr vert="horz" wrap="square" lIns="0" tIns="0" rIns="0" bIns="0" rtlCol="0">
            <a:noAutofit/>
          </a:bodyPr>
          <a:lstStyle/>
          <a:p>
            <a:r>
              <a:rPr lang="es-ES" sz="1900" b="1">
                <a:solidFill>
                  <a:srgbClr val="4975B0"/>
                </a:solidFill>
                <a:latin typeface="Segoe UI" panose="020B0502040204020203" pitchFamily="34" charset="0"/>
              </a:rPr>
              <a:t>1. Entrada externa</a:t>
            </a:r>
          </a:p>
        </p:txBody>
      </p:sp>
      <p:sp>
        <p:nvSpPr>
          <p:cNvPr id="7" name="CuadroTexto 6">
            <a:extLst>
              <a:ext uri="{FF2B5EF4-FFF2-40B4-BE49-F238E27FC236}">
                <a16:creationId xmlns:a16="http://schemas.microsoft.com/office/drawing/2014/main" id="{FF0B8279-74CD-C2A4-8ED5-A64CE01D1E72}"/>
              </a:ext>
            </a:extLst>
          </p:cNvPr>
          <p:cNvSpPr txBox="1"/>
          <p:nvPr/>
        </p:nvSpPr>
        <p:spPr>
          <a:xfrm>
            <a:off x="1143000" y="2717800"/>
            <a:ext cx="37084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empresa se registra, verifica su correo y envia la solicitud.</a:t>
            </a:r>
          </a:p>
        </p:txBody>
      </p:sp>
      <p:sp>
        <p:nvSpPr>
          <p:cNvPr id="8" name="Rectángulo: esquinas redondeadas 7">
            <a:extLst>
              <a:ext uri="{FF2B5EF4-FFF2-40B4-BE49-F238E27FC236}">
                <a16:creationId xmlns:a16="http://schemas.microsoft.com/office/drawing/2014/main" id="{5EDBC3B4-AF9C-8E19-7A42-41E13D5FCFA5}"/>
              </a:ext>
            </a:extLst>
          </p:cNvPr>
          <p:cNvSpPr/>
          <p:nvPr/>
        </p:nvSpPr>
        <p:spPr>
          <a:xfrm>
            <a:off x="6096000" y="2108200"/>
            <a:ext cx="43180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A1079A58-C67C-384F-CEB9-2DF634A16FFD}"/>
              </a:ext>
            </a:extLst>
          </p:cNvPr>
          <p:cNvSpPr txBox="1"/>
          <p:nvPr/>
        </p:nvSpPr>
        <p:spPr>
          <a:xfrm>
            <a:off x="6350000" y="2311400"/>
            <a:ext cx="3556000" cy="369332"/>
          </a:xfrm>
          <a:prstGeom prst="rect">
            <a:avLst/>
          </a:prstGeom>
          <a:noFill/>
        </p:spPr>
        <p:txBody>
          <a:bodyPr vert="horz" wrap="square" lIns="0" tIns="0" rIns="0" bIns="0" rtlCol="0">
            <a:noAutofit/>
          </a:bodyPr>
          <a:lstStyle/>
          <a:p>
            <a:r>
              <a:rPr lang="es-ES" sz="1900" b="1">
                <a:solidFill>
                  <a:srgbClr val="4975B0"/>
                </a:solidFill>
                <a:latin typeface="Segoe UI" panose="020B0502040204020203" pitchFamily="34" charset="0"/>
              </a:rPr>
              <a:t>2. Revision interna</a:t>
            </a:r>
          </a:p>
        </p:txBody>
      </p:sp>
      <p:sp>
        <p:nvSpPr>
          <p:cNvPr id="10" name="CuadroTexto 9">
            <a:extLst>
              <a:ext uri="{FF2B5EF4-FFF2-40B4-BE49-F238E27FC236}">
                <a16:creationId xmlns:a16="http://schemas.microsoft.com/office/drawing/2014/main" id="{C6A2BD28-F8F8-9F9F-6189-AEE9BD34DF13}"/>
              </a:ext>
            </a:extLst>
          </p:cNvPr>
          <p:cNvSpPr txBox="1"/>
          <p:nvPr/>
        </p:nvSpPr>
        <p:spPr>
          <a:xfrm>
            <a:off x="6350000" y="2717800"/>
            <a:ext cx="37084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El centro aprueba o rechaza y la empresa ve el estado en su portal.</a:t>
            </a:r>
          </a:p>
        </p:txBody>
      </p:sp>
      <p:sp>
        <p:nvSpPr>
          <p:cNvPr id="11" name="Rectángulo: esquinas redondeadas 10">
            <a:extLst>
              <a:ext uri="{FF2B5EF4-FFF2-40B4-BE49-F238E27FC236}">
                <a16:creationId xmlns:a16="http://schemas.microsoft.com/office/drawing/2014/main" id="{4CD28BFE-C892-D481-744E-35D66801D332}"/>
              </a:ext>
            </a:extLst>
          </p:cNvPr>
          <p:cNvSpPr/>
          <p:nvPr/>
        </p:nvSpPr>
        <p:spPr>
          <a:xfrm>
            <a:off x="889000" y="3759200"/>
            <a:ext cx="43180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A6D19DEE-6FB0-E225-31E8-3607C35F34A0}"/>
              </a:ext>
            </a:extLst>
          </p:cNvPr>
          <p:cNvSpPr txBox="1"/>
          <p:nvPr/>
        </p:nvSpPr>
        <p:spPr>
          <a:xfrm>
            <a:off x="1143000" y="3962400"/>
            <a:ext cx="3556000" cy="369332"/>
          </a:xfrm>
          <a:prstGeom prst="rect">
            <a:avLst/>
          </a:prstGeom>
          <a:noFill/>
        </p:spPr>
        <p:txBody>
          <a:bodyPr vert="horz" wrap="square" lIns="0" tIns="0" rIns="0" bIns="0" rtlCol="0">
            <a:noAutofit/>
          </a:bodyPr>
          <a:lstStyle/>
          <a:p>
            <a:r>
              <a:rPr lang="es-ES" sz="1900" b="1">
                <a:solidFill>
                  <a:srgbClr val="4975B0"/>
                </a:solidFill>
                <a:latin typeface="Segoe UI" panose="020B0502040204020203" pitchFamily="34" charset="0"/>
              </a:rPr>
              <a:t>3. Operativa academica</a:t>
            </a:r>
          </a:p>
        </p:txBody>
      </p:sp>
      <p:sp>
        <p:nvSpPr>
          <p:cNvPr id="13" name="CuadroTexto 12">
            <a:extLst>
              <a:ext uri="{FF2B5EF4-FFF2-40B4-BE49-F238E27FC236}">
                <a16:creationId xmlns:a16="http://schemas.microsoft.com/office/drawing/2014/main" id="{79B2AAAD-5EA9-C9F2-F96A-85B5C89FE4BA}"/>
              </a:ext>
            </a:extLst>
          </p:cNvPr>
          <p:cNvSpPr txBox="1"/>
          <p:nvPr/>
        </p:nvSpPr>
        <p:spPr>
          <a:xfrm>
            <a:off x="1143000" y="4368800"/>
            <a:ext cx="37084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Empresa activa, convenio firmado, asignacion, tutores, horas y fechas.</a:t>
            </a:r>
          </a:p>
        </p:txBody>
      </p:sp>
      <p:sp>
        <p:nvSpPr>
          <p:cNvPr id="14" name="Rectángulo: esquinas redondeadas 13">
            <a:extLst>
              <a:ext uri="{FF2B5EF4-FFF2-40B4-BE49-F238E27FC236}">
                <a16:creationId xmlns:a16="http://schemas.microsoft.com/office/drawing/2014/main" id="{CABDE8AF-9CF7-CBCC-805F-4AB7165EA915}"/>
              </a:ext>
            </a:extLst>
          </p:cNvPr>
          <p:cNvSpPr/>
          <p:nvPr/>
        </p:nvSpPr>
        <p:spPr>
          <a:xfrm>
            <a:off x="6096000" y="3759200"/>
            <a:ext cx="43180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83A80362-C19B-D7CE-8E78-4A5356F097BF}"/>
              </a:ext>
            </a:extLst>
          </p:cNvPr>
          <p:cNvSpPr txBox="1"/>
          <p:nvPr/>
        </p:nvSpPr>
        <p:spPr>
          <a:xfrm>
            <a:off x="6350000" y="3962400"/>
            <a:ext cx="3556000" cy="369332"/>
          </a:xfrm>
          <a:prstGeom prst="rect">
            <a:avLst/>
          </a:prstGeom>
          <a:noFill/>
        </p:spPr>
        <p:txBody>
          <a:bodyPr vert="horz" wrap="square" lIns="0" tIns="0" rIns="0" bIns="0" rtlCol="0">
            <a:noAutofit/>
          </a:bodyPr>
          <a:lstStyle/>
          <a:p>
            <a:r>
              <a:rPr lang="es-ES" sz="1900" b="1">
                <a:solidFill>
                  <a:srgbClr val="4975B0"/>
                </a:solidFill>
                <a:latin typeface="Segoe UI" panose="020B0502040204020203" pitchFamily="34" charset="0"/>
              </a:rPr>
              <a:t>4. Seguimiento</a:t>
            </a:r>
          </a:p>
        </p:txBody>
      </p:sp>
      <p:sp>
        <p:nvSpPr>
          <p:cNvPr id="16" name="CuadroTexto 15">
            <a:extLst>
              <a:ext uri="{FF2B5EF4-FFF2-40B4-BE49-F238E27FC236}">
                <a16:creationId xmlns:a16="http://schemas.microsoft.com/office/drawing/2014/main" id="{7E638CD9-55ED-211C-634F-27E49A47E4D4}"/>
              </a:ext>
            </a:extLst>
          </p:cNvPr>
          <p:cNvSpPr txBox="1"/>
          <p:nvPr/>
        </p:nvSpPr>
        <p:spPr>
          <a:xfrm>
            <a:off x="6350000" y="4368800"/>
            <a:ext cx="37084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Mensajes, documentos, reuniones, evidencias y evaluacion final.</a:t>
            </a:r>
          </a:p>
        </p:txBody>
      </p:sp>
    </p:spTree>
    <p:extLst>
      <p:ext uri="{BB962C8B-B14F-4D97-AF65-F5344CB8AC3E}">
        <p14:creationId xmlns:p14="http://schemas.microsoft.com/office/powerpoint/2010/main" val="33975640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D6238956-F9F1-21DF-B9AE-D617C3C8BA18}"/>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09 / CORREO Y RECHAZO</a:t>
            </a:r>
          </a:p>
        </p:txBody>
      </p:sp>
      <p:sp>
        <p:nvSpPr>
          <p:cNvPr id="3" name="CuadroTexto 2">
            <a:extLst>
              <a:ext uri="{FF2B5EF4-FFF2-40B4-BE49-F238E27FC236}">
                <a16:creationId xmlns:a16="http://schemas.microsoft.com/office/drawing/2014/main" id="{A8882FB6-0A32-FE64-4830-E4B8812B88E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Gestor de correos y comunicaciones transaccionales</a:t>
            </a:r>
          </a:p>
        </p:txBody>
      </p:sp>
      <p:sp>
        <p:nvSpPr>
          <p:cNvPr id="4" name="CuadroTexto 3">
            <a:extLst>
              <a:ext uri="{FF2B5EF4-FFF2-40B4-BE49-F238E27FC236}">
                <a16:creationId xmlns:a16="http://schemas.microsoft.com/office/drawing/2014/main" id="{6CDDC6D0-E940-4066-9031-440A69EF96DA}"/>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proveedor configurado es Brevo y cubre tanto correo funcional como operaciones sensibles.</a:t>
            </a:r>
          </a:p>
        </p:txBody>
      </p:sp>
      <p:sp>
        <p:nvSpPr>
          <p:cNvPr id="5" name="Rectángulo: esquinas redondeadas 4">
            <a:extLst>
              <a:ext uri="{FF2B5EF4-FFF2-40B4-BE49-F238E27FC236}">
                <a16:creationId xmlns:a16="http://schemas.microsoft.com/office/drawing/2014/main" id="{525BF652-B783-BC8B-23B8-F7A0A849AEEB}"/>
              </a:ext>
            </a:extLst>
          </p:cNvPr>
          <p:cNvSpPr/>
          <p:nvPr/>
        </p:nvSpPr>
        <p:spPr>
          <a:xfrm>
            <a:off x="736600" y="2032000"/>
            <a:ext cx="3130862" cy="3403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1325E608-422E-7A7E-ABA6-E944A5AC7E59}"/>
              </a:ext>
            </a:extLst>
          </p:cNvPr>
          <p:cNvSpPr txBox="1"/>
          <p:nvPr/>
        </p:nvSpPr>
        <p:spPr>
          <a:xfrm>
            <a:off x="1168400" y="2438400"/>
            <a:ext cx="2311400" cy="369332"/>
          </a:xfrm>
          <a:prstGeom prst="rect">
            <a:avLst/>
          </a:prstGeom>
          <a:noFill/>
        </p:spPr>
        <p:txBody>
          <a:bodyPr vert="horz" wrap="square" lIns="0" tIns="0" rIns="0" bIns="0" rtlCol="0">
            <a:noAutofit/>
          </a:bodyPr>
          <a:lstStyle/>
          <a:p>
            <a:r>
              <a:rPr lang="es-ES" sz="2800" b="1">
                <a:solidFill>
                  <a:srgbClr val="DBA14D"/>
                </a:solidFill>
                <a:latin typeface="Segoe UI" panose="020B0502040204020203" pitchFamily="34" charset="0"/>
              </a:rPr>
              <a:t>Brevo</a:t>
            </a:r>
          </a:p>
        </p:txBody>
      </p:sp>
      <p:sp>
        <p:nvSpPr>
          <p:cNvPr id="7" name="CuadroTexto 6">
            <a:extLst>
              <a:ext uri="{FF2B5EF4-FFF2-40B4-BE49-F238E27FC236}">
                <a16:creationId xmlns:a16="http://schemas.microsoft.com/office/drawing/2014/main" id="{8BFFA19F-77A4-F5DD-57AE-58F202F73837}"/>
              </a:ext>
            </a:extLst>
          </p:cNvPr>
          <p:cNvSpPr txBox="1"/>
          <p:nvPr/>
        </p:nvSpPr>
        <p:spPr>
          <a:xfrm>
            <a:off x="1092200" y="3124200"/>
            <a:ext cx="2413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F6F8FC"/>
                </a:solidFill>
                <a:latin typeface="Segoe UI" panose="020B0502040204020203" pitchFamily="34" charset="0"/>
              </a:rPr>
              <a:t>Verificacion de solicitud</a:t>
            </a:r>
          </a:p>
          <a:p>
            <a:pPr marL="342900" indent="-342900">
              <a:spcAft>
                <a:spcPts val="1000"/>
              </a:spcAft>
              <a:buFont typeface="+mj-lt"/>
              <a:buChar char="•"/>
            </a:pPr>
            <a:r>
              <a:rPr lang="es-ES" sz="1600">
                <a:solidFill>
                  <a:srgbClr val="F6F8FC"/>
                </a:solidFill>
                <a:latin typeface="Segoe UI" panose="020B0502040204020203" pitchFamily="34" charset="0"/>
              </a:rPr>
              <a:t>Activacion de cuenta</a:t>
            </a:r>
          </a:p>
          <a:p>
            <a:pPr marL="342900" indent="-342900">
              <a:spcAft>
                <a:spcPts val="1000"/>
              </a:spcAft>
              <a:buFont typeface="+mj-lt"/>
              <a:buChar char="•"/>
            </a:pPr>
            <a:r>
              <a:rPr lang="es-ES" sz="1600">
                <a:solidFill>
                  <a:srgbClr val="F6F8FC"/>
                </a:solidFill>
                <a:latin typeface="Segoe UI" panose="020B0502040204020203" pitchFamily="34" charset="0"/>
              </a:rPr>
              <a:t>Recuperacion de contrasena</a:t>
            </a:r>
          </a:p>
          <a:p>
            <a:pPr marL="342900" indent="-342900">
              <a:spcAft>
                <a:spcPts val="1000"/>
              </a:spcAft>
              <a:buFont typeface="+mj-lt"/>
              <a:buChar char="•"/>
            </a:pPr>
            <a:r>
              <a:rPr lang="es-ES" sz="1600">
                <a:solidFill>
                  <a:srgbClr val="F6F8FC"/>
                </a:solidFill>
                <a:latin typeface="Segoe UI" panose="020B0502040204020203" pitchFamily="34" charset="0"/>
              </a:rPr>
              <a:t>MFA tecnico</a:t>
            </a:r>
          </a:p>
          <a:p>
            <a:pPr marL="342900" indent="-342900">
              <a:spcAft>
                <a:spcPts val="1000"/>
              </a:spcAft>
              <a:buFont typeface="+mj-lt"/>
              <a:buChar char="•"/>
            </a:pPr>
            <a:r>
              <a:rPr lang="es-ES" sz="1600">
                <a:solidFill>
                  <a:srgbClr val="F6F8FC"/>
                </a:solidFill>
                <a:latin typeface="Segoe UI" panose="020B0502040204020203" pitchFamily="34" charset="0"/>
              </a:rPr>
              <a:t>Aviso de rechazo</a:t>
            </a:r>
          </a:p>
        </p:txBody>
      </p:sp>
      <p:sp>
        <p:nvSpPr>
          <p:cNvPr id="8" name="Rectángulo: esquinas redondeadas 7">
            <a:extLst>
              <a:ext uri="{FF2B5EF4-FFF2-40B4-BE49-F238E27FC236}">
                <a16:creationId xmlns:a16="http://schemas.microsoft.com/office/drawing/2014/main" id="{8029FD4D-05F1-8F92-9150-FA3DA85FAE95}"/>
              </a:ext>
            </a:extLst>
          </p:cNvPr>
          <p:cNvSpPr/>
          <p:nvPr/>
        </p:nvSpPr>
        <p:spPr>
          <a:xfrm>
            <a:off x="4597400" y="20320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9B98613D-CA1E-8F18-34F3-E82A99B13ED4}"/>
              </a:ext>
            </a:extLst>
          </p:cNvPr>
          <p:cNvSpPr txBox="1"/>
          <p:nvPr/>
        </p:nvSpPr>
        <p:spPr>
          <a:xfrm>
            <a:off x="4876800" y="21590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1. Registro</a:t>
            </a:r>
          </a:p>
        </p:txBody>
      </p:sp>
      <p:sp>
        <p:nvSpPr>
          <p:cNvPr id="10" name="CuadroTexto 9">
            <a:extLst>
              <a:ext uri="{FF2B5EF4-FFF2-40B4-BE49-F238E27FC236}">
                <a16:creationId xmlns:a16="http://schemas.microsoft.com/office/drawing/2014/main" id="{1ACED17E-1448-E710-8F02-CBEA5253148F}"/>
              </a:ext>
            </a:extLst>
          </p:cNvPr>
          <p:cNvSpPr txBox="1"/>
          <p:nvPr/>
        </p:nvSpPr>
        <p:spPr>
          <a:xfrm>
            <a:off x="6604000" y="21590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empresa envia la solicitud.</a:t>
            </a:r>
          </a:p>
        </p:txBody>
      </p:sp>
      <p:sp>
        <p:nvSpPr>
          <p:cNvPr id="11" name="Rectángulo: esquinas redondeadas 10">
            <a:extLst>
              <a:ext uri="{FF2B5EF4-FFF2-40B4-BE49-F238E27FC236}">
                <a16:creationId xmlns:a16="http://schemas.microsoft.com/office/drawing/2014/main" id="{203A7113-7388-EB99-5CE8-06BAF86ED964}"/>
              </a:ext>
            </a:extLst>
          </p:cNvPr>
          <p:cNvSpPr/>
          <p:nvPr/>
        </p:nvSpPr>
        <p:spPr>
          <a:xfrm>
            <a:off x="4597400" y="28956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7824C22A-9E0C-B052-CCB1-3CA6BB0D3B75}"/>
              </a:ext>
            </a:extLst>
          </p:cNvPr>
          <p:cNvSpPr txBox="1"/>
          <p:nvPr/>
        </p:nvSpPr>
        <p:spPr>
          <a:xfrm>
            <a:off x="4876800" y="30226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2. Verificacion</a:t>
            </a:r>
          </a:p>
        </p:txBody>
      </p:sp>
      <p:sp>
        <p:nvSpPr>
          <p:cNvPr id="13" name="CuadroTexto 12">
            <a:extLst>
              <a:ext uri="{FF2B5EF4-FFF2-40B4-BE49-F238E27FC236}">
                <a16:creationId xmlns:a16="http://schemas.microsoft.com/office/drawing/2014/main" id="{AE5BC097-C96C-3375-BF52-592310A40738}"/>
              </a:ext>
            </a:extLst>
          </p:cNvPr>
          <p:cNvSpPr txBox="1"/>
          <p:nvPr/>
        </p:nvSpPr>
        <p:spPr>
          <a:xfrm>
            <a:off x="6604000" y="30226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Recibe enlace y confirma correo.</a:t>
            </a:r>
          </a:p>
        </p:txBody>
      </p:sp>
      <p:sp>
        <p:nvSpPr>
          <p:cNvPr id="14" name="Rectángulo: esquinas redondeadas 13">
            <a:extLst>
              <a:ext uri="{FF2B5EF4-FFF2-40B4-BE49-F238E27FC236}">
                <a16:creationId xmlns:a16="http://schemas.microsoft.com/office/drawing/2014/main" id="{2F79E6C9-3A73-7CF5-02BF-FE0F2E959A78}"/>
              </a:ext>
            </a:extLst>
          </p:cNvPr>
          <p:cNvSpPr/>
          <p:nvPr/>
        </p:nvSpPr>
        <p:spPr>
          <a:xfrm>
            <a:off x="4597400" y="37592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B11FB8C9-B409-BB7A-4729-9CCBE06BB9DE}"/>
              </a:ext>
            </a:extLst>
          </p:cNvPr>
          <p:cNvSpPr txBox="1"/>
          <p:nvPr/>
        </p:nvSpPr>
        <p:spPr>
          <a:xfrm>
            <a:off x="4876800" y="38862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3. Revision</a:t>
            </a:r>
          </a:p>
        </p:txBody>
      </p:sp>
      <p:sp>
        <p:nvSpPr>
          <p:cNvPr id="16" name="CuadroTexto 15">
            <a:extLst>
              <a:ext uri="{FF2B5EF4-FFF2-40B4-BE49-F238E27FC236}">
                <a16:creationId xmlns:a16="http://schemas.microsoft.com/office/drawing/2014/main" id="{68E7AD88-F9E6-E814-5329-2AAE13570D54}"/>
              </a:ext>
            </a:extLst>
          </p:cNvPr>
          <p:cNvSpPr txBox="1"/>
          <p:nvPr/>
        </p:nvSpPr>
        <p:spPr>
          <a:xfrm>
            <a:off x="6604000" y="38862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El centro aprueba o rechaza.</a:t>
            </a:r>
          </a:p>
        </p:txBody>
      </p:sp>
      <p:sp>
        <p:nvSpPr>
          <p:cNvPr id="17" name="Rectángulo: esquinas redondeadas 16">
            <a:extLst>
              <a:ext uri="{FF2B5EF4-FFF2-40B4-BE49-F238E27FC236}">
                <a16:creationId xmlns:a16="http://schemas.microsoft.com/office/drawing/2014/main" id="{F50FE268-20A4-237A-2CB2-02096FB6040A}"/>
              </a:ext>
            </a:extLst>
          </p:cNvPr>
          <p:cNvSpPr/>
          <p:nvPr/>
        </p:nvSpPr>
        <p:spPr>
          <a:xfrm>
            <a:off x="4597400" y="4622800"/>
            <a:ext cx="6477000" cy="6858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8" name="CuadroTexto 17">
            <a:extLst>
              <a:ext uri="{FF2B5EF4-FFF2-40B4-BE49-F238E27FC236}">
                <a16:creationId xmlns:a16="http://schemas.microsoft.com/office/drawing/2014/main" id="{56C3565F-51D7-0EAB-BF80-D830B652995F}"/>
              </a:ext>
            </a:extLst>
          </p:cNvPr>
          <p:cNvSpPr txBox="1"/>
          <p:nvPr/>
        </p:nvSpPr>
        <p:spPr>
          <a:xfrm>
            <a:off x="4876800" y="4749800"/>
            <a:ext cx="1676400" cy="369332"/>
          </a:xfrm>
          <a:prstGeom prst="rect">
            <a:avLst/>
          </a:prstGeom>
          <a:noFill/>
        </p:spPr>
        <p:txBody>
          <a:bodyPr vert="horz" wrap="square" lIns="0" tIns="0" rIns="0" bIns="0" rtlCol="0">
            <a:noAutofit/>
          </a:bodyPr>
          <a:lstStyle/>
          <a:p>
            <a:r>
              <a:rPr lang="es-ES" sz="1600" b="1">
                <a:solidFill>
                  <a:srgbClr val="4975B0"/>
                </a:solidFill>
                <a:latin typeface="Segoe UI" panose="020B0502040204020203" pitchFamily="34" charset="0"/>
              </a:rPr>
              <a:t>4. Resultado</a:t>
            </a:r>
          </a:p>
        </p:txBody>
      </p:sp>
      <p:sp>
        <p:nvSpPr>
          <p:cNvPr id="19" name="CuadroTexto 18">
            <a:extLst>
              <a:ext uri="{FF2B5EF4-FFF2-40B4-BE49-F238E27FC236}">
                <a16:creationId xmlns:a16="http://schemas.microsoft.com/office/drawing/2014/main" id="{A6393A47-7F89-C2B5-ACAD-EDE96FD5C876}"/>
              </a:ext>
            </a:extLst>
          </p:cNvPr>
          <p:cNvSpPr txBox="1"/>
          <p:nvPr/>
        </p:nvSpPr>
        <p:spPr>
          <a:xfrm>
            <a:off x="6604000" y="4749800"/>
            <a:ext cx="4064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El estado y motivo quedan visibles; si Brevo esta disponible tambien se envia correo.</a:t>
            </a:r>
          </a:p>
        </p:txBody>
      </p:sp>
    </p:spTree>
    <p:extLst>
      <p:ext uri="{BB962C8B-B14F-4D97-AF65-F5344CB8AC3E}">
        <p14:creationId xmlns:p14="http://schemas.microsoft.com/office/powerpoint/2010/main" val="1635759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B35FDC4-31DD-4A56-B6C8-59B0D8A50B67}"/>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10 / DOMINIO EXTERNO</a:t>
            </a:r>
          </a:p>
        </p:txBody>
      </p:sp>
      <p:sp>
        <p:nvSpPr>
          <p:cNvPr id="3" name="CuadroTexto 2">
            <a:extLst>
              <a:ext uri="{FF2B5EF4-FFF2-40B4-BE49-F238E27FC236}">
                <a16:creationId xmlns:a16="http://schemas.microsoft.com/office/drawing/2014/main" id="{0868D9AE-5154-D1FA-EB34-D44C67502FA7}"/>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dirty="0">
                <a:solidFill>
                  <a:srgbClr val="F6F8FC"/>
                </a:solidFill>
                <a:latin typeface="Segoe UI" panose="020B0502040204020203" pitchFamily="34" charset="0"/>
              </a:rPr>
              <a:t>Como resuelvo el acceso publico y los enlaces de correo</a:t>
            </a:r>
          </a:p>
        </p:txBody>
      </p:sp>
      <p:sp>
        <p:nvSpPr>
          <p:cNvPr id="4" name="CuadroTexto 3">
            <a:extLst>
              <a:ext uri="{FF2B5EF4-FFF2-40B4-BE49-F238E27FC236}">
                <a16:creationId xmlns:a16="http://schemas.microsoft.com/office/drawing/2014/main" id="{9B77A2E7-354B-85BD-DED8-B331BB5D8B48}"/>
              </a:ext>
            </a:extLst>
          </p:cNvPr>
          <p:cNvSpPr txBox="1"/>
          <p:nvPr/>
        </p:nvSpPr>
        <p:spPr>
          <a:xfrm>
            <a:off x="558800" y="1764268"/>
            <a:ext cx="9144000" cy="369332"/>
          </a:xfrm>
          <a:prstGeom prst="rect">
            <a:avLst/>
          </a:prstGeom>
          <a:noFill/>
        </p:spPr>
        <p:txBody>
          <a:bodyPr vert="horz" wrap="square" lIns="0" tIns="0" rIns="0" bIns="0" rtlCol="0">
            <a:noAutofit/>
          </a:bodyPr>
          <a:lstStyle/>
          <a:p>
            <a:r>
              <a:rPr lang="es-ES" sz="1500" dirty="0">
                <a:solidFill>
                  <a:srgbClr val="C2CBD8"/>
                </a:solidFill>
                <a:latin typeface="Segoe UI" panose="020B0502040204020203" pitchFamily="34" charset="0"/>
              </a:rPr>
              <a:t>El problema ya no es una IP local incrustada: la plataforma publica una URL HTTPS estable sobre la VM </a:t>
            </a:r>
            <a:r>
              <a:rPr lang="es-ES" sz="1500" dirty="0" err="1">
                <a:solidFill>
                  <a:srgbClr val="C2CBD8"/>
                </a:solidFill>
                <a:latin typeface="Segoe UI" panose="020B0502040204020203" pitchFamily="34" charset="0"/>
              </a:rPr>
              <a:t>cloud</a:t>
            </a:r>
            <a:r>
              <a:rPr lang="es-ES" sz="1500" dirty="0">
                <a:solidFill>
                  <a:srgbClr val="C2CBD8"/>
                </a:solidFill>
                <a:latin typeface="Segoe UI" panose="020B0502040204020203" pitchFamily="34" charset="0"/>
              </a:rPr>
              <a:t>.</a:t>
            </a:r>
          </a:p>
        </p:txBody>
      </p:sp>
      <p:sp>
        <p:nvSpPr>
          <p:cNvPr id="5" name="Rectángulo: esquinas redondeadas 4">
            <a:extLst>
              <a:ext uri="{FF2B5EF4-FFF2-40B4-BE49-F238E27FC236}">
                <a16:creationId xmlns:a16="http://schemas.microsoft.com/office/drawing/2014/main" id="{8344A8C5-88FC-122A-E159-9B79E79B5912}"/>
              </a:ext>
            </a:extLst>
          </p:cNvPr>
          <p:cNvSpPr/>
          <p:nvPr/>
        </p:nvSpPr>
        <p:spPr>
          <a:xfrm>
            <a:off x="9144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1CA3C64A-3C7C-1DFE-2688-3B9B90673632}"/>
              </a:ext>
            </a:extLst>
          </p:cNvPr>
          <p:cNvSpPr txBox="1"/>
          <p:nvPr/>
        </p:nvSpPr>
        <p:spPr>
          <a:xfrm>
            <a:off x="12192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Infraestructura</a:t>
            </a:r>
          </a:p>
        </p:txBody>
      </p:sp>
      <p:sp>
        <p:nvSpPr>
          <p:cNvPr id="7" name="CuadroTexto 6">
            <a:extLst>
              <a:ext uri="{FF2B5EF4-FFF2-40B4-BE49-F238E27FC236}">
                <a16:creationId xmlns:a16="http://schemas.microsoft.com/office/drawing/2014/main" id="{2F87B97D-7334-DB5C-0377-59744B8993F9}"/>
              </a:ext>
            </a:extLst>
          </p:cNvPr>
          <p:cNvSpPr txBox="1"/>
          <p:nvPr/>
        </p:nvSpPr>
        <p:spPr>
          <a:xfrm>
            <a:off x="1219200" y="3124200"/>
            <a:ext cx="1905000" cy="369332"/>
          </a:xfrm>
          <a:prstGeom prst="rect">
            <a:avLst/>
          </a:prstGeom>
          <a:noFill/>
        </p:spPr>
        <p:txBody>
          <a:bodyPr vert="horz" wrap="square" lIns="0" tIns="0" rIns="0" bIns="0" rtlCol="0">
            <a:noAutofit/>
          </a:bodyPr>
          <a:lstStyle/>
          <a:p>
            <a:r>
              <a:rPr lang="es-ES" sz="1200">
                <a:solidFill>
                  <a:srgbClr val="1F2937"/>
                </a:solidFill>
                <a:latin typeface="Consolas" panose="020B0609020204030204" pitchFamily="49" charset="0"/>
              </a:rPr>
              <a:t>GCP + Docker Compose</a:t>
            </a:r>
          </a:p>
        </p:txBody>
      </p:sp>
      <p:sp>
        <p:nvSpPr>
          <p:cNvPr id="8" name="Rectángulo: esquinas redondeadas 7">
            <a:extLst>
              <a:ext uri="{FF2B5EF4-FFF2-40B4-BE49-F238E27FC236}">
                <a16:creationId xmlns:a16="http://schemas.microsoft.com/office/drawing/2014/main" id="{7AE4BFFD-AC4B-D894-F783-4E96B4C3EFE0}"/>
              </a:ext>
            </a:extLst>
          </p:cNvPr>
          <p:cNvSpPr/>
          <p:nvPr/>
        </p:nvSpPr>
        <p:spPr>
          <a:xfrm>
            <a:off x="4775200" y="2463800"/>
            <a:ext cx="24130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1C1C9D5A-7FB2-93DF-B202-9B53ECAD3A2F}"/>
              </a:ext>
            </a:extLst>
          </p:cNvPr>
          <p:cNvSpPr txBox="1"/>
          <p:nvPr/>
        </p:nvSpPr>
        <p:spPr>
          <a:xfrm>
            <a:off x="5130800" y="2717800"/>
            <a:ext cx="1905000" cy="369332"/>
          </a:xfrm>
          <a:prstGeom prst="rect">
            <a:avLst/>
          </a:prstGeom>
          <a:noFill/>
        </p:spPr>
        <p:txBody>
          <a:bodyPr vert="horz" wrap="square" lIns="0" tIns="0" rIns="0" bIns="0" rtlCol="0">
            <a:noAutofit/>
          </a:bodyPr>
          <a:lstStyle/>
          <a:p>
            <a:r>
              <a:rPr lang="es-ES" b="1">
                <a:solidFill>
                  <a:srgbClr val="4975B0"/>
                </a:solidFill>
                <a:latin typeface="Segoe UI" panose="020B0502040204020203" pitchFamily="34" charset="0"/>
              </a:rPr>
              <a:t>Borde HTTPS</a:t>
            </a:r>
          </a:p>
        </p:txBody>
      </p:sp>
      <p:sp>
        <p:nvSpPr>
          <p:cNvPr id="10" name="CuadroTexto 9">
            <a:extLst>
              <a:ext uri="{FF2B5EF4-FFF2-40B4-BE49-F238E27FC236}">
                <a16:creationId xmlns:a16="http://schemas.microsoft.com/office/drawing/2014/main" id="{3A9E8E2C-B54E-E130-70D0-F0FE283A6040}"/>
              </a:ext>
            </a:extLst>
          </p:cNvPr>
          <p:cNvSpPr txBox="1"/>
          <p:nvPr/>
        </p:nvSpPr>
        <p:spPr>
          <a:xfrm>
            <a:off x="5410200" y="3124200"/>
            <a:ext cx="1143000" cy="369332"/>
          </a:xfrm>
          <a:prstGeom prst="rect">
            <a:avLst/>
          </a:prstGeom>
          <a:noFill/>
        </p:spPr>
        <p:txBody>
          <a:bodyPr vert="horz" wrap="square" lIns="0" tIns="0" rIns="0" bIns="0" rtlCol="0">
            <a:noAutofit/>
          </a:bodyPr>
          <a:lstStyle/>
          <a:p>
            <a:r>
              <a:rPr lang="es-ES" sz="1400">
                <a:solidFill>
                  <a:srgbClr val="1F2937"/>
                </a:solidFill>
                <a:latin typeface="Consolas" panose="020B0609020204030204" pitchFamily="49" charset="0"/>
              </a:rPr>
              <a:t>Caddy</a:t>
            </a:r>
          </a:p>
        </p:txBody>
      </p:sp>
      <p:sp>
        <p:nvSpPr>
          <p:cNvPr id="11" name="Rectángulo: esquinas redondeadas 10">
            <a:extLst>
              <a:ext uri="{FF2B5EF4-FFF2-40B4-BE49-F238E27FC236}">
                <a16:creationId xmlns:a16="http://schemas.microsoft.com/office/drawing/2014/main" id="{FC7D6A87-5006-5B56-4298-9AD0AF1665A9}"/>
              </a:ext>
            </a:extLst>
          </p:cNvPr>
          <p:cNvSpPr/>
          <p:nvPr/>
        </p:nvSpPr>
        <p:spPr>
          <a:xfrm>
            <a:off x="8255000" y="2463800"/>
            <a:ext cx="3073400" cy="11684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2D6DCC4B-1804-606E-13BC-3281B774CCC5}"/>
              </a:ext>
            </a:extLst>
          </p:cNvPr>
          <p:cNvSpPr txBox="1"/>
          <p:nvPr/>
        </p:nvSpPr>
        <p:spPr>
          <a:xfrm>
            <a:off x="8559800" y="2717800"/>
            <a:ext cx="22860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URL publica</a:t>
            </a:r>
          </a:p>
        </p:txBody>
      </p:sp>
      <p:sp>
        <p:nvSpPr>
          <p:cNvPr id="13" name="CuadroTexto 12">
            <a:extLst>
              <a:ext uri="{FF2B5EF4-FFF2-40B4-BE49-F238E27FC236}">
                <a16:creationId xmlns:a16="http://schemas.microsoft.com/office/drawing/2014/main" id="{F7EF453A-0E45-B87F-5E65-C32ADAC9DCA7}"/>
              </a:ext>
            </a:extLst>
          </p:cNvPr>
          <p:cNvSpPr txBox="1"/>
          <p:nvPr/>
        </p:nvSpPr>
        <p:spPr>
          <a:xfrm>
            <a:off x="8483600" y="3124200"/>
            <a:ext cx="2641600" cy="369332"/>
          </a:xfrm>
          <a:prstGeom prst="rect">
            <a:avLst/>
          </a:prstGeom>
          <a:noFill/>
        </p:spPr>
        <p:txBody>
          <a:bodyPr vert="horz" wrap="square" lIns="0" tIns="0" rIns="0" bIns="0" rtlCol="0">
            <a:noAutofit/>
          </a:bodyPr>
          <a:lstStyle/>
          <a:p>
            <a:r>
              <a:rPr lang="es-ES" sz="900">
                <a:solidFill>
                  <a:srgbClr val="F6F8FC"/>
                </a:solidFill>
                <a:latin typeface="Consolas" panose="020B0609020204030204" pitchFamily="49" charset="0"/>
              </a:rPr>
              <a:t>https://agora.34.175.161.212...</a:t>
            </a:r>
          </a:p>
        </p:txBody>
      </p:sp>
      <p:sp>
        <p:nvSpPr>
          <p:cNvPr id="14" name="CuadroTexto 13">
            <a:extLst>
              <a:ext uri="{FF2B5EF4-FFF2-40B4-BE49-F238E27FC236}">
                <a16:creationId xmlns:a16="http://schemas.microsoft.com/office/drawing/2014/main" id="{50EA1839-294B-01A8-9EC3-D8A32AC262BC}"/>
              </a:ext>
            </a:extLst>
          </p:cNvPr>
          <p:cNvSpPr txBox="1"/>
          <p:nvPr/>
        </p:nvSpPr>
        <p:spPr>
          <a:xfrm>
            <a:off x="1168400" y="42164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El portal externo y los correos usan ya el origen publico correcto de la VM.</a:t>
            </a:r>
          </a:p>
          <a:p>
            <a:pPr marL="342900" indent="-342900">
              <a:spcAft>
                <a:spcPts val="1000"/>
              </a:spcAft>
              <a:buFont typeface="+mj-lt"/>
              <a:buChar char="•"/>
            </a:pPr>
            <a:r>
              <a:rPr lang="es-ES" sz="1700">
                <a:solidFill>
                  <a:srgbClr val="C2CBD8"/>
                </a:solidFill>
                <a:latin typeface="Segoe UI" panose="020B0502040204020203" pitchFamily="34" charset="0"/>
              </a:rPr>
              <a:t>APP_EXTERNAL_BASE_URL fija la URL canonica para enlaces y notificaciones.</a:t>
            </a:r>
          </a:p>
          <a:p>
            <a:pPr marL="342900" indent="-342900">
              <a:spcAft>
                <a:spcPts val="1000"/>
              </a:spcAft>
              <a:buFont typeface="+mj-lt"/>
              <a:buChar char="•"/>
            </a:pPr>
            <a:r>
              <a:rPr lang="es-ES" sz="1700">
                <a:solidFill>
                  <a:srgbClr val="C2CBD8"/>
                </a:solidFill>
                <a:latin typeface="Segoe UI" panose="020B0502040204020203" pitchFamily="34" charset="0"/>
              </a:rPr>
              <a:t>El siguiente paso natural seria cambiar nip.io por dominio institucional propio.</a:t>
            </a:r>
          </a:p>
        </p:txBody>
      </p:sp>
    </p:spTree>
    <p:extLst>
      <p:ext uri="{BB962C8B-B14F-4D97-AF65-F5344CB8AC3E}">
        <p14:creationId xmlns:p14="http://schemas.microsoft.com/office/powerpoint/2010/main" val="103367589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C6D52F73-CCD9-42F7-02A5-4E37F1F4F59C}"/>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11 / MENSAJERIA</a:t>
            </a:r>
          </a:p>
        </p:txBody>
      </p:sp>
      <p:sp>
        <p:nvSpPr>
          <p:cNvPr id="3" name="CuadroTexto 2">
            <a:extLst>
              <a:ext uri="{FF2B5EF4-FFF2-40B4-BE49-F238E27FC236}">
                <a16:creationId xmlns:a16="http://schemas.microsoft.com/office/drawing/2014/main" id="{80A60D73-4A0C-5AF2-4C62-D5ACA05D52DF}"/>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Bandeja y chat con actualizacion automatica</a:t>
            </a:r>
          </a:p>
        </p:txBody>
      </p:sp>
      <p:sp>
        <p:nvSpPr>
          <p:cNvPr id="4" name="CuadroTexto 3">
            <a:extLst>
              <a:ext uri="{FF2B5EF4-FFF2-40B4-BE49-F238E27FC236}">
                <a16:creationId xmlns:a16="http://schemas.microsoft.com/office/drawing/2014/main" id="{E890516C-1647-E8F2-B91A-FEAC8DB6B110}"/>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comunicacion entre centro y empresa no depende ya de recargar la pagina a mano.</a:t>
            </a:r>
          </a:p>
        </p:txBody>
      </p:sp>
      <p:pic>
        <p:nvPicPr>
          <p:cNvPr id="6" name="Imagen 5">
            <a:extLst>
              <a:ext uri="{FF2B5EF4-FFF2-40B4-BE49-F238E27FC236}">
                <a16:creationId xmlns:a16="http://schemas.microsoft.com/office/drawing/2014/main" id="{366783F9-97FF-8785-D28F-6E350B34BE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5000" y="2028825"/>
            <a:ext cx="6604000" cy="3714750"/>
          </a:xfrm>
          <a:prstGeom prst="rect">
            <a:avLst/>
          </a:prstGeom>
          <a:ln w="12700">
            <a:solidFill>
              <a:schemeClr val="tx1"/>
            </a:solidFill>
          </a:ln>
        </p:spPr>
      </p:pic>
      <p:sp>
        <p:nvSpPr>
          <p:cNvPr id="7" name="Rectángulo: esquinas redondeadas 6">
            <a:extLst>
              <a:ext uri="{FF2B5EF4-FFF2-40B4-BE49-F238E27FC236}">
                <a16:creationId xmlns:a16="http://schemas.microsoft.com/office/drawing/2014/main" id="{920EA701-EB98-29B2-98BE-3DE403EC5E94}"/>
              </a:ext>
            </a:extLst>
          </p:cNvPr>
          <p:cNvSpPr/>
          <p:nvPr/>
        </p:nvSpPr>
        <p:spPr>
          <a:xfrm>
            <a:off x="7874000" y="2082800"/>
            <a:ext cx="3175000" cy="10668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3FF02323-D96E-D1EE-4A95-4E4E4B708157}"/>
              </a:ext>
            </a:extLst>
          </p:cNvPr>
          <p:cNvSpPr txBox="1"/>
          <p:nvPr/>
        </p:nvSpPr>
        <p:spPr>
          <a:xfrm>
            <a:off x="8255000" y="2336800"/>
            <a:ext cx="2413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Actualizacion automatica</a:t>
            </a:r>
          </a:p>
        </p:txBody>
      </p:sp>
      <p:sp>
        <p:nvSpPr>
          <p:cNvPr id="10" name="CuadroTexto 9">
            <a:extLst>
              <a:ext uri="{FF2B5EF4-FFF2-40B4-BE49-F238E27FC236}">
                <a16:creationId xmlns:a16="http://schemas.microsoft.com/office/drawing/2014/main" id="{9562B2FB-25DC-3F69-2542-BF232BE5CB7F}"/>
              </a:ext>
            </a:extLst>
          </p:cNvPr>
          <p:cNvSpPr txBox="1"/>
          <p:nvPr/>
        </p:nvSpPr>
        <p:spPr>
          <a:xfrm>
            <a:off x="7924800" y="3479800"/>
            <a:ext cx="3175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600">
                <a:solidFill>
                  <a:srgbClr val="C2CBD8"/>
                </a:solidFill>
                <a:latin typeface="Segoe UI" panose="020B0502040204020203" pitchFamily="34" charset="0"/>
              </a:rPr>
              <a:t>Refresco periodico del chat y de la bandeja.</a:t>
            </a:r>
          </a:p>
          <a:p>
            <a:pPr marL="342900" indent="-342900">
              <a:spcAft>
                <a:spcPts val="1000"/>
              </a:spcAft>
              <a:buFont typeface="+mj-lt"/>
              <a:buChar char="•"/>
            </a:pPr>
            <a:r>
              <a:rPr lang="es-ES" sz="1600">
                <a:solidFill>
                  <a:srgbClr val="C2CBD8"/>
                </a:solidFill>
                <a:latin typeface="Segoe UI" panose="020B0502040204020203" pitchFamily="34" charset="0"/>
              </a:rPr>
              <a:t>Nueva carga cuando la ventana recupera el foco.</a:t>
            </a:r>
          </a:p>
          <a:p>
            <a:pPr marL="342900" indent="-342900">
              <a:spcAft>
                <a:spcPts val="1000"/>
              </a:spcAft>
              <a:buFont typeface="+mj-lt"/>
              <a:buChar char="•"/>
            </a:pPr>
            <a:r>
              <a:rPr lang="es-ES" sz="1600">
                <a:solidFill>
                  <a:srgbClr val="C2CBD8"/>
                </a:solidFill>
                <a:latin typeface="Segoe UI" panose="020B0502040204020203" pitchFamily="34" charset="0"/>
              </a:rPr>
              <a:t>La empresa tambien ve cambios en su panel externo.</a:t>
            </a:r>
          </a:p>
          <a:p>
            <a:pPr marL="342900" indent="-342900">
              <a:spcAft>
                <a:spcPts val="1000"/>
              </a:spcAft>
              <a:buFont typeface="+mj-lt"/>
              <a:buChar char="•"/>
            </a:pPr>
            <a:r>
              <a:rPr lang="es-ES" sz="1600">
                <a:solidFill>
                  <a:srgbClr val="C2CBD8"/>
                </a:solidFill>
                <a:latin typeface="Segoe UI" panose="020B0502040204020203" pitchFamily="34" charset="0"/>
              </a:rPr>
              <a:t>El rechazo queda visible en estado y puede notificarse por correo.</a:t>
            </a:r>
          </a:p>
        </p:txBody>
      </p:sp>
    </p:spTree>
    <p:extLst>
      <p:ext uri="{BB962C8B-B14F-4D97-AF65-F5344CB8AC3E}">
        <p14:creationId xmlns:p14="http://schemas.microsoft.com/office/powerpoint/2010/main" val="18276566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28532E55-AAC4-8890-C03B-7CC4A12F942F}"/>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12 / AGORA DESKTOP</a:t>
            </a:r>
          </a:p>
        </p:txBody>
      </p:sp>
      <p:sp>
        <p:nvSpPr>
          <p:cNvPr id="3" name="CuadroTexto 2">
            <a:extLst>
              <a:ext uri="{FF2B5EF4-FFF2-40B4-BE49-F238E27FC236}">
                <a16:creationId xmlns:a16="http://schemas.microsoft.com/office/drawing/2014/main" id="{3D6FDC03-E1E6-5689-3C3E-A759009E4983}"/>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Consola tecnica local y cloud</a:t>
            </a:r>
          </a:p>
        </p:txBody>
      </p:sp>
      <p:sp>
        <p:nvSpPr>
          <p:cNvPr id="4" name="CuadroTexto 3">
            <a:extLst>
              <a:ext uri="{FF2B5EF4-FFF2-40B4-BE49-F238E27FC236}">
                <a16:creationId xmlns:a16="http://schemas.microsoft.com/office/drawing/2014/main" id="{7BCBF2A4-9BD8-FF5D-C33B-B597FFF56920}"/>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La parte tecnica ya no depende de varios terminales sueltos ni de una pagina web separada: queda centralizada en una sola app.</a:t>
            </a:r>
          </a:p>
        </p:txBody>
      </p:sp>
      <p:pic>
        <p:nvPicPr>
          <p:cNvPr id="6" name="Imagen 5">
            <a:extLst>
              <a:ext uri="{FF2B5EF4-FFF2-40B4-BE49-F238E27FC236}">
                <a16:creationId xmlns:a16="http://schemas.microsoft.com/office/drawing/2014/main" id="{70B6E5FF-BD2E-F47B-1C0C-1309C980470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2542" y="2133600"/>
            <a:ext cx="3981459" cy="4038600"/>
          </a:xfrm>
          <a:prstGeom prst="rect">
            <a:avLst/>
          </a:prstGeom>
          <a:ln w="12700">
            <a:solidFill>
              <a:schemeClr val="tx1"/>
            </a:solidFill>
          </a:ln>
        </p:spPr>
      </p:pic>
      <p:sp>
        <p:nvSpPr>
          <p:cNvPr id="7" name="CuadroTexto 6">
            <a:extLst>
              <a:ext uri="{FF2B5EF4-FFF2-40B4-BE49-F238E27FC236}">
                <a16:creationId xmlns:a16="http://schemas.microsoft.com/office/drawing/2014/main" id="{E4A0B6C0-CAD5-7A81-453E-FBA54446F163}"/>
              </a:ext>
            </a:extLst>
          </p:cNvPr>
          <p:cNvSpPr txBox="1"/>
          <p:nvPr/>
        </p:nvSpPr>
        <p:spPr>
          <a:xfrm>
            <a:off x="6858000" y="2057400"/>
            <a:ext cx="4064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Modo local para backend, SQLite y demo offline.</a:t>
            </a:r>
          </a:p>
          <a:p>
            <a:pPr marL="342900" indent="-342900">
              <a:spcAft>
                <a:spcPts val="1000"/>
              </a:spcAft>
              <a:buFont typeface="+mj-lt"/>
              <a:buChar char="•"/>
            </a:pPr>
            <a:r>
              <a:rPr lang="es-ES" sz="1700">
                <a:solidFill>
                  <a:srgbClr val="C2CBD8"/>
                </a:solidFill>
                <a:latin typeface="Segoe UI" panose="020B0502040204020203" pitchFamily="34" charset="0"/>
              </a:rPr>
              <a:t>Modo cloud para estado, smoke, logs y reinicios remotos.</a:t>
            </a:r>
          </a:p>
          <a:p>
            <a:pPr marL="342900" indent="-342900">
              <a:spcAft>
                <a:spcPts val="1000"/>
              </a:spcAft>
              <a:buFont typeface="+mj-lt"/>
              <a:buChar char="•"/>
            </a:pPr>
            <a:r>
              <a:rPr lang="es-ES" sz="1700">
                <a:solidFill>
                  <a:srgbClr val="C2CBD8"/>
                </a:solidFill>
                <a:latin typeface="Segoe UI" panose="020B0502040204020203" pitchFamily="34" charset="0"/>
              </a:rPr>
              <a:t>MFA en operaciones sensibles del flujo local.</a:t>
            </a:r>
          </a:p>
          <a:p>
            <a:pPr marL="342900" indent="-342900">
              <a:spcAft>
                <a:spcPts val="1000"/>
              </a:spcAft>
              <a:buFont typeface="+mj-lt"/>
              <a:buChar char="•"/>
            </a:pPr>
            <a:r>
              <a:rPr lang="es-ES" sz="1700">
                <a:solidFill>
                  <a:srgbClr val="C2CBD8"/>
                </a:solidFill>
                <a:latin typeface="Segoe UI" panose="020B0502040204020203" pitchFamily="34" charset="0"/>
              </a:rPr>
              <a:t>Diagnostico, logs y backups desde una sola interfaz.</a:t>
            </a:r>
          </a:p>
          <a:p>
            <a:pPr marL="342900" indent="-342900">
              <a:spcAft>
                <a:spcPts val="1000"/>
              </a:spcAft>
              <a:buFont typeface="+mj-lt"/>
              <a:buChar char="•"/>
            </a:pPr>
            <a:r>
              <a:rPr lang="es-ES" sz="1700">
                <a:solidFill>
                  <a:srgbClr val="C2CBD8"/>
                </a:solidFill>
                <a:latin typeface="Segoe UI" panose="020B0502040204020203" pitchFamily="34" charset="0"/>
              </a:rPr>
              <a:t>Empaquetado Windows listo para la defensa.</a:t>
            </a:r>
          </a:p>
        </p:txBody>
      </p:sp>
    </p:spTree>
    <p:extLst>
      <p:ext uri="{BB962C8B-B14F-4D97-AF65-F5344CB8AC3E}">
        <p14:creationId xmlns:p14="http://schemas.microsoft.com/office/powerpoint/2010/main" val="316283888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C7F1369-2838-96F1-79B4-F798DF5FC98B}"/>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13 / OPERACION Y SEGURIDAD</a:t>
            </a:r>
          </a:p>
        </p:txBody>
      </p:sp>
      <p:sp>
        <p:nvSpPr>
          <p:cNvPr id="3" name="CuadroTexto 2">
            <a:extLst>
              <a:ext uri="{FF2B5EF4-FFF2-40B4-BE49-F238E27FC236}">
                <a16:creationId xmlns:a16="http://schemas.microsoft.com/office/drawing/2014/main" id="{759C3883-3A9B-3008-5BAF-8DBC6FABD3AA}"/>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Autoarranque en VM y permisos internos</a:t>
            </a:r>
          </a:p>
        </p:txBody>
      </p:sp>
      <p:sp>
        <p:nvSpPr>
          <p:cNvPr id="4" name="CuadroTexto 3">
            <a:extLst>
              <a:ext uri="{FF2B5EF4-FFF2-40B4-BE49-F238E27FC236}">
                <a16:creationId xmlns:a16="http://schemas.microsoft.com/office/drawing/2014/main" id="{184FA9DC-5AAA-61FC-40CB-05310D893222}"/>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despliegue cloud no depende de arrancarlo a mano y la seguridad separa operacion diaria de acciones destructivas.</a:t>
            </a:r>
          </a:p>
        </p:txBody>
      </p:sp>
      <p:sp>
        <p:nvSpPr>
          <p:cNvPr id="5" name="Rectángulo: esquinas redondeadas 4">
            <a:extLst>
              <a:ext uri="{FF2B5EF4-FFF2-40B4-BE49-F238E27FC236}">
                <a16:creationId xmlns:a16="http://schemas.microsoft.com/office/drawing/2014/main" id="{B93E68E7-32EF-2945-33EA-8015FBE50330}"/>
              </a:ext>
            </a:extLst>
          </p:cNvPr>
          <p:cNvSpPr/>
          <p:nvPr/>
        </p:nvSpPr>
        <p:spPr>
          <a:xfrm>
            <a:off x="736600" y="1981200"/>
            <a:ext cx="4953000" cy="3022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0EB965BF-11BD-1547-59E8-12AC47DA4278}"/>
              </a:ext>
            </a:extLst>
          </p:cNvPr>
          <p:cNvSpPr txBox="1"/>
          <p:nvPr/>
        </p:nvSpPr>
        <p:spPr>
          <a:xfrm>
            <a:off x="1092200" y="2311400"/>
            <a:ext cx="3810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Arranque automatico</a:t>
            </a:r>
          </a:p>
        </p:txBody>
      </p:sp>
      <p:sp>
        <p:nvSpPr>
          <p:cNvPr id="7" name="CuadroTexto 6">
            <a:extLst>
              <a:ext uri="{FF2B5EF4-FFF2-40B4-BE49-F238E27FC236}">
                <a16:creationId xmlns:a16="http://schemas.microsoft.com/office/drawing/2014/main" id="{322F072E-1FB7-91B5-0C28-BD06F9FF861E}"/>
              </a:ext>
            </a:extLst>
          </p:cNvPr>
          <p:cNvSpPr txBox="1"/>
          <p:nvPr/>
        </p:nvSpPr>
        <p:spPr>
          <a:xfrm>
            <a:off x="1092200" y="2819400"/>
            <a:ext cx="4064000" cy="369332"/>
          </a:xfrm>
          <a:prstGeom prst="rect">
            <a:avLst/>
          </a:prstGeom>
          <a:noFill/>
        </p:spPr>
        <p:txBody>
          <a:bodyPr vert="horz" wrap="square" lIns="0" tIns="0" rIns="0" bIns="0" rtlCol="0">
            <a:noAutofit/>
          </a:bodyPr>
          <a:lstStyle/>
          <a:p>
            <a:r>
              <a:rPr lang="en-GB" sz="1700">
                <a:solidFill>
                  <a:srgbClr val="F6F8FC"/>
                </a:solidFill>
                <a:latin typeface="Consolas" panose="020B0609020204030204" pitchFamily="49" charset="0"/>
              </a:rPr>
              <a:t>VM -&gt; systemd -&gt; agora.service</a:t>
            </a:r>
          </a:p>
          <a:p>
            <a:r>
              <a:rPr lang="en-GB" sz="1700">
                <a:solidFill>
                  <a:srgbClr val="F6F8FC"/>
                </a:solidFill>
                <a:latin typeface="Consolas" panose="020B0609020204030204" pitchFamily="49" charset="0"/>
              </a:rPr>
              <a:t>deploy/gcp/startup.sh</a:t>
            </a:r>
          </a:p>
          <a:p>
            <a:r>
              <a:rPr lang="en-GB" sz="1700">
                <a:solidFill>
                  <a:srgbClr val="F6F8FC"/>
                </a:solidFill>
                <a:latin typeface="Consolas" panose="020B0609020204030204" pitchFamily="49" charset="0"/>
              </a:rPr>
              <a:t>docker compose up -d</a:t>
            </a:r>
            <a:endParaRPr lang="es-ES" sz="1700">
              <a:solidFill>
                <a:srgbClr val="F6F8FC"/>
              </a:solidFill>
              <a:latin typeface="Consolas" panose="020B0609020204030204" pitchFamily="49" charset="0"/>
            </a:endParaRPr>
          </a:p>
        </p:txBody>
      </p:sp>
      <p:sp>
        <p:nvSpPr>
          <p:cNvPr id="8" name="CuadroTexto 7">
            <a:extLst>
              <a:ext uri="{FF2B5EF4-FFF2-40B4-BE49-F238E27FC236}">
                <a16:creationId xmlns:a16="http://schemas.microsoft.com/office/drawing/2014/main" id="{EE1E7314-3281-AA68-7E2D-D48616F8FF3F}"/>
              </a:ext>
            </a:extLst>
          </p:cNvPr>
          <p:cNvSpPr txBox="1"/>
          <p:nvPr/>
        </p:nvSpPr>
        <p:spPr>
          <a:xfrm>
            <a:off x="1117600" y="4140200"/>
            <a:ext cx="3810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400">
                <a:solidFill>
                  <a:srgbClr val="C2CBD8"/>
                </a:solidFill>
                <a:latin typeface="Segoe UI" panose="020B0502040204020203" pitchFamily="34" charset="0"/>
              </a:rPr>
              <a:t>Recalcula la URL nip.io si cambia la IP.</a:t>
            </a:r>
          </a:p>
          <a:p>
            <a:pPr marL="342900" indent="-342900">
              <a:spcAft>
                <a:spcPts val="1000"/>
              </a:spcAft>
              <a:buFont typeface="+mj-lt"/>
              <a:buChar char="•"/>
            </a:pPr>
            <a:r>
              <a:rPr lang="es-ES" sz="1400">
                <a:solidFill>
                  <a:srgbClr val="C2CBD8"/>
                </a:solidFill>
                <a:latin typeface="Segoe UI" panose="020B0502040204020203" pitchFamily="34" charset="0"/>
              </a:rPr>
              <a:t>Levanta proxy, app y PostgreSQL.</a:t>
            </a:r>
          </a:p>
        </p:txBody>
      </p:sp>
      <p:sp>
        <p:nvSpPr>
          <p:cNvPr id="9" name="Rectángulo: esquinas redondeadas 8">
            <a:extLst>
              <a:ext uri="{FF2B5EF4-FFF2-40B4-BE49-F238E27FC236}">
                <a16:creationId xmlns:a16="http://schemas.microsoft.com/office/drawing/2014/main" id="{E30B2685-109A-4CA1-1DB9-414E28884E1E}"/>
              </a:ext>
            </a:extLst>
          </p:cNvPr>
          <p:cNvSpPr/>
          <p:nvPr/>
        </p:nvSpPr>
        <p:spPr>
          <a:xfrm>
            <a:off x="6477000" y="1981200"/>
            <a:ext cx="4724400" cy="30226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5C8CB957-176D-6ED0-5A12-199B18368F04}"/>
              </a:ext>
            </a:extLst>
          </p:cNvPr>
          <p:cNvSpPr txBox="1"/>
          <p:nvPr/>
        </p:nvSpPr>
        <p:spPr>
          <a:xfrm>
            <a:off x="6832600" y="2311400"/>
            <a:ext cx="3429000" cy="369332"/>
          </a:xfrm>
          <a:prstGeom prst="rect">
            <a:avLst/>
          </a:prstGeom>
          <a:noFill/>
        </p:spPr>
        <p:txBody>
          <a:bodyPr vert="horz" wrap="square" lIns="0" tIns="0" rIns="0" bIns="0" rtlCol="0">
            <a:noAutofit/>
          </a:bodyPr>
          <a:lstStyle/>
          <a:p>
            <a:r>
              <a:rPr lang="es-ES" sz="2000" b="1">
                <a:solidFill>
                  <a:srgbClr val="4975B0"/>
                </a:solidFill>
                <a:latin typeface="Segoe UI" panose="020B0502040204020203" pitchFamily="34" charset="0"/>
              </a:rPr>
              <a:t>Roles definidos</a:t>
            </a:r>
          </a:p>
        </p:txBody>
      </p:sp>
      <p:sp>
        <p:nvSpPr>
          <p:cNvPr id="11" name="CuadroTexto 10">
            <a:extLst>
              <a:ext uri="{FF2B5EF4-FFF2-40B4-BE49-F238E27FC236}">
                <a16:creationId xmlns:a16="http://schemas.microsoft.com/office/drawing/2014/main" id="{7AD567F2-C941-6216-204D-4155349483DE}"/>
              </a:ext>
            </a:extLst>
          </p:cNvPr>
          <p:cNvSpPr txBox="1"/>
          <p:nvPr/>
        </p:nvSpPr>
        <p:spPr>
          <a:xfrm>
            <a:off x="6883400" y="2844800"/>
            <a:ext cx="36322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300">
                <a:solidFill>
                  <a:srgbClr val="1F2937"/>
                </a:solidFill>
                <a:latin typeface="Segoe UI" panose="020B0502040204020203" pitchFamily="34" charset="0"/>
              </a:rPr>
              <a:t>ADMIN: control total y limpieza de datos de prueba.</a:t>
            </a:r>
          </a:p>
          <a:p>
            <a:pPr marL="342900" indent="-342900">
              <a:spcAft>
                <a:spcPts val="1000"/>
              </a:spcAft>
              <a:buFont typeface="+mj-lt"/>
              <a:buChar char="•"/>
            </a:pPr>
            <a:r>
              <a:rPr lang="es-ES" sz="1300">
                <a:solidFill>
                  <a:srgbClr val="1F2937"/>
                </a:solidFill>
                <a:latin typeface="Segoe UI" panose="020B0502040204020203" pitchFamily="34" charset="0"/>
              </a:rPr>
              <a:t>PROFESOR/COORDINATOR: crear, editar y consultar sin eliminar.</a:t>
            </a:r>
          </a:p>
          <a:p>
            <a:pPr marL="342900" indent="-342900">
              <a:spcAft>
                <a:spcPts val="1000"/>
              </a:spcAft>
              <a:buFont typeface="+mj-lt"/>
              <a:buChar char="•"/>
            </a:pPr>
            <a:r>
              <a:rPr lang="es-ES" sz="1300">
                <a:solidFill>
                  <a:srgbClr val="1F2937"/>
                </a:solidFill>
                <a:latin typeface="Segoe UI" panose="020B0502040204020203" pitchFamily="34" charset="0"/>
              </a:rPr>
              <a:t>El borrado respeta relaciones: asignacion -&gt; convenio -&gt; empresa.</a:t>
            </a:r>
          </a:p>
        </p:txBody>
      </p:sp>
      <p:sp>
        <p:nvSpPr>
          <p:cNvPr id="12" name="CuadroTexto 11">
            <a:extLst>
              <a:ext uri="{FF2B5EF4-FFF2-40B4-BE49-F238E27FC236}">
                <a16:creationId xmlns:a16="http://schemas.microsoft.com/office/drawing/2014/main" id="{869C8CAB-AEDD-EFB8-6164-394524121BA7}"/>
              </a:ext>
            </a:extLst>
          </p:cNvPr>
          <p:cNvSpPr txBox="1"/>
          <p:nvPr/>
        </p:nvSpPr>
        <p:spPr>
          <a:xfrm>
            <a:off x="6858000" y="4419600"/>
            <a:ext cx="3810000" cy="369332"/>
          </a:xfrm>
          <a:prstGeom prst="rect">
            <a:avLst/>
          </a:prstGeom>
          <a:noFill/>
        </p:spPr>
        <p:txBody>
          <a:bodyPr vert="horz" wrap="square" lIns="0" tIns="0" rIns="0" bIns="0" rtlCol="0">
            <a:noAutofit/>
          </a:bodyPr>
          <a:lstStyle/>
          <a:p>
            <a:r>
              <a:rPr lang="es-ES" sz="1200">
                <a:solidFill>
                  <a:srgbClr val="C2CBD8"/>
                </a:solidFill>
                <a:latin typeface="Segoe UI" panose="020B0502040204020203" pitchFamily="34" charset="0"/>
              </a:rPr>
              <a:t>Futuro: roles avanzados, solo lectura y permisos por centro.</a:t>
            </a:r>
          </a:p>
        </p:txBody>
      </p:sp>
      <p:sp>
        <p:nvSpPr>
          <p:cNvPr id="13" name="CuadroTexto 12">
            <a:extLst>
              <a:ext uri="{FF2B5EF4-FFF2-40B4-BE49-F238E27FC236}">
                <a16:creationId xmlns:a16="http://schemas.microsoft.com/office/drawing/2014/main" id="{F6F0ACEC-BA8B-5A8E-28A6-448A01E6AA35}"/>
              </a:ext>
            </a:extLst>
          </p:cNvPr>
          <p:cNvSpPr txBox="1"/>
          <p:nvPr/>
        </p:nvSpPr>
        <p:spPr>
          <a:xfrm>
            <a:off x="939800" y="5461000"/>
            <a:ext cx="9906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Justificacion: cierro el despliegue cloud con arranque reproducible y dejo preparada la separacion de permisos para evolucionar de demo funcional a entorno multiusuario real.</a:t>
            </a:r>
          </a:p>
        </p:txBody>
      </p:sp>
    </p:spTree>
    <p:extLst>
      <p:ext uri="{BB962C8B-B14F-4D97-AF65-F5344CB8AC3E}">
        <p14:creationId xmlns:p14="http://schemas.microsoft.com/office/powerpoint/2010/main" val="22704462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D1F84024-9633-8F3B-4091-1737AD4EBBF4}"/>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14 / VALIDACION</a:t>
            </a:r>
          </a:p>
        </p:txBody>
      </p:sp>
      <p:sp>
        <p:nvSpPr>
          <p:cNvPr id="3" name="CuadroTexto 2">
            <a:extLst>
              <a:ext uri="{FF2B5EF4-FFF2-40B4-BE49-F238E27FC236}">
                <a16:creationId xmlns:a16="http://schemas.microsoft.com/office/drawing/2014/main" id="{6AA21FD7-E6EC-A98C-C826-EDEDF37EB9F7}"/>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Comprobaciones ejecutadas antes de la revision final</a:t>
            </a:r>
          </a:p>
        </p:txBody>
      </p:sp>
      <p:sp>
        <p:nvSpPr>
          <p:cNvPr id="4" name="Rectángulo: esquinas redondeadas 3">
            <a:extLst>
              <a:ext uri="{FF2B5EF4-FFF2-40B4-BE49-F238E27FC236}">
                <a16:creationId xmlns:a16="http://schemas.microsoft.com/office/drawing/2014/main" id="{19FB7C17-8D79-F694-71F1-4F488E298F09}"/>
              </a:ext>
            </a:extLst>
          </p:cNvPr>
          <p:cNvSpPr/>
          <p:nvPr/>
        </p:nvSpPr>
        <p:spPr>
          <a:xfrm>
            <a:off x="8890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5" name="CuadroTexto 4">
            <a:extLst>
              <a:ext uri="{FF2B5EF4-FFF2-40B4-BE49-F238E27FC236}">
                <a16:creationId xmlns:a16="http://schemas.microsoft.com/office/drawing/2014/main" id="{F7ADD5AD-F77C-4E73-DE21-3BE5421EDF38}"/>
              </a:ext>
            </a:extLst>
          </p:cNvPr>
          <p:cNvSpPr txBox="1"/>
          <p:nvPr/>
        </p:nvSpPr>
        <p:spPr>
          <a:xfrm>
            <a:off x="11176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110</a:t>
            </a:r>
          </a:p>
        </p:txBody>
      </p:sp>
      <p:sp>
        <p:nvSpPr>
          <p:cNvPr id="6" name="CuadroTexto 5">
            <a:extLst>
              <a:ext uri="{FF2B5EF4-FFF2-40B4-BE49-F238E27FC236}">
                <a16:creationId xmlns:a16="http://schemas.microsoft.com/office/drawing/2014/main" id="{14592ABF-B704-01CA-C265-9CDCB78119A1}"/>
              </a:ext>
            </a:extLst>
          </p:cNvPr>
          <p:cNvSpPr txBox="1"/>
          <p:nvPr/>
        </p:nvSpPr>
        <p:spPr>
          <a:xfrm>
            <a:off x="11176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backend</a:t>
            </a:r>
          </a:p>
        </p:txBody>
      </p:sp>
      <p:sp>
        <p:nvSpPr>
          <p:cNvPr id="7" name="Rectángulo: esquinas redondeadas 6">
            <a:extLst>
              <a:ext uri="{FF2B5EF4-FFF2-40B4-BE49-F238E27FC236}">
                <a16:creationId xmlns:a16="http://schemas.microsoft.com/office/drawing/2014/main" id="{EAC654A1-5A72-78B0-80FE-79AA0E845A7D}"/>
              </a:ext>
            </a:extLst>
          </p:cNvPr>
          <p:cNvSpPr/>
          <p:nvPr/>
        </p:nvSpPr>
        <p:spPr>
          <a:xfrm>
            <a:off x="37084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8" name="CuadroTexto 7">
            <a:extLst>
              <a:ext uri="{FF2B5EF4-FFF2-40B4-BE49-F238E27FC236}">
                <a16:creationId xmlns:a16="http://schemas.microsoft.com/office/drawing/2014/main" id="{D9D5DA34-DE99-F07E-A503-35B696C4B95F}"/>
              </a:ext>
            </a:extLst>
          </p:cNvPr>
          <p:cNvSpPr txBox="1"/>
          <p:nvPr/>
        </p:nvSpPr>
        <p:spPr>
          <a:xfrm>
            <a:off x="3937000" y="2222500"/>
            <a:ext cx="1905000" cy="369332"/>
          </a:xfrm>
          <a:prstGeom prst="rect">
            <a:avLst/>
          </a:prstGeom>
          <a:noFill/>
        </p:spPr>
        <p:txBody>
          <a:bodyPr vert="horz" wrap="square" lIns="0" tIns="0" rIns="0" bIns="0" rtlCol="0">
            <a:noAutofit/>
          </a:bodyPr>
          <a:lstStyle/>
          <a:p>
            <a:r>
              <a:rPr lang="es-ES" sz="2600" b="1">
                <a:solidFill>
                  <a:srgbClr val="49B1D2"/>
                </a:solidFill>
                <a:latin typeface="Segoe UI" panose="020B0502040204020203" pitchFamily="34" charset="0"/>
              </a:rPr>
              <a:t>628</a:t>
            </a:r>
          </a:p>
        </p:txBody>
      </p:sp>
      <p:sp>
        <p:nvSpPr>
          <p:cNvPr id="9" name="CuadroTexto 8">
            <a:extLst>
              <a:ext uri="{FF2B5EF4-FFF2-40B4-BE49-F238E27FC236}">
                <a16:creationId xmlns:a16="http://schemas.microsoft.com/office/drawing/2014/main" id="{2997B13D-9FF3-4005-3CB7-B110813DC604}"/>
              </a:ext>
            </a:extLst>
          </p:cNvPr>
          <p:cNvSpPr txBox="1"/>
          <p:nvPr/>
        </p:nvSpPr>
        <p:spPr>
          <a:xfrm>
            <a:off x="39370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aserciones</a:t>
            </a:r>
          </a:p>
        </p:txBody>
      </p:sp>
      <p:sp>
        <p:nvSpPr>
          <p:cNvPr id="10" name="Rectángulo: esquinas redondeadas 9">
            <a:extLst>
              <a:ext uri="{FF2B5EF4-FFF2-40B4-BE49-F238E27FC236}">
                <a16:creationId xmlns:a16="http://schemas.microsoft.com/office/drawing/2014/main" id="{E57274E3-73BD-1721-4E28-190924A6D864}"/>
              </a:ext>
            </a:extLst>
          </p:cNvPr>
          <p:cNvSpPr/>
          <p:nvPr/>
        </p:nvSpPr>
        <p:spPr>
          <a:xfrm>
            <a:off x="65278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1" name="CuadroTexto 10">
            <a:extLst>
              <a:ext uri="{FF2B5EF4-FFF2-40B4-BE49-F238E27FC236}">
                <a16:creationId xmlns:a16="http://schemas.microsoft.com/office/drawing/2014/main" id="{4768812D-D8AE-7812-CE80-59D0AFF28E5A}"/>
              </a:ext>
            </a:extLst>
          </p:cNvPr>
          <p:cNvSpPr txBox="1"/>
          <p:nvPr/>
        </p:nvSpPr>
        <p:spPr>
          <a:xfrm>
            <a:off x="67564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14/14</a:t>
            </a:r>
          </a:p>
        </p:txBody>
      </p:sp>
      <p:sp>
        <p:nvSpPr>
          <p:cNvPr id="12" name="CuadroTexto 11">
            <a:extLst>
              <a:ext uri="{FF2B5EF4-FFF2-40B4-BE49-F238E27FC236}">
                <a16:creationId xmlns:a16="http://schemas.microsoft.com/office/drawing/2014/main" id="{2F4E3A99-72FE-3A3A-CF18-B5E491551E60}"/>
              </a:ext>
            </a:extLst>
          </p:cNvPr>
          <p:cNvSpPr txBox="1"/>
          <p:nvPr/>
        </p:nvSpPr>
        <p:spPr>
          <a:xfrm>
            <a:off x="67564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tests frontend</a:t>
            </a:r>
          </a:p>
        </p:txBody>
      </p:sp>
      <p:sp>
        <p:nvSpPr>
          <p:cNvPr id="13" name="Rectángulo: esquinas redondeadas 12">
            <a:extLst>
              <a:ext uri="{FF2B5EF4-FFF2-40B4-BE49-F238E27FC236}">
                <a16:creationId xmlns:a16="http://schemas.microsoft.com/office/drawing/2014/main" id="{BBF6E37C-A1AE-FBAF-F468-0E5A0462C0F2}"/>
              </a:ext>
            </a:extLst>
          </p:cNvPr>
          <p:cNvSpPr/>
          <p:nvPr/>
        </p:nvSpPr>
        <p:spPr>
          <a:xfrm>
            <a:off x="9347200" y="2057400"/>
            <a:ext cx="2413000" cy="1193800"/>
          </a:xfrm>
          <a:prstGeom prst="roundRect">
            <a:avLst/>
          </a:prstGeom>
          <a:solidFill>
            <a:srgbClr val="F7FAFC"/>
          </a:solidFill>
          <a:ln w="12700">
            <a:solidFill>
              <a:srgbClr val="DCE2EB"/>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4" name="CuadroTexto 13">
            <a:extLst>
              <a:ext uri="{FF2B5EF4-FFF2-40B4-BE49-F238E27FC236}">
                <a16:creationId xmlns:a16="http://schemas.microsoft.com/office/drawing/2014/main" id="{7A0876C9-338B-844C-1DB3-4C675A1750AA}"/>
              </a:ext>
            </a:extLst>
          </p:cNvPr>
          <p:cNvSpPr txBox="1"/>
          <p:nvPr/>
        </p:nvSpPr>
        <p:spPr>
          <a:xfrm>
            <a:off x="9575800" y="2222500"/>
            <a:ext cx="1905000" cy="369332"/>
          </a:xfrm>
          <a:prstGeom prst="rect">
            <a:avLst/>
          </a:prstGeom>
          <a:noFill/>
        </p:spPr>
        <p:txBody>
          <a:bodyPr vert="horz" wrap="square" lIns="0" tIns="0" rIns="0" bIns="0" rtlCol="0">
            <a:noAutofit/>
          </a:bodyPr>
          <a:lstStyle/>
          <a:p>
            <a:r>
              <a:rPr lang="es-ES" sz="2600" b="1">
                <a:solidFill>
                  <a:srgbClr val="41A772"/>
                </a:solidFill>
                <a:latin typeface="Segoe UI" panose="020B0502040204020203" pitchFamily="34" charset="0"/>
              </a:rPr>
              <a:t>6/6</a:t>
            </a:r>
          </a:p>
        </p:txBody>
      </p:sp>
      <p:sp>
        <p:nvSpPr>
          <p:cNvPr id="15" name="CuadroTexto 14">
            <a:extLst>
              <a:ext uri="{FF2B5EF4-FFF2-40B4-BE49-F238E27FC236}">
                <a16:creationId xmlns:a16="http://schemas.microsoft.com/office/drawing/2014/main" id="{5A28CCB0-402D-085E-E543-4C79E06DB431}"/>
              </a:ext>
            </a:extLst>
          </p:cNvPr>
          <p:cNvSpPr txBox="1"/>
          <p:nvPr/>
        </p:nvSpPr>
        <p:spPr>
          <a:xfrm>
            <a:off x="9575800" y="2717800"/>
            <a:ext cx="1905000" cy="381000"/>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E2E Playwright</a:t>
            </a:r>
          </a:p>
        </p:txBody>
      </p:sp>
      <p:sp>
        <p:nvSpPr>
          <p:cNvPr id="16" name="CuadroTexto 15">
            <a:extLst>
              <a:ext uri="{FF2B5EF4-FFF2-40B4-BE49-F238E27FC236}">
                <a16:creationId xmlns:a16="http://schemas.microsoft.com/office/drawing/2014/main" id="{AB2B54B4-82E1-A949-209F-173E69487C10}"/>
              </a:ext>
            </a:extLst>
          </p:cNvPr>
          <p:cNvSpPr txBox="1"/>
          <p:nvPr/>
        </p:nvSpPr>
        <p:spPr>
          <a:xfrm>
            <a:off x="1193800" y="3987800"/>
            <a:ext cx="9398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Build integrada de /app y /externo publicada en Symfony.</a:t>
            </a:r>
          </a:p>
          <a:p>
            <a:pPr marL="342900" indent="-342900">
              <a:spcAft>
                <a:spcPts val="1000"/>
              </a:spcAft>
              <a:buFont typeface="+mj-lt"/>
              <a:buChar char="•"/>
            </a:pPr>
            <a:r>
              <a:rPr lang="es-ES">
                <a:solidFill>
                  <a:srgbClr val="C2CBD8"/>
                </a:solidFill>
                <a:latin typeface="Segoe UI" panose="020B0502040204020203" pitchFamily="34" charset="0"/>
              </a:rPr>
              <a:t>Verificados correo, rechazo, URLs publicas, chat y consola tecnica de escritorio.</a:t>
            </a:r>
          </a:p>
          <a:p>
            <a:pPr marL="342900" indent="-342900">
              <a:spcAft>
                <a:spcPts val="1000"/>
              </a:spcAft>
              <a:buFont typeface="+mj-lt"/>
              <a:buChar char="•"/>
            </a:pPr>
            <a:r>
              <a:rPr lang="es-ES">
                <a:solidFill>
                  <a:srgbClr val="C2CBD8"/>
                </a:solidFill>
                <a:latin typeface="Segoe UI" panose="020B0502040204020203" pitchFamily="34" charset="0"/>
              </a:rPr>
              <a:t>Tambien se ha validado el empaquetado Windows con PHP embebido y SQLite.</a:t>
            </a:r>
          </a:p>
        </p:txBody>
      </p:sp>
      <p:sp>
        <p:nvSpPr>
          <p:cNvPr id="17" name="CuadroTexto 16">
            <a:extLst>
              <a:ext uri="{FF2B5EF4-FFF2-40B4-BE49-F238E27FC236}">
                <a16:creationId xmlns:a16="http://schemas.microsoft.com/office/drawing/2014/main" id="{5DD7FDD6-48CE-0B08-C00F-97A29690EF1C}"/>
              </a:ext>
            </a:extLst>
          </p:cNvPr>
          <p:cNvSpPr txBox="1"/>
          <p:nvPr/>
        </p:nvSpPr>
        <p:spPr>
          <a:xfrm>
            <a:off x="1193800" y="5562600"/>
            <a:ext cx="9271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Queda una deprecacion tecnica de PHPUnit, no bloqueante para la demo ni para la funcionalidad.</a:t>
            </a:r>
          </a:p>
        </p:txBody>
      </p:sp>
    </p:spTree>
    <p:extLst>
      <p:ext uri="{BB962C8B-B14F-4D97-AF65-F5344CB8AC3E}">
        <p14:creationId xmlns:p14="http://schemas.microsoft.com/office/powerpoint/2010/main" val="36076180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627D97E2-1563-6139-0B14-C1FAD4C3B31C}"/>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15 / ACCESO DE EVALUACION</a:t>
            </a:r>
          </a:p>
        </p:txBody>
      </p:sp>
      <p:sp>
        <p:nvSpPr>
          <p:cNvPr id="3" name="CuadroTexto 2">
            <a:extLst>
              <a:ext uri="{FF2B5EF4-FFF2-40B4-BE49-F238E27FC236}">
                <a16:creationId xmlns:a16="http://schemas.microsoft.com/office/drawing/2014/main" id="{D43FE79E-DCC6-293E-5C6F-20820F290345}"/>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Como se puede probar desde fuera</a:t>
            </a:r>
          </a:p>
        </p:txBody>
      </p:sp>
      <p:sp>
        <p:nvSpPr>
          <p:cNvPr id="4" name="CuadroTexto 3">
            <a:extLst>
              <a:ext uri="{FF2B5EF4-FFF2-40B4-BE49-F238E27FC236}">
                <a16:creationId xmlns:a16="http://schemas.microsoft.com/office/drawing/2014/main" id="{3D40DF1C-A7DD-3E17-3BCD-81A97811BD61}"/>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Con la VM levantada no hace falta instalar dependencias en el equipo de quien evalua.</a:t>
            </a:r>
          </a:p>
        </p:txBody>
      </p:sp>
      <p:sp>
        <p:nvSpPr>
          <p:cNvPr id="5" name="Rectángulo: esquinas redondeadas 4">
            <a:extLst>
              <a:ext uri="{FF2B5EF4-FFF2-40B4-BE49-F238E27FC236}">
                <a16:creationId xmlns:a16="http://schemas.microsoft.com/office/drawing/2014/main" id="{CF1AF172-757D-8E61-17A8-15ED742C6634}"/>
              </a:ext>
            </a:extLst>
          </p:cNvPr>
          <p:cNvSpPr/>
          <p:nvPr/>
        </p:nvSpPr>
        <p:spPr>
          <a:xfrm>
            <a:off x="863600" y="2006600"/>
            <a:ext cx="10464800" cy="11684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3C8358F2-64E1-7FD4-56F7-C5F24C43EAAA}"/>
              </a:ext>
            </a:extLst>
          </p:cNvPr>
          <p:cNvSpPr txBox="1"/>
          <p:nvPr/>
        </p:nvSpPr>
        <p:spPr>
          <a:xfrm>
            <a:off x="1244600" y="2235200"/>
            <a:ext cx="9652000" cy="369332"/>
          </a:xfrm>
          <a:prstGeom prst="rect">
            <a:avLst/>
          </a:prstGeom>
          <a:noFill/>
        </p:spPr>
        <p:txBody>
          <a:bodyPr vert="horz" wrap="square" lIns="0" tIns="0" rIns="0" bIns="0" rtlCol="0">
            <a:noAutofit/>
          </a:bodyPr>
          <a:lstStyle/>
          <a:p>
            <a:r>
              <a:rPr lang="en-GB" sz="1200" b="1">
                <a:solidFill>
                  <a:srgbClr val="4975B0"/>
                </a:solidFill>
                <a:latin typeface="Consolas" panose="020B0609020204030204" pitchFamily="49" charset="0"/>
              </a:rPr>
              <a:t>Panel interno: https://agora.34.175.161.212.nip.io/app</a:t>
            </a:r>
            <a:endParaRPr lang="es-ES" sz="1200" b="1">
              <a:solidFill>
                <a:srgbClr val="4975B0"/>
              </a:solidFill>
              <a:latin typeface="Consolas" panose="020B0609020204030204" pitchFamily="49" charset="0"/>
            </a:endParaRPr>
          </a:p>
        </p:txBody>
      </p:sp>
      <p:sp>
        <p:nvSpPr>
          <p:cNvPr id="7" name="CuadroTexto 6">
            <a:extLst>
              <a:ext uri="{FF2B5EF4-FFF2-40B4-BE49-F238E27FC236}">
                <a16:creationId xmlns:a16="http://schemas.microsoft.com/office/drawing/2014/main" id="{E8177A81-675E-F848-2D20-A0EF88AE0709}"/>
              </a:ext>
            </a:extLst>
          </p:cNvPr>
          <p:cNvSpPr txBox="1"/>
          <p:nvPr/>
        </p:nvSpPr>
        <p:spPr>
          <a:xfrm>
            <a:off x="1244600" y="2565400"/>
            <a:ext cx="9652000" cy="369332"/>
          </a:xfrm>
          <a:prstGeom prst="rect">
            <a:avLst/>
          </a:prstGeom>
          <a:noFill/>
        </p:spPr>
        <p:txBody>
          <a:bodyPr vert="horz" wrap="square" lIns="0" tIns="0" rIns="0" bIns="0" rtlCol="0">
            <a:noAutofit/>
          </a:bodyPr>
          <a:lstStyle/>
          <a:p>
            <a:r>
              <a:rPr lang="es-ES" sz="1200" b="1">
                <a:solidFill>
                  <a:srgbClr val="4975B0"/>
                </a:solidFill>
                <a:latin typeface="Consolas" panose="020B0609020204030204" pitchFamily="49" charset="0"/>
              </a:rPr>
              <a:t>Portal externo: https://agora.34.175.161.212.nip.io/externo</a:t>
            </a:r>
          </a:p>
        </p:txBody>
      </p:sp>
      <p:sp>
        <p:nvSpPr>
          <p:cNvPr id="8" name="CuadroTexto 7">
            <a:extLst>
              <a:ext uri="{FF2B5EF4-FFF2-40B4-BE49-F238E27FC236}">
                <a16:creationId xmlns:a16="http://schemas.microsoft.com/office/drawing/2014/main" id="{9F92A884-CD2F-FA49-7C64-96A0968237DB}"/>
              </a:ext>
            </a:extLst>
          </p:cNvPr>
          <p:cNvSpPr txBox="1"/>
          <p:nvPr/>
        </p:nvSpPr>
        <p:spPr>
          <a:xfrm>
            <a:off x="1295400" y="2895600"/>
            <a:ext cx="9652000" cy="369332"/>
          </a:xfrm>
          <a:prstGeom prst="rect">
            <a:avLst/>
          </a:prstGeom>
          <a:noFill/>
        </p:spPr>
        <p:txBody>
          <a:bodyPr vert="horz" wrap="square" lIns="0" tIns="0" rIns="0" bIns="0" rtlCol="0">
            <a:noAutofit/>
          </a:bodyPr>
          <a:lstStyle/>
          <a:p>
            <a:r>
              <a:rPr lang="es-ES" sz="1400">
                <a:solidFill>
                  <a:srgbClr val="1F2937"/>
                </a:solidFill>
                <a:latin typeface="Segoe UI" panose="020B0502040204020203" pitchFamily="34" charset="0"/>
              </a:rPr>
              <a:t>La misma base sirve panel interno, portal externo y documentacion; la operacion tecnica se hace desde Agora Desktop.</a:t>
            </a:r>
          </a:p>
        </p:txBody>
      </p:sp>
      <p:sp>
        <p:nvSpPr>
          <p:cNvPr id="9" name="Rectángulo: esquinas redondeadas 8">
            <a:extLst>
              <a:ext uri="{FF2B5EF4-FFF2-40B4-BE49-F238E27FC236}">
                <a16:creationId xmlns:a16="http://schemas.microsoft.com/office/drawing/2014/main" id="{8A96F319-2B55-CE49-FD39-28B2FF8C9278}"/>
              </a:ext>
            </a:extLst>
          </p:cNvPr>
          <p:cNvSpPr/>
          <p:nvPr/>
        </p:nvSpPr>
        <p:spPr>
          <a:xfrm>
            <a:off x="1092200" y="3835400"/>
            <a:ext cx="4064000" cy="14986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0" name="CuadroTexto 9">
            <a:extLst>
              <a:ext uri="{FF2B5EF4-FFF2-40B4-BE49-F238E27FC236}">
                <a16:creationId xmlns:a16="http://schemas.microsoft.com/office/drawing/2014/main" id="{E9B0776E-04FA-755E-2527-748991B6F378}"/>
              </a:ext>
            </a:extLst>
          </p:cNvPr>
          <p:cNvSpPr txBox="1"/>
          <p:nvPr/>
        </p:nvSpPr>
        <p:spPr>
          <a:xfrm>
            <a:off x="1498600" y="4165600"/>
            <a:ext cx="3175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Usuario de prueba</a:t>
            </a:r>
          </a:p>
        </p:txBody>
      </p:sp>
      <p:sp>
        <p:nvSpPr>
          <p:cNvPr id="11" name="CuadroTexto 10">
            <a:extLst>
              <a:ext uri="{FF2B5EF4-FFF2-40B4-BE49-F238E27FC236}">
                <a16:creationId xmlns:a16="http://schemas.microsoft.com/office/drawing/2014/main" id="{432AAC12-6166-C481-21FA-1B525F291644}"/>
              </a:ext>
            </a:extLst>
          </p:cNvPr>
          <p:cNvSpPr txBox="1"/>
          <p:nvPr/>
        </p:nvSpPr>
        <p:spPr>
          <a:xfrm>
            <a:off x="1498600" y="4597400"/>
            <a:ext cx="3175000" cy="369332"/>
          </a:xfrm>
          <a:prstGeom prst="rect">
            <a:avLst/>
          </a:prstGeom>
          <a:noFill/>
        </p:spPr>
        <p:txBody>
          <a:bodyPr vert="horz" wrap="square" lIns="0" tIns="0" rIns="0" bIns="0" rtlCol="0">
            <a:noAutofit/>
          </a:bodyPr>
          <a:lstStyle/>
          <a:p>
            <a:r>
              <a:rPr lang="es-ES" sz="1600" b="1" dirty="0">
                <a:solidFill>
                  <a:srgbClr val="F6F8FC"/>
                </a:solidFill>
                <a:latin typeface="Consolas" panose="020B0609020204030204" pitchFamily="49" charset="0"/>
              </a:rPr>
              <a:t>Profesor/a - Abrete01</a:t>
            </a:r>
          </a:p>
        </p:txBody>
      </p:sp>
      <p:sp>
        <p:nvSpPr>
          <p:cNvPr id="12" name="CuadroTexto 11">
            <a:extLst>
              <a:ext uri="{FF2B5EF4-FFF2-40B4-BE49-F238E27FC236}">
                <a16:creationId xmlns:a16="http://schemas.microsoft.com/office/drawing/2014/main" id="{798C0254-F3D4-D021-0374-22DC0EDF3452}"/>
              </a:ext>
            </a:extLst>
          </p:cNvPr>
          <p:cNvSpPr txBox="1"/>
          <p:nvPr/>
        </p:nvSpPr>
        <p:spPr>
          <a:xfrm>
            <a:off x="1498600" y="4978400"/>
            <a:ext cx="2794000" cy="369332"/>
          </a:xfrm>
          <a:prstGeom prst="rect">
            <a:avLst/>
          </a:prstGeom>
          <a:noFill/>
        </p:spPr>
        <p:txBody>
          <a:bodyPr vert="horz" wrap="square" lIns="0" tIns="0" rIns="0" bIns="0" rtlCol="0">
            <a:noAutofit/>
          </a:bodyPr>
          <a:lstStyle/>
          <a:p>
            <a:r>
              <a:rPr lang="es-ES" sz="1400">
                <a:solidFill>
                  <a:srgbClr val="C2CBD8"/>
                </a:solidFill>
                <a:latin typeface="Segoe UI" panose="020B0502040204020203" pitchFamily="34" charset="0"/>
              </a:rPr>
              <a:t>Perfil de prueba del centro</a:t>
            </a:r>
          </a:p>
        </p:txBody>
      </p:sp>
      <p:sp>
        <p:nvSpPr>
          <p:cNvPr id="13" name="CuadroTexto 12">
            <a:extLst>
              <a:ext uri="{FF2B5EF4-FFF2-40B4-BE49-F238E27FC236}">
                <a16:creationId xmlns:a16="http://schemas.microsoft.com/office/drawing/2014/main" id="{D8A66F4A-5A36-FD3F-4095-4BB6F4B034BD}"/>
              </a:ext>
            </a:extLst>
          </p:cNvPr>
          <p:cNvSpPr txBox="1"/>
          <p:nvPr/>
        </p:nvSpPr>
        <p:spPr>
          <a:xfrm>
            <a:off x="5969000" y="3886200"/>
            <a:ext cx="457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700">
                <a:solidFill>
                  <a:srgbClr val="C2CBD8"/>
                </a:solidFill>
                <a:latin typeface="Segoe UI" panose="020B0502040204020203" pitchFamily="34" charset="0"/>
              </a:rPr>
              <a:t>Puede revisar solicitudes, convenios, asignaciones y mensajes.</a:t>
            </a:r>
          </a:p>
          <a:p>
            <a:pPr marL="342900" indent="-342900">
              <a:spcAft>
                <a:spcPts val="1000"/>
              </a:spcAft>
              <a:buFont typeface="+mj-lt"/>
              <a:buChar char="•"/>
            </a:pPr>
            <a:r>
              <a:rPr lang="es-ES" sz="1700">
                <a:solidFill>
                  <a:srgbClr val="C2CBD8"/>
                </a:solidFill>
                <a:latin typeface="Segoe UI" panose="020B0502040204020203" pitchFamily="34" charset="0"/>
              </a:rPr>
              <a:t>La empresa prueba el recorrido por /externo.</a:t>
            </a:r>
          </a:p>
          <a:p>
            <a:pPr marL="342900" indent="-342900">
              <a:spcAft>
                <a:spcPts val="1000"/>
              </a:spcAft>
              <a:buFont typeface="+mj-lt"/>
              <a:buChar char="•"/>
            </a:pPr>
            <a:r>
              <a:rPr lang="es-ES" sz="1700">
                <a:solidFill>
                  <a:srgbClr val="C2CBD8"/>
                </a:solidFill>
                <a:latin typeface="Segoe UI" panose="020B0502040204020203" pitchFamily="34" charset="0"/>
              </a:rPr>
              <a:t>El acceso remoto depende de que la VM siga activa.</a:t>
            </a:r>
          </a:p>
        </p:txBody>
      </p:sp>
    </p:spTree>
    <p:extLst>
      <p:ext uri="{BB962C8B-B14F-4D97-AF65-F5344CB8AC3E}">
        <p14:creationId xmlns:p14="http://schemas.microsoft.com/office/powerpoint/2010/main" val="30780947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E45A0730-FA8B-38EC-0371-89539D05A36E}"/>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16 / ALCANCE Y FUTURO</a:t>
            </a:r>
          </a:p>
        </p:txBody>
      </p:sp>
      <p:sp>
        <p:nvSpPr>
          <p:cNvPr id="3" name="CuadroTexto 2">
            <a:extLst>
              <a:ext uri="{FF2B5EF4-FFF2-40B4-BE49-F238E27FC236}">
                <a16:creationId xmlns:a16="http://schemas.microsoft.com/office/drawing/2014/main" id="{A1AA1D30-9EF8-77E6-339B-E31450746D96}"/>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cerrado y que se deja para despues</a:t>
            </a:r>
          </a:p>
        </p:txBody>
      </p:sp>
      <p:sp>
        <p:nvSpPr>
          <p:cNvPr id="4" name="CuadroTexto 3">
            <a:extLst>
              <a:ext uri="{FF2B5EF4-FFF2-40B4-BE49-F238E27FC236}">
                <a16:creationId xmlns:a16="http://schemas.microsoft.com/office/drawing/2014/main" id="{CA8BDF94-C7FE-C3D6-77A6-24A918820865}"/>
              </a:ext>
            </a:extLst>
          </p:cNvPr>
          <p:cNvSpPr txBox="1"/>
          <p:nvPr/>
        </p:nvSpPr>
        <p:spPr>
          <a:xfrm>
            <a:off x="558800" y="1422400"/>
            <a:ext cx="9144000" cy="369332"/>
          </a:xfrm>
          <a:prstGeom prst="rect">
            <a:avLst/>
          </a:prstGeom>
          <a:noFill/>
        </p:spPr>
        <p:txBody>
          <a:bodyPr vert="horz" wrap="square" lIns="0" tIns="0" rIns="0" bIns="0" rtlCol="0">
            <a:noAutofit/>
          </a:bodyPr>
          <a:lstStyle/>
          <a:p>
            <a:r>
              <a:rPr lang="es-ES" sz="1500">
                <a:solidFill>
                  <a:srgbClr val="C2CBD8"/>
                </a:solidFill>
                <a:latin typeface="Segoe UI" panose="020B0502040204020203" pitchFamily="34" charset="0"/>
              </a:rPr>
              <a:t>El nucleo funcional y tecnico ya esta entregado; las mejoras futuras endurecen o amplian, pero no bloquean la defensa.</a:t>
            </a:r>
          </a:p>
        </p:txBody>
      </p:sp>
      <p:sp>
        <p:nvSpPr>
          <p:cNvPr id="5" name="Rectángulo: esquinas redondeadas 4">
            <a:extLst>
              <a:ext uri="{FF2B5EF4-FFF2-40B4-BE49-F238E27FC236}">
                <a16:creationId xmlns:a16="http://schemas.microsoft.com/office/drawing/2014/main" id="{106CA9CD-D849-3CA6-800B-3030C911856E}"/>
              </a:ext>
            </a:extLst>
          </p:cNvPr>
          <p:cNvSpPr/>
          <p:nvPr/>
        </p:nvSpPr>
        <p:spPr>
          <a:xfrm>
            <a:off x="711200" y="2159000"/>
            <a:ext cx="3556000" cy="30988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FDC2135C-4EE8-29AE-3850-BE4285CD047E}"/>
              </a:ext>
            </a:extLst>
          </p:cNvPr>
          <p:cNvSpPr txBox="1"/>
          <p:nvPr/>
        </p:nvSpPr>
        <p:spPr>
          <a:xfrm>
            <a:off x="1117600" y="2197937"/>
            <a:ext cx="2667000" cy="369332"/>
          </a:xfrm>
          <a:prstGeom prst="rect">
            <a:avLst/>
          </a:prstGeom>
          <a:noFill/>
        </p:spPr>
        <p:txBody>
          <a:bodyPr vert="horz" wrap="square" lIns="0" tIns="0" rIns="0" bIns="0" rtlCol="0">
            <a:noAutofit/>
          </a:bodyPr>
          <a:lstStyle/>
          <a:p>
            <a:r>
              <a:rPr lang="es-ES" sz="2000" b="1" dirty="0">
                <a:solidFill>
                  <a:srgbClr val="DBA14D"/>
                </a:solidFill>
                <a:latin typeface="Segoe UI" panose="020B0502040204020203" pitchFamily="34" charset="0"/>
              </a:rPr>
              <a:t>Cerrado en esta entrega</a:t>
            </a:r>
          </a:p>
        </p:txBody>
      </p:sp>
      <p:sp>
        <p:nvSpPr>
          <p:cNvPr id="7" name="CuadroTexto 6">
            <a:extLst>
              <a:ext uri="{FF2B5EF4-FFF2-40B4-BE49-F238E27FC236}">
                <a16:creationId xmlns:a16="http://schemas.microsoft.com/office/drawing/2014/main" id="{ABC98366-EF9A-0A92-5ADB-CCBB85468428}"/>
              </a:ext>
            </a:extLst>
          </p:cNvPr>
          <p:cNvSpPr txBox="1"/>
          <p:nvPr/>
        </p:nvSpPr>
        <p:spPr>
          <a:xfrm>
            <a:off x="1016000" y="2858532"/>
            <a:ext cx="26924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sz="1400" dirty="0">
                <a:solidFill>
                  <a:srgbClr val="F6F8FC"/>
                </a:solidFill>
                <a:latin typeface="Segoe UI" panose="020B0502040204020203" pitchFamily="34" charset="0"/>
              </a:rPr>
              <a:t>Portales /app y /externo bajo HTTPS.</a:t>
            </a:r>
          </a:p>
          <a:p>
            <a:pPr marL="342900" indent="-342900">
              <a:spcAft>
                <a:spcPts val="1000"/>
              </a:spcAft>
              <a:buFont typeface="+mj-lt"/>
              <a:buChar char="•"/>
            </a:pPr>
            <a:r>
              <a:rPr lang="es-ES" sz="1400" dirty="0">
                <a:solidFill>
                  <a:srgbClr val="F6F8FC"/>
                </a:solidFill>
                <a:latin typeface="Segoe UI" panose="020B0502040204020203" pitchFamily="34" charset="0"/>
              </a:rPr>
              <a:t>Correo real, chat, </a:t>
            </a:r>
            <a:r>
              <a:rPr lang="es-ES" sz="1400" dirty="0" err="1">
                <a:solidFill>
                  <a:srgbClr val="F6F8FC"/>
                </a:solidFill>
                <a:latin typeface="Segoe UI" panose="020B0502040204020203" pitchFamily="34" charset="0"/>
              </a:rPr>
              <a:t>exportacion</a:t>
            </a:r>
            <a:r>
              <a:rPr lang="es-ES" sz="1400" dirty="0">
                <a:solidFill>
                  <a:srgbClr val="F6F8FC"/>
                </a:solidFill>
                <a:latin typeface="Segoe UI" panose="020B0502040204020203" pitchFamily="34" charset="0"/>
              </a:rPr>
              <a:t> y </a:t>
            </a:r>
            <a:r>
              <a:rPr lang="es-ES" sz="1400" dirty="0" err="1">
                <a:solidFill>
                  <a:srgbClr val="F6F8FC"/>
                </a:solidFill>
                <a:latin typeface="Segoe UI" panose="020B0502040204020203" pitchFamily="34" charset="0"/>
              </a:rPr>
              <a:t>documentacion</a:t>
            </a:r>
            <a:r>
              <a:rPr lang="es-ES" sz="1400" dirty="0">
                <a:solidFill>
                  <a:srgbClr val="F6F8FC"/>
                </a:solidFill>
                <a:latin typeface="Segoe UI" panose="020B0502040204020203" pitchFamily="34" charset="0"/>
              </a:rPr>
              <a:t>.</a:t>
            </a:r>
          </a:p>
          <a:p>
            <a:pPr marL="342900" indent="-342900">
              <a:spcAft>
                <a:spcPts val="1000"/>
              </a:spcAft>
              <a:buFont typeface="+mj-lt"/>
              <a:buChar char="•"/>
            </a:pPr>
            <a:r>
              <a:rPr lang="es-ES" sz="1400" dirty="0" err="1">
                <a:solidFill>
                  <a:srgbClr val="F6F8FC"/>
                </a:solidFill>
                <a:latin typeface="Segoe UI" panose="020B0502040204020203" pitchFamily="34" charset="0"/>
              </a:rPr>
              <a:t>Agora</a:t>
            </a:r>
            <a:r>
              <a:rPr lang="es-ES" sz="1400" dirty="0">
                <a:solidFill>
                  <a:srgbClr val="F6F8FC"/>
                </a:solidFill>
                <a:latin typeface="Segoe UI" panose="020B0502040204020203" pitchFamily="34" charset="0"/>
              </a:rPr>
              <a:t> Desktop local/</a:t>
            </a:r>
            <a:r>
              <a:rPr lang="es-ES" sz="1400" dirty="0" err="1">
                <a:solidFill>
                  <a:srgbClr val="F6F8FC"/>
                </a:solidFill>
                <a:latin typeface="Segoe UI" panose="020B0502040204020203" pitchFamily="34" charset="0"/>
              </a:rPr>
              <a:t>cloud</a:t>
            </a:r>
            <a:r>
              <a:rPr lang="es-ES" sz="1400" dirty="0">
                <a:solidFill>
                  <a:srgbClr val="F6F8FC"/>
                </a:solidFill>
                <a:latin typeface="Segoe UI" panose="020B0502040204020203" pitchFamily="34" charset="0"/>
              </a:rPr>
              <a:t> como consola </a:t>
            </a:r>
            <a:r>
              <a:rPr lang="es-ES" sz="1400" dirty="0" err="1">
                <a:solidFill>
                  <a:srgbClr val="F6F8FC"/>
                </a:solidFill>
                <a:latin typeface="Segoe UI" panose="020B0502040204020203" pitchFamily="34" charset="0"/>
              </a:rPr>
              <a:t>tecnica</a:t>
            </a:r>
            <a:r>
              <a:rPr lang="es-ES" sz="1400" dirty="0">
                <a:solidFill>
                  <a:srgbClr val="F6F8FC"/>
                </a:solidFill>
                <a:latin typeface="Segoe UI" panose="020B0502040204020203" pitchFamily="34" charset="0"/>
              </a:rPr>
              <a:t>.</a:t>
            </a:r>
          </a:p>
          <a:p>
            <a:pPr marL="342900" indent="-342900">
              <a:spcAft>
                <a:spcPts val="1000"/>
              </a:spcAft>
              <a:buFont typeface="+mj-lt"/>
              <a:buChar char="•"/>
            </a:pPr>
            <a:r>
              <a:rPr lang="es-ES" sz="1400" dirty="0">
                <a:solidFill>
                  <a:srgbClr val="F6F8FC"/>
                </a:solidFill>
                <a:latin typeface="Segoe UI" panose="020B0502040204020203" pitchFamily="34" charset="0"/>
              </a:rPr>
              <a:t>VM publica con arranque </a:t>
            </a:r>
            <a:r>
              <a:rPr lang="es-ES" sz="1400" dirty="0" err="1">
                <a:solidFill>
                  <a:srgbClr val="F6F8FC"/>
                </a:solidFill>
                <a:latin typeface="Segoe UI" panose="020B0502040204020203" pitchFamily="34" charset="0"/>
              </a:rPr>
              <a:t>automatico</a:t>
            </a:r>
            <a:r>
              <a:rPr lang="es-ES" sz="1400" dirty="0">
                <a:solidFill>
                  <a:srgbClr val="F6F8FC"/>
                </a:solidFill>
                <a:latin typeface="Segoe UI" panose="020B0502040204020203" pitchFamily="34" charset="0"/>
              </a:rPr>
              <a:t> y URL efectiva visible.</a:t>
            </a:r>
          </a:p>
        </p:txBody>
      </p:sp>
      <p:sp>
        <p:nvSpPr>
          <p:cNvPr id="8" name="Rectángulo: esquinas redondeadas 7">
            <a:extLst>
              <a:ext uri="{FF2B5EF4-FFF2-40B4-BE49-F238E27FC236}">
                <a16:creationId xmlns:a16="http://schemas.microsoft.com/office/drawing/2014/main" id="{AA62E0C4-E56C-A7F3-8C5D-7C7B530117D7}"/>
              </a:ext>
            </a:extLst>
          </p:cNvPr>
          <p:cNvSpPr/>
          <p:nvPr/>
        </p:nvSpPr>
        <p:spPr>
          <a:xfrm>
            <a:off x="45212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9" name="CuadroTexto 8">
            <a:extLst>
              <a:ext uri="{FF2B5EF4-FFF2-40B4-BE49-F238E27FC236}">
                <a16:creationId xmlns:a16="http://schemas.microsoft.com/office/drawing/2014/main" id="{8FAC1444-709F-EBE1-B429-8F168320F50E}"/>
              </a:ext>
            </a:extLst>
          </p:cNvPr>
          <p:cNvSpPr txBox="1"/>
          <p:nvPr/>
        </p:nvSpPr>
        <p:spPr>
          <a:xfrm>
            <a:off x="4749800" y="2413000"/>
            <a:ext cx="2387600" cy="369332"/>
          </a:xfrm>
          <a:prstGeom prst="rect">
            <a:avLst/>
          </a:prstGeom>
          <a:noFill/>
        </p:spPr>
        <p:txBody>
          <a:bodyPr vert="horz" wrap="square" lIns="0" tIns="0" rIns="0" bIns="0" rtlCol="0">
            <a:noAutofit/>
          </a:bodyPr>
          <a:lstStyle/>
          <a:p>
            <a:r>
              <a:rPr lang="es-ES" b="1">
                <a:solidFill>
                  <a:srgbClr val="41A772"/>
                </a:solidFill>
                <a:latin typeface="Segoe UI" panose="020B0502040204020203" pitchFamily="34" charset="0"/>
              </a:rPr>
              <a:t>Documentos</a:t>
            </a:r>
          </a:p>
        </p:txBody>
      </p:sp>
      <p:sp>
        <p:nvSpPr>
          <p:cNvPr id="10" name="CuadroTexto 9">
            <a:extLst>
              <a:ext uri="{FF2B5EF4-FFF2-40B4-BE49-F238E27FC236}">
                <a16:creationId xmlns:a16="http://schemas.microsoft.com/office/drawing/2014/main" id="{A1E1A187-CA5C-1E76-EA40-39E0F7293DFC}"/>
              </a:ext>
            </a:extLst>
          </p:cNvPr>
          <p:cNvSpPr txBox="1"/>
          <p:nvPr/>
        </p:nvSpPr>
        <p:spPr>
          <a:xfrm>
            <a:off x="47498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Completar subida, versionado y almacenamiento externo gestionado.</a:t>
            </a:r>
          </a:p>
        </p:txBody>
      </p:sp>
      <p:sp>
        <p:nvSpPr>
          <p:cNvPr id="11" name="Rectángulo: esquinas redondeadas 10">
            <a:extLst>
              <a:ext uri="{FF2B5EF4-FFF2-40B4-BE49-F238E27FC236}">
                <a16:creationId xmlns:a16="http://schemas.microsoft.com/office/drawing/2014/main" id="{07605DBF-E751-A4E4-164D-57BCB77C39F0}"/>
              </a:ext>
            </a:extLst>
          </p:cNvPr>
          <p:cNvSpPr/>
          <p:nvPr/>
        </p:nvSpPr>
        <p:spPr>
          <a:xfrm>
            <a:off x="7975600" y="22352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2" name="CuadroTexto 11">
            <a:extLst>
              <a:ext uri="{FF2B5EF4-FFF2-40B4-BE49-F238E27FC236}">
                <a16:creationId xmlns:a16="http://schemas.microsoft.com/office/drawing/2014/main" id="{4D4B2ECF-ACAA-2F5C-D24A-A0142EA1DFB2}"/>
              </a:ext>
            </a:extLst>
          </p:cNvPr>
          <p:cNvSpPr txBox="1"/>
          <p:nvPr/>
        </p:nvSpPr>
        <p:spPr>
          <a:xfrm>
            <a:off x="8204200" y="2413000"/>
            <a:ext cx="2387600" cy="369332"/>
          </a:xfrm>
          <a:prstGeom prst="rect">
            <a:avLst/>
          </a:prstGeom>
          <a:noFill/>
        </p:spPr>
        <p:txBody>
          <a:bodyPr vert="horz" wrap="square" lIns="0" tIns="0" rIns="0" bIns="0" rtlCol="0">
            <a:noAutofit/>
          </a:bodyPr>
          <a:lstStyle/>
          <a:p>
            <a:r>
              <a:rPr lang="es-ES" b="1">
                <a:solidFill>
                  <a:srgbClr val="49B1D2"/>
                </a:solidFill>
                <a:latin typeface="Segoe UI" panose="020B0502040204020203" pitchFamily="34" charset="0"/>
              </a:rPr>
              <a:t>Roles avanzados</a:t>
            </a:r>
          </a:p>
        </p:txBody>
      </p:sp>
      <p:sp>
        <p:nvSpPr>
          <p:cNvPr id="13" name="CuadroTexto 12">
            <a:extLst>
              <a:ext uri="{FF2B5EF4-FFF2-40B4-BE49-F238E27FC236}">
                <a16:creationId xmlns:a16="http://schemas.microsoft.com/office/drawing/2014/main" id="{CA5DE22E-B4A3-F3DE-CE30-59595D4D567C}"/>
              </a:ext>
            </a:extLst>
          </p:cNvPr>
          <p:cNvSpPr txBox="1"/>
          <p:nvPr/>
        </p:nvSpPr>
        <p:spPr>
          <a:xfrm>
            <a:off x="8204200" y="27686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Perfiles de solo lectura, auditoria por rol y permisos mas finos.</a:t>
            </a:r>
          </a:p>
        </p:txBody>
      </p:sp>
      <p:sp>
        <p:nvSpPr>
          <p:cNvPr id="14" name="Rectángulo: esquinas redondeadas 13">
            <a:extLst>
              <a:ext uri="{FF2B5EF4-FFF2-40B4-BE49-F238E27FC236}">
                <a16:creationId xmlns:a16="http://schemas.microsoft.com/office/drawing/2014/main" id="{A3627F46-9202-F0C6-BBEC-BF99C83A898A}"/>
              </a:ext>
            </a:extLst>
          </p:cNvPr>
          <p:cNvSpPr/>
          <p:nvPr/>
        </p:nvSpPr>
        <p:spPr>
          <a:xfrm>
            <a:off x="4521200" y="3733800"/>
            <a:ext cx="3098800" cy="1219200"/>
          </a:xfrm>
          <a:prstGeom prst="roundRect">
            <a:avLst/>
          </a:prstGeom>
          <a:solidFill>
            <a:srgbClr val="F7FAFC"/>
          </a:solidFill>
          <a:ln w="12700">
            <a:solidFill>
              <a:srgbClr val="DDE5E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CuadroTexto 14">
            <a:extLst>
              <a:ext uri="{FF2B5EF4-FFF2-40B4-BE49-F238E27FC236}">
                <a16:creationId xmlns:a16="http://schemas.microsoft.com/office/drawing/2014/main" id="{0CBA9A08-F151-84C8-6945-DBF185A73EF3}"/>
              </a:ext>
            </a:extLst>
          </p:cNvPr>
          <p:cNvSpPr txBox="1"/>
          <p:nvPr/>
        </p:nvSpPr>
        <p:spPr>
          <a:xfrm>
            <a:off x="4749800" y="3911600"/>
            <a:ext cx="2387600" cy="369332"/>
          </a:xfrm>
          <a:prstGeom prst="rect">
            <a:avLst/>
          </a:prstGeom>
          <a:noFill/>
        </p:spPr>
        <p:txBody>
          <a:bodyPr vert="horz" wrap="square" lIns="0" tIns="0" rIns="0" bIns="0" rtlCol="0">
            <a:noAutofit/>
          </a:bodyPr>
          <a:lstStyle/>
          <a:p>
            <a:r>
              <a:rPr lang="es-ES" b="1">
                <a:solidFill>
                  <a:srgbClr val="DBA14D"/>
                </a:solidFill>
                <a:latin typeface="Segoe UI" panose="020B0502040204020203" pitchFamily="34" charset="0"/>
              </a:rPr>
              <a:t>Multi-centro</a:t>
            </a:r>
          </a:p>
        </p:txBody>
      </p:sp>
      <p:sp>
        <p:nvSpPr>
          <p:cNvPr id="16" name="CuadroTexto 15">
            <a:extLst>
              <a:ext uri="{FF2B5EF4-FFF2-40B4-BE49-F238E27FC236}">
                <a16:creationId xmlns:a16="http://schemas.microsoft.com/office/drawing/2014/main" id="{B45386F9-7314-82B6-2C6D-0C4A18021C61}"/>
              </a:ext>
            </a:extLst>
          </p:cNvPr>
          <p:cNvSpPr txBox="1"/>
          <p:nvPr/>
        </p:nvSpPr>
        <p:spPr>
          <a:xfrm>
            <a:off x="4749800" y="4267200"/>
            <a:ext cx="2540000" cy="369332"/>
          </a:xfrm>
          <a:prstGeom prst="rect">
            <a:avLst/>
          </a:prstGeom>
          <a:noFill/>
        </p:spPr>
        <p:txBody>
          <a:bodyPr vert="horz" wrap="square" lIns="0" tIns="0" rIns="0" bIns="0" rtlCol="0">
            <a:noAutofit/>
          </a:bodyPr>
          <a:lstStyle/>
          <a:p>
            <a:r>
              <a:rPr lang="es-ES" sz="1300">
                <a:solidFill>
                  <a:srgbClr val="1F2937"/>
                </a:solidFill>
                <a:latin typeface="Segoe UI" panose="020B0502040204020203" pitchFamily="34" charset="0"/>
              </a:rPr>
              <a:t>Separar datos por centro educativo, empresas y usuarios.</a:t>
            </a:r>
          </a:p>
        </p:txBody>
      </p:sp>
      <p:sp>
        <p:nvSpPr>
          <p:cNvPr id="17" name="CuadroTexto 16">
            <a:extLst>
              <a:ext uri="{FF2B5EF4-FFF2-40B4-BE49-F238E27FC236}">
                <a16:creationId xmlns:a16="http://schemas.microsoft.com/office/drawing/2014/main" id="{5B7BEEB8-7055-322B-200F-5F5ACB0038E1}"/>
              </a:ext>
            </a:extLst>
          </p:cNvPr>
          <p:cNvSpPr txBox="1"/>
          <p:nvPr/>
        </p:nvSpPr>
        <p:spPr>
          <a:xfrm>
            <a:off x="1016000" y="5257800"/>
            <a:ext cx="9652000" cy="369332"/>
          </a:xfrm>
          <a:prstGeom prst="rect">
            <a:avLst/>
          </a:prstGeom>
          <a:noFill/>
        </p:spPr>
        <p:txBody>
          <a:bodyPr vert="horz" wrap="square" lIns="0" tIns="0" rIns="0" bIns="0" rtlCol="0">
            <a:noAutofit/>
          </a:bodyPr>
          <a:lstStyle/>
          <a:p>
            <a:pPr marL="342900" indent="-342900">
              <a:spcAft>
                <a:spcPts val="1000"/>
              </a:spcAft>
              <a:buFont typeface="+mj-lt"/>
              <a:buChar char="•"/>
            </a:pPr>
            <a:r>
              <a:rPr lang="es-ES">
                <a:solidFill>
                  <a:srgbClr val="C2CBD8"/>
                </a:solidFill>
                <a:latin typeface="Segoe UI" panose="020B0502040204020203" pitchFamily="34" charset="0"/>
              </a:rPr>
              <a:t>La prioridad futura no es anadir modulos sin control, sino endurecer despliegue, seguridad y soporte.</a:t>
            </a:r>
          </a:p>
          <a:p>
            <a:pPr marL="342900" indent="-342900">
              <a:spcAft>
                <a:spcPts val="1000"/>
              </a:spcAft>
              <a:buFont typeface="+mj-lt"/>
              <a:buChar char="•"/>
            </a:pPr>
            <a:r>
              <a:rPr lang="es-ES">
                <a:solidFill>
                  <a:srgbClr val="C2CBD8"/>
                </a:solidFill>
                <a:latin typeface="Segoe UI" panose="020B0502040204020203" pitchFamily="34" charset="0"/>
              </a:rPr>
              <a:t>Las funciones secundarias quedan identificadas para justificar con claridad el recorte de alcance.</a:t>
            </a:r>
          </a:p>
        </p:txBody>
      </p:sp>
    </p:spTree>
    <p:extLst>
      <p:ext uri="{BB962C8B-B14F-4D97-AF65-F5344CB8AC3E}">
        <p14:creationId xmlns:p14="http://schemas.microsoft.com/office/powerpoint/2010/main" val="281488354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8DBD1795-2973-E27A-9EF9-387702C98EBB}"/>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17 / LIMITACIONES</a:t>
            </a:r>
          </a:p>
        </p:txBody>
      </p:sp>
      <p:sp>
        <p:nvSpPr>
          <p:cNvPr id="3" name="CuadroTexto 2">
            <a:extLst>
              <a:ext uri="{FF2B5EF4-FFF2-40B4-BE49-F238E27FC236}">
                <a16:creationId xmlns:a16="http://schemas.microsoft.com/office/drawing/2014/main" id="{566A90E6-7201-D801-EDE1-52D006E5AB77}"/>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Que queda fuera de esta entrega</a:t>
            </a:r>
          </a:p>
        </p:txBody>
      </p:sp>
      <p:sp>
        <p:nvSpPr>
          <p:cNvPr id="4" name="CuadroTexto 3">
            <a:extLst>
              <a:ext uri="{FF2B5EF4-FFF2-40B4-BE49-F238E27FC236}">
                <a16:creationId xmlns:a16="http://schemas.microsoft.com/office/drawing/2014/main" id="{BBF4D98A-FF4C-00D2-D169-6C1F7A634B2B}"/>
              </a:ext>
            </a:extLst>
          </p:cNvPr>
          <p:cNvSpPr txBox="1"/>
          <p:nvPr/>
        </p:nvSpPr>
        <p:spPr>
          <a:xfrm>
            <a:off x="939800" y="2057400"/>
            <a:ext cx="4572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dirty="0">
                <a:solidFill>
                  <a:srgbClr val="C2CBD8"/>
                </a:solidFill>
                <a:latin typeface="Segoe UI" panose="020B0502040204020203" pitchFamily="34" charset="0"/>
              </a:rPr>
              <a:t>Subida documental completa y almacenamiento gestionado fuera de la VM.</a:t>
            </a:r>
          </a:p>
          <a:p>
            <a:pPr marL="457200" indent="-457200">
              <a:spcAft>
                <a:spcPts val="1000"/>
              </a:spcAft>
              <a:buFont typeface="+mj-lt"/>
              <a:buChar char="•"/>
            </a:pPr>
            <a:r>
              <a:rPr lang="es-ES" sz="1900" dirty="0">
                <a:solidFill>
                  <a:srgbClr val="C2CBD8"/>
                </a:solidFill>
                <a:latin typeface="Segoe UI" panose="020B0502040204020203" pitchFamily="34" charset="0"/>
              </a:rPr>
              <a:t>Sistema de roles avanzado con perfiles de solo lectura.</a:t>
            </a:r>
          </a:p>
          <a:p>
            <a:pPr marL="457200" indent="-457200">
              <a:spcAft>
                <a:spcPts val="1000"/>
              </a:spcAft>
              <a:buFont typeface="+mj-lt"/>
              <a:buChar char="•"/>
            </a:pPr>
            <a:r>
              <a:rPr lang="es-ES" sz="1900" dirty="0" err="1">
                <a:solidFill>
                  <a:srgbClr val="C2CBD8"/>
                </a:solidFill>
                <a:latin typeface="Segoe UI" panose="020B0502040204020203" pitchFamily="34" charset="0"/>
              </a:rPr>
              <a:t>Gestion</a:t>
            </a:r>
            <a:r>
              <a:rPr lang="es-ES" sz="1900" dirty="0">
                <a:solidFill>
                  <a:srgbClr val="C2CBD8"/>
                </a:solidFill>
                <a:latin typeface="Segoe UI" panose="020B0502040204020203" pitchFamily="34" charset="0"/>
              </a:rPr>
              <a:t> </a:t>
            </a:r>
            <a:r>
              <a:rPr lang="es-ES" sz="1900" dirty="0" err="1">
                <a:solidFill>
                  <a:srgbClr val="C2CBD8"/>
                </a:solidFill>
                <a:latin typeface="Segoe UI" panose="020B0502040204020203" pitchFamily="34" charset="0"/>
              </a:rPr>
              <a:t>multi-centro</a:t>
            </a:r>
            <a:r>
              <a:rPr lang="es-ES" sz="1900" dirty="0">
                <a:solidFill>
                  <a:srgbClr val="C2CBD8"/>
                </a:solidFill>
                <a:latin typeface="Segoe UI" panose="020B0502040204020203" pitchFamily="34" charset="0"/>
              </a:rPr>
              <a:t> con datos separados por centro educativo.</a:t>
            </a:r>
          </a:p>
          <a:p>
            <a:pPr marL="457200" indent="-457200">
              <a:spcAft>
                <a:spcPts val="1000"/>
              </a:spcAft>
              <a:buFont typeface="+mj-lt"/>
              <a:buChar char="•"/>
            </a:pPr>
            <a:r>
              <a:rPr lang="es-ES" sz="1900" dirty="0">
                <a:solidFill>
                  <a:srgbClr val="C2CBD8"/>
                </a:solidFill>
                <a:latin typeface="Segoe UI" panose="020B0502040204020203" pitchFamily="34" charset="0"/>
              </a:rPr>
              <a:t>Dominio propio e infraestructura mas gestionada que la VM actual.</a:t>
            </a:r>
          </a:p>
          <a:p>
            <a:pPr marL="457200" indent="-457200">
              <a:spcAft>
                <a:spcPts val="1000"/>
              </a:spcAft>
              <a:buFont typeface="+mj-lt"/>
              <a:buChar char="•"/>
            </a:pPr>
            <a:r>
              <a:rPr lang="es-ES" sz="1900" dirty="0">
                <a:solidFill>
                  <a:srgbClr val="C2CBD8"/>
                </a:solidFill>
                <a:latin typeface="Segoe UI" panose="020B0502040204020203" pitchFamily="34" charset="0"/>
              </a:rPr>
              <a:t>Perfilado profundo de rendimiento en </a:t>
            </a:r>
            <a:r>
              <a:rPr lang="es-ES" sz="1900" dirty="0" err="1">
                <a:solidFill>
                  <a:srgbClr val="C2CBD8"/>
                </a:solidFill>
                <a:latin typeface="Segoe UI" panose="020B0502040204020203" pitchFamily="34" charset="0"/>
              </a:rPr>
              <a:t>produccion</a:t>
            </a:r>
            <a:r>
              <a:rPr lang="es-ES" sz="1900" dirty="0">
                <a:solidFill>
                  <a:srgbClr val="C2CBD8"/>
                </a:solidFill>
                <a:latin typeface="Segoe UI" panose="020B0502040204020203" pitchFamily="34" charset="0"/>
              </a:rPr>
              <a:t>.</a:t>
            </a:r>
          </a:p>
        </p:txBody>
      </p:sp>
      <p:sp>
        <p:nvSpPr>
          <p:cNvPr id="5" name="Rectángulo: esquinas redondeadas 4">
            <a:extLst>
              <a:ext uri="{FF2B5EF4-FFF2-40B4-BE49-F238E27FC236}">
                <a16:creationId xmlns:a16="http://schemas.microsoft.com/office/drawing/2014/main" id="{3161BDCE-69A6-BDA0-AD98-F20BA7354B74}"/>
              </a:ext>
            </a:extLst>
          </p:cNvPr>
          <p:cNvSpPr/>
          <p:nvPr/>
        </p:nvSpPr>
        <p:spPr>
          <a:xfrm>
            <a:off x="6807200" y="2057400"/>
            <a:ext cx="4064000" cy="2667000"/>
          </a:xfrm>
          <a:prstGeom prst="roundRect">
            <a:avLst/>
          </a:prstGeom>
          <a:solidFill>
            <a:srgbClr val="1D2430"/>
          </a:solidFill>
          <a:ln w="12700">
            <a:solidFill>
              <a:srgbClr val="424E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6" name="CuadroTexto 5">
            <a:extLst>
              <a:ext uri="{FF2B5EF4-FFF2-40B4-BE49-F238E27FC236}">
                <a16:creationId xmlns:a16="http://schemas.microsoft.com/office/drawing/2014/main" id="{A11F16E4-872B-DB01-A26E-83728E9D4639}"/>
              </a:ext>
            </a:extLst>
          </p:cNvPr>
          <p:cNvSpPr txBox="1"/>
          <p:nvPr/>
        </p:nvSpPr>
        <p:spPr>
          <a:xfrm>
            <a:off x="7213600" y="2438400"/>
            <a:ext cx="3302000" cy="369332"/>
          </a:xfrm>
          <a:prstGeom prst="rect">
            <a:avLst/>
          </a:prstGeom>
          <a:noFill/>
        </p:spPr>
        <p:txBody>
          <a:bodyPr vert="horz" wrap="square" lIns="0" tIns="0" rIns="0" bIns="0" rtlCol="0">
            <a:noAutofit/>
          </a:bodyPr>
          <a:lstStyle/>
          <a:p>
            <a:r>
              <a:rPr lang="es-ES" sz="2000" b="1">
                <a:solidFill>
                  <a:srgbClr val="DBA14D"/>
                </a:solidFill>
                <a:latin typeface="Segoe UI" panose="020B0502040204020203" pitchFamily="34" charset="0"/>
              </a:rPr>
              <a:t>Siguiente iteracion</a:t>
            </a:r>
          </a:p>
        </p:txBody>
      </p:sp>
      <p:sp>
        <p:nvSpPr>
          <p:cNvPr id="7" name="CuadroTexto 6">
            <a:extLst>
              <a:ext uri="{FF2B5EF4-FFF2-40B4-BE49-F238E27FC236}">
                <a16:creationId xmlns:a16="http://schemas.microsoft.com/office/drawing/2014/main" id="{70B4DE4F-3263-C92B-035B-3E10B45AC6C9}"/>
              </a:ext>
            </a:extLst>
          </p:cNvPr>
          <p:cNvSpPr txBox="1"/>
          <p:nvPr/>
        </p:nvSpPr>
        <p:spPr>
          <a:xfrm>
            <a:off x="7213600" y="3098800"/>
            <a:ext cx="3111500" cy="369332"/>
          </a:xfrm>
          <a:prstGeom prst="rect">
            <a:avLst/>
          </a:prstGeom>
          <a:noFill/>
        </p:spPr>
        <p:txBody>
          <a:bodyPr vert="horz" wrap="square" lIns="0" tIns="0" rIns="0" bIns="0" rtlCol="0">
            <a:noAutofit/>
          </a:bodyPr>
          <a:lstStyle/>
          <a:p>
            <a:r>
              <a:rPr lang="es-ES" sz="2100" b="1">
                <a:solidFill>
                  <a:srgbClr val="F6F8FC"/>
                </a:solidFill>
                <a:latin typeface="Segoe UI" panose="020B0502040204020203" pitchFamily="34" charset="0"/>
              </a:rPr>
              <a:t>Cerrar documentos, roles avanzados y soporte multi-centro sin romper el flujo principal.</a:t>
            </a:r>
          </a:p>
        </p:txBody>
      </p:sp>
    </p:spTree>
    <p:extLst>
      <p:ext uri="{BB962C8B-B14F-4D97-AF65-F5344CB8AC3E}">
        <p14:creationId xmlns:p14="http://schemas.microsoft.com/office/powerpoint/2010/main" val="90382341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1218"/>
        </a:solid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66903B6-3D94-BA4E-D420-E4844419CDF7}"/>
              </a:ext>
            </a:extLst>
          </p:cNvPr>
          <p:cNvSpPr txBox="1"/>
          <p:nvPr/>
        </p:nvSpPr>
        <p:spPr>
          <a:xfrm>
            <a:off x="558800" y="330200"/>
            <a:ext cx="10414000" cy="369332"/>
          </a:xfrm>
          <a:prstGeom prst="rect">
            <a:avLst/>
          </a:prstGeom>
          <a:noFill/>
        </p:spPr>
        <p:txBody>
          <a:bodyPr vert="horz" wrap="square" lIns="0" tIns="0" rIns="0" bIns="0" rtlCol="0">
            <a:noAutofit/>
          </a:bodyPr>
          <a:lstStyle/>
          <a:p>
            <a:r>
              <a:rPr lang="es-ES" sz="1200" b="1">
                <a:solidFill>
                  <a:srgbClr val="DBA14D"/>
                </a:solidFill>
                <a:latin typeface="Segoe UI" panose="020B0502040204020203" pitchFamily="34" charset="0"/>
              </a:rPr>
              <a:t>18 / CIERRE</a:t>
            </a:r>
          </a:p>
        </p:txBody>
      </p:sp>
      <p:sp>
        <p:nvSpPr>
          <p:cNvPr id="3" name="CuadroTexto 2">
            <a:extLst>
              <a:ext uri="{FF2B5EF4-FFF2-40B4-BE49-F238E27FC236}">
                <a16:creationId xmlns:a16="http://schemas.microsoft.com/office/drawing/2014/main" id="{008D2FAE-F122-0A72-D299-4E5DFC646F34}"/>
              </a:ext>
            </a:extLst>
          </p:cNvPr>
          <p:cNvSpPr txBox="1"/>
          <p:nvPr/>
        </p:nvSpPr>
        <p:spPr>
          <a:xfrm>
            <a:off x="558800" y="685800"/>
            <a:ext cx="9906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Resultado defendible</a:t>
            </a:r>
          </a:p>
        </p:txBody>
      </p:sp>
      <p:sp>
        <p:nvSpPr>
          <p:cNvPr id="4" name="CuadroTexto 3">
            <a:extLst>
              <a:ext uri="{FF2B5EF4-FFF2-40B4-BE49-F238E27FC236}">
                <a16:creationId xmlns:a16="http://schemas.microsoft.com/office/drawing/2014/main" id="{F91B0B99-D99F-B445-8BD8-BBCD72378AA2}"/>
              </a:ext>
            </a:extLst>
          </p:cNvPr>
          <p:cNvSpPr txBox="1"/>
          <p:nvPr/>
        </p:nvSpPr>
        <p:spPr>
          <a:xfrm>
            <a:off x="1168400" y="2006600"/>
            <a:ext cx="9652000" cy="369332"/>
          </a:xfrm>
          <a:prstGeom prst="rect">
            <a:avLst/>
          </a:prstGeom>
          <a:noFill/>
        </p:spPr>
        <p:txBody>
          <a:bodyPr vert="horz" wrap="square" lIns="0" tIns="0" rIns="0" bIns="0" rtlCol="0">
            <a:noAutofit/>
          </a:bodyPr>
          <a:lstStyle/>
          <a:p>
            <a:r>
              <a:rPr lang="es-ES" sz="3000" b="1">
                <a:solidFill>
                  <a:srgbClr val="F6F8FC"/>
                </a:solidFill>
                <a:latin typeface="Segoe UI" panose="020B0502040204020203" pitchFamily="34" charset="0"/>
              </a:rPr>
              <a:t>El proyecto transforma una gestion dispersa en una plataforma web funcional, trazable y documentada para empresas colaboradoras y practicas de FP Dual.</a:t>
            </a:r>
          </a:p>
        </p:txBody>
      </p:sp>
      <p:sp>
        <p:nvSpPr>
          <p:cNvPr id="5" name="CuadroTexto 4">
            <a:extLst>
              <a:ext uri="{FF2B5EF4-FFF2-40B4-BE49-F238E27FC236}">
                <a16:creationId xmlns:a16="http://schemas.microsoft.com/office/drawing/2014/main" id="{F95BA237-CE97-5D2D-CEAC-30A76AF24C86}"/>
              </a:ext>
            </a:extLst>
          </p:cNvPr>
          <p:cNvSpPr txBox="1"/>
          <p:nvPr/>
        </p:nvSpPr>
        <p:spPr>
          <a:xfrm>
            <a:off x="1625600" y="4089400"/>
            <a:ext cx="8763000" cy="369332"/>
          </a:xfrm>
          <a:prstGeom prst="rect">
            <a:avLst/>
          </a:prstGeom>
          <a:noFill/>
        </p:spPr>
        <p:txBody>
          <a:bodyPr vert="horz" wrap="square" lIns="0" tIns="0" rIns="0" bIns="0" rtlCol="0">
            <a:noAutofit/>
          </a:bodyPr>
          <a:lstStyle/>
          <a:p>
            <a:pPr marL="457200" indent="-457200">
              <a:spcAft>
                <a:spcPts val="1000"/>
              </a:spcAft>
              <a:buFont typeface="+mj-lt"/>
              <a:buChar char="•"/>
            </a:pPr>
            <a:r>
              <a:rPr lang="es-ES" sz="1900">
                <a:solidFill>
                  <a:srgbClr val="C2CBD8"/>
                </a:solidFill>
                <a:latin typeface="Segoe UI" panose="020B0502040204020203" pitchFamily="34" charset="0"/>
              </a:rPr>
              <a:t>Problema real del centro.</a:t>
            </a:r>
          </a:p>
          <a:p>
            <a:pPr marL="457200" indent="-457200">
              <a:spcAft>
                <a:spcPts val="1000"/>
              </a:spcAft>
              <a:buFont typeface="+mj-lt"/>
              <a:buChar char="•"/>
            </a:pPr>
            <a:r>
              <a:rPr lang="es-ES" sz="1900">
                <a:solidFill>
                  <a:srgbClr val="C2CBD8"/>
                </a:solidFill>
                <a:latin typeface="Segoe UI" panose="020B0502040204020203" pitchFamily="34" charset="0"/>
              </a:rPr>
              <a:t>Arquitectura completa con backend, dos frontends y operacion local.</a:t>
            </a:r>
          </a:p>
          <a:p>
            <a:pPr marL="457200" indent="-457200">
              <a:spcAft>
                <a:spcPts val="1000"/>
              </a:spcAft>
              <a:buFont typeface="+mj-lt"/>
              <a:buChar char="•"/>
            </a:pPr>
            <a:r>
              <a:rPr lang="es-ES" sz="1900">
                <a:solidFill>
                  <a:srgbClr val="C2CBD8"/>
                </a:solidFill>
                <a:latin typeface="Segoe UI" panose="020B0502040204020203" pitchFamily="34" charset="0"/>
              </a:rPr>
              <a:t>Validacion tecnica, empaquetado y demo preparados.</a:t>
            </a:r>
          </a:p>
        </p:txBody>
      </p:sp>
      <p:sp>
        <p:nvSpPr>
          <p:cNvPr id="6" name="CuadroTexto 5">
            <a:extLst>
              <a:ext uri="{FF2B5EF4-FFF2-40B4-BE49-F238E27FC236}">
                <a16:creationId xmlns:a16="http://schemas.microsoft.com/office/drawing/2014/main" id="{FCFA9EC7-736A-D2B1-3473-516C92A50643}"/>
              </a:ext>
            </a:extLst>
          </p:cNvPr>
          <p:cNvSpPr txBox="1"/>
          <p:nvPr/>
        </p:nvSpPr>
        <p:spPr>
          <a:xfrm>
            <a:off x="4191000" y="5943600"/>
            <a:ext cx="3810000" cy="369332"/>
          </a:xfrm>
          <a:prstGeom prst="rect">
            <a:avLst/>
          </a:prstGeom>
          <a:noFill/>
        </p:spPr>
        <p:txBody>
          <a:bodyPr vert="horz" wrap="square" lIns="0" tIns="0" rIns="0" bIns="0" rtlCol="0">
            <a:noAutofit/>
          </a:bodyPr>
          <a:lstStyle/>
          <a:p>
            <a:r>
              <a:rPr lang="es-ES" sz="2200" b="1">
                <a:solidFill>
                  <a:srgbClr val="DBA14D"/>
                </a:solidFill>
                <a:latin typeface="Segoe UI" panose="020B0502040204020203" pitchFamily="34" charset="0"/>
              </a:rPr>
              <a:t>Demo y preguntas</a:t>
            </a:r>
          </a:p>
        </p:txBody>
      </p:sp>
    </p:spTree>
    <p:extLst>
      <p:ext uri="{BB962C8B-B14F-4D97-AF65-F5344CB8AC3E}">
        <p14:creationId xmlns:p14="http://schemas.microsoft.com/office/powerpoint/2010/main" val="2040263895"/>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3085</Words>
  <Application>Microsoft Office PowerPoint</Application>
  <PresentationFormat>Panorámica</PresentationFormat>
  <Paragraphs>226</Paragraphs>
  <Slides>19</Slides>
  <Notes>19</Notes>
  <HiddenSlides>0</HiddenSlides>
  <MMClips>0</MMClips>
  <ScaleCrop>false</ScaleCrop>
  <HeadingPairs>
    <vt:vector size="6" baseType="variant">
      <vt:variant>
        <vt:lpstr>Fuentes usadas</vt:lpstr>
      </vt:variant>
      <vt:variant>
        <vt:i4>5</vt:i4>
      </vt:variant>
      <vt:variant>
        <vt:lpstr>Tema</vt:lpstr>
      </vt:variant>
      <vt:variant>
        <vt:i4>1</vt:i4>
      </vt:variant>
      <vt:variant>
        <vt:lpstr>Títulos de diapositiva</vt:lpstr>
      </vt:variant>
      <vt:variant>
        <vt:i4>19</vt:i4>
      </vt:variant>
    </vt:vector>
  </HeadingPairs>
  <TitlesOfParts>
    <vt:vector size="25" baseType="lpstr">
      <vt:lpstr>Aptos</vt:lpstr>
      <vt:lpstr>Aptos Display</vt:lpstr>
      <vt:lpstr>Arial</vt:lpstr>
      <vt:lpstr>Consolas</vt:lpstr>
      <vt:lpstr>Segoe UI</vt:lpstr>
      <vt:lpstr>Tema de 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Luis Ángel Méndez Minda</dc:creator>
  <cp:lastModifiedBy>Luis Ángel Méndez Minda</cp:lastModifiedBy>
  <cp:revision>2</cp:revision>
  <dcterms:created xsi:type="dcterms:W3CDTF">2026-06-04T23:17:27Z</dcterms:created>
  <dcterms:modified xsi:type="dcterms:W3CDTF">2026-06-04T23:23:25Z</dcterms:modified>
</cp:coreProperties>
</file>