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0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47E9A5-A69C-AF31-D358-E9AF2C95B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11385A-0F7B-2109-1713-B5B2D2EDC7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52BBF9F-F302-7E77-541C-38E060120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E919BF-FBDE-8D86-3269-B333EDF00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557309-3833-7F7A-228A-CF7BFD625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96258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57B3D1-9F17-9857-C23E-0FF9659FD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C8DB27-0B8D-3DFD-F444-147E77A62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F9DB092-AE36-B1AA-99F0-4ECC974B2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8D9DE15-B473-06DB-601C-09CE6D7B0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1C6BA2-83FB-199D-78F2-AC5FCF809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078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EE0E53-739A-5E14-2265-63E08A962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CF09E20-BB42-9D1C-9A16-C9727455D1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D43DD57-7FE4-C155-4E7A-0401C1206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CB3593-8C1B-01A6-64F0-1F8662C0C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96AEC0-2558-3D0F-B016-A6852FB7E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8564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86B269-1F9B-096D-4156-1A9A9FDDC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91497C-0160-D7CC-5A2C-37BA9EFFA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7CE6F9C-0984-7B61-D31C-4FC486CBD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587CFF8-9155-5D3D-5C77-4353055CC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2A4965C-5C15-5E1C-997E-BE1FE0D87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8C03CE-F840-8305-FCDB-505111302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1076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5FE9DA-633C-A7A3-4DF1-9E0CE4AD7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9C3C829-0D26-0D9D-61AB-5F9AE070E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CC82072-9276-3394-D5C3-5CAAC16253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B68160E-CD31-5543-6D4B-9AB56CEFC0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B5504F-2A8D-DF35-1794-1632E2A34F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D8E17A6-0FA9-0BBD-E0F3-37EE6389B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099D6E1-9F08-46D6-96E0-6556CA612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DDD4F92-CAEB-BB19-55E3-6ED1365B5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6326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4F9C25-1F3D-22F8-B89F-96D23B7D2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711B9A-4C75-FF47-7BB5-1B3C8E570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47A31C-E4CB-E1DD-F41C-1BED88159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6B7C687-FEF9-3605-F982-EC5CAED7B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60201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B0FDAD9-4A92-C1D0-A3D0-ACA1C4661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8DAC3A3-A540-E223-C38E-27A344B55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CD94074-9280-3579-4C1D-855C59DC3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12894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8CEA0C-21DD-F6F8-8819-BE70E8156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5D4CDC-5E20-6184-0817-E4D1431B2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026DAA0-0D63-F341-DAB4-1363FC870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516AEC-CDDC-1B47-9445-739BD483D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F08CD5C-5F2F-DC4C-A211-1DC6C7EBE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63278E3-E554-B691-9150-EBD0E07A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1597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73EBA9-B5DD-C451-9DAC-E0671C517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75FE7A7-3579-29CB-6626-32B86D7CD4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FDC52D3-3B9E-D021-B186-A7D215CF68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DF918E-3472-BC36-6C7A-61CD37CA4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4D56AFF-FE8D-2F54-334E-0D5B0BE2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F2B3460-EE14-4FAE-4406-AE566619A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5687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E1A38A-0F12-FD41-A2C0-70604426A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BE13BC4-A7FA-7D61-9FFB-D416C20899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B0F91E-D46E-5A6F-E9C1-DDC7DA6F6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4906C85-F32C-8D4E-692B-EA7A9BE8D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B679B1-8A4E-00F6-E432-D501D8B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6677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969AAB8-257F-573C-1745-C77C652474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DC5E29F-8D9E-0979-F474-63AF8DA83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311995-F201-2E73-7F41-F18FC3BC9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BE549F1-05B4-D110-36F4-2856D9612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19D8FD-3460-7AB5-D3B2-D050CDEFF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4176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F4A310F-44E4-321F-FA92-1D7F528B3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C6DACB-4F5D-7A99-4C6D-90BEAD91E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E25504-6BDA-1385-EAB0-0848FA6168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F9D857-2BC1-4ECA-A48E-C0419EF44063}" type="datetimeFigureOut">
              <a:rPr lang="es-ES" smtClean="0"/>
              <a:t>27/05/2026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456258-1A26-2EB6-2580-AEFB2B83FC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AB82232-6D7E-9E91-8165-3E10466B2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515A41-34E0-4B8A-BFF5-025DE5A2746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34919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5C21021A-731D-BD7C-8102-3890FC96564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0B0E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53EB162-B404-27F8-366A-9668BE3F0E0B}"/>
              </a:ext>
            </a:extLst>
          </p:cNvPr>
          <p:cNvSpPr txBox="1"/>
          <p:nvPr/>
        </p:nvSpPr>
        <p:spPr>
          <a:xfrm>
            <a:off x="736600" y="68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DBA14D"/>
                </a:solidFill>
                <a:latin typeface="Segoe UI" panose="020B0502040204020203" pitchFamily="34" charset="0"/>
              </a:rPr>
              <a:t>Trabajo Final de Grado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9048014-6286-8C34-EB02-8F37C4F05425}"/>
              </a:ext>
            </a:extLst>
          </p:cNvPr>
          <p:cNvSpPr txBox="1"/>
          <p:nvPr/>
        </p:nvSpPr>
        <p:spPr>
          <a:xfrm>
            <a:off x="736600" y="1320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4200" b="1">
                <a:solidFill>
                  <a:srgbClr val="F6F8FC"/>
                </a:solidFill>
                <a:latin typeface="Segoe UI" panose="020B0502040204020203" pitchFamily="34" charset="0"/>
              </a:rPr>
              <a:t>Gestion de Empresas Colaboradoras para FP Dual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A0EFDAC-DB66-0A51-CCDA-ABD4BB8BBA11}"/>
              </a:ext>
            </a:extLst>
          </p:cNvPr>
          <p:cNvSpPr txBox="1"/>
          <p:nvPr/>
        </p:nvSpPr>
        <p:spPr>
          <a:xfrm>
            <a:off x="787400" y="3124200"/>
            <a:ext cx="8064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Plataforma web para centralizar empresas, convenios, practicas, solicitudes externas, seguimiento documental y comunicacion empresa-centro.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DF1A827-FF03-4481-F1DD-A3D36674FD4B}"/>
              </a:ext>
            </a:extLst>
          </p:cNvPr>
          <p:cNvSpPr txBox="1"/>
          <p:nvPr/>
        </p:nvSpPr>
        <p:spPr>
          <a:xfrm>
            <a:off x="787400" y="52324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Autor: Luis Angel</a:t>
            </a:r>
          </a:p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Tutora: Elena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CDA0E7A-E6D7-1D80-8DFB-CC867396DD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968500"/>
            <a:ext cx="4064000" cy="2286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77456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FBC9830-1087-3B6C-1D91-84C5028059E5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01 /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E9AD559-58E0-8320-53FE-5B82434953C6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Punto de partida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DC3118D-8EA7-9B0F-6B6C-E26B25E6EDEF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gestion anterior estaba repartida entre hojas de calculo, correos y documentos sin una vista unificada.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6A3EF4E-5A23-0B2D-C056-0F90E3CCF8E7}"/>
              </a:ext>
            </a:extLst>
          </p:cNvPr>
          <p:cNvSpPr txBox="1"/>
          <p:nvPr/>
        </p:nvSpPr>
        <p:spPr>
          <a:xfrm>
            <a:off x="889000" y="2349500"/>
            <a:ext cx="520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Informacion dispersa entre varias fuentes.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Dificultad para conocer el estado real de convenios, solicitudes y asignaciones.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Dependencia del conocimiento manual de la persona que coordina las practicas.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Poca trazabilidad sobre mensajes, documentos y cambios.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A25E428-EEB2-3BA5-A89E-427C511F04C2}"/>
              </a:ext>
            </a:extLst>
          </p:cNvPr>
          <p:cNvSpPr/>
          <p:nvPr/>
        </p:nvSpPr>
        <p:spPr>
          <a:xfrm>
            <a:off x="7112000" y="2184400"/>
            <a:ext cx="3937000" cy="2413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3893FC0-9260-2BE5-6897-EBCF6E90A79A}"/>
              </a:ext>
            </a:extLst>
          </p:cNvPr>
          <p:cNvSpPr txBox="1"/>
          <p:nvPr/>
        </p:nvSpPr>
        <p:spPr>
          <a:xfrm>
            <a:off x="7493000" y="2540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700" b="1">
                <a:solidFill>
                  <a:srgbClr val="DBA14D"/>
                </a:solidFill>
                <a:latin typeface="Segoe UI" panose="020B0502040204020203" pitchFamily="34" charset="0"/>
              </a:rPr>
              <a:t>Necesidad principal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D0CC411-B7A5-03FF-536B-94D0CC3F3DF7}"/>
              </a:ext>
            </a:extLst>
          </p:cNvPr>
          <p:cNvSpPr txBox="1"/>
          <p:nvPr/>
        </p:nvSpPr>
        <p:spPr>
          <a:xfrm>
            <a:off x="7493000" y="3149600"/>
            <a:ext cx="3124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Pasar de una gestion dispersa a una plataforma unica, trazable y defendible.</a:t>
            </a:r>
          </a:p>
        </p:txBody>
      </p:sp>
    </p:spTree>
    <p:extLst>
      <p:ext uri="{BB962C8B-B14F-4D97-AF65-F5344CB8AC3E}">
        <p14:creationId xmlns:p14="http://schemas.microsoft.com/office/powerpoint/2010/main" val="1139008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B282940-06AF-EACF-B9EF-98EAC4F1730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02 / 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5F9AF63-03C5-94BF-46A3-CCE367DA3DF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tenia que resolver la aplicacion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C5A765E-77D2-39CA-9FE8-5236C5063869}"/>
              </a:ext>
            </a:extLst>
          </p:cNvPr>
          <p:cNvSpPr/>
          <p:nvPr/>
        </p:nvSpPr>
        <p:spPr>
          <a:xfrm>
            <a:off x="7366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64D6F7B-282D-42E2-323D-242932C9CF2E}"/>
              </a:ext>
            </a:extLst>
          </p:cNvPr>
          <p:cNvSpPr txBox="1"/>
          <p:nvPr/>
        </p:nvSpPr>
        <p:spPr>
          <a:xfrm>
            <a:off x="10160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Centralizar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4A6B74D-5BB0-5B05-A7A4-594010C75DF8}"/>
              </a:ext>
            </a:extLst>
          </p:cNvPr>
          <p:cNvSpPr txBox="1"/>
          <p:nvPr/>
        </p:nvSpPr>
        <p:spPr>
          <a:xfrm>
            <a:off x="10160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Empresas, convenios, estudiantes, tutores y asignaciones.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0695082-FAC9-CB18-C611-34ECF60D6DC8}"/>
              </a:ext>
            </a:extLst>
          </p:cNvPr>
          <p:cNvSpPr/>
          <p:nvPr/>
        </p:nvSpPr>
        <p:spPr>
          <a:xfrm>
            <a:off x="61341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0A03756-DD0A-5590-9EF0-14269100A1B2}"/>
              </a:ext>
            </a:extLst>
          </p:cNvPr>
          <p:cNvSpPr txBox="1"/>
          <p:nvPr/>
        </p:nvSpPr>
        <p:spPr>
          <a:xfrm>
            <a:off x="64135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Abrir canal externo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ED5F627-064E-D6AE-7EEB-66C69F38AA9B}"/>
              </a:ext>
            </a:extLst>
          </p:cNvPr>
          <p:cNvSpPr txBox="1"/>
          <p:nvPr/>
        </p:nvSpPr>
        <p:spPr>
          <a:xfrm>
            <a:off x="64135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Registro de empresas, verificacion, estado y cuenta persistente.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E7C599C-C567-24F9-0489-3F12FF1E0B13}"/>
              </a:ext>
            </a:extLst>
          </p:cNvPr>
          <p:cNvSpPr/>
          <p:nvPr/>
        </p:nvSpPr>
        <p:spPr>
          <a:xfrm>
            <a:off x="7366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EFB9998-EF49-2DAD-5FF2-22B24B32D283}"/>
              </a:ext>
            </a:extLst>
          </p:cNvPr>
          <p:cNvSpPr txBox="1"/>
          <p:nvPr/>
        </p:nvSpPr>
        <p:spPr>
          <a:xfrm>
            <a:off x="10160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Trazabilidad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064AAC2-204A-7895-580F-3031DB56C64B}"/>
              </a:ext>
            </a:extLst>
          </p:cNvPr>
          <p:cNvSpPr txBox="1"/>
          <p:nvPr/>
        </p:nvSpPr>
        <p:spPr>
          <a:xfrm>
            <a:off x="10160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Mensajeria, documentos versionados, evidencias y evaluacion final.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AB38D09A-E356-2F15-46F3-C30A5EF8A291}"/>
              </a:ext>
            </a:extLst>
          </p:cNvPr>
          <p:cNvSpPr/>
          <p:nvPr/>
        </p:nvSpPr>
        <p:spPr>
          <a:xfrm>
            <a:off x="61341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FAD3839-418F-29A8-1F51-C8C4180EE654}"/>
              </a:ext>
            </a:extLst>
          </p:cNvPr>
          <p:cNvSpPr txBox="1"/>
          <p:nvPr/>
        </p:nvSpPr>
        <p:spPr>
          <a:xfrm>
            <a:off x="64135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Defensa tecnica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0AF941E-CE6A-35BA-0296-B0F61132C0ED}"/>
              </a:ext>
            </a:extLst>
          </p:cNvPr>
          <p:cNvSpPr txBox="1"/>
          <p:nvPr/>
        </p:nvSpPr>
        <p:spPr>
          <a:xfrm>
            <a:off x="64135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Arquitectura separada, pruebas, demo y documentacion final.</a:t>
            </a:r>
          </a:p>
        </p:txBody>
      </p:sp>
    </p:spTree>
    <p:extLst>
      <p:ext uri="{BB962C8B-B14F-4D97-AF65-F5344CB8AC3E}">
        <p14:creationId xmlns:p14="http://schemas.microsoft.com/office/powerpoint/2010/main" val="3969965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9A44499-82FA-AD4A-8749-E056379C85C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03 / ARQUITECTURA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1816A9D-F8FB-05A1-3843-06425420EA73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Topologia operativa y de despliegue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D18DDB0-6236-98AA-7A9D-AF510D6F084F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URL publica termina en una VM con HTTPS, persistencia real y una consola tecnica de escritorio separada del flujo funcional.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CA841F4-0C11-F86B-BD84-3949EC6B9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078" y="1854200"/>
            <a:ext cx="6183443" cy="4191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A4A7ECA-E196-B9FD-12A9-8A4BDB89A408}"/>
              </a:ext>
            </a:extLst>
          </p:cNvPr>
          <p:cNvSpPr txBox="1"/>
          <p:nvPr/>
        </p:nvSpPr>
        <p:spPr>
          <a:xfrm>
            <a:off x="7937500" y="22098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Caddy expone HTTPS y enruta a la aplicacion.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Symfony concentra seguridad, negocio y APIs.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PostgreSQL y documentos persisten fuera del contenedor.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Agora Desktop trabaja en local o en cloud.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operacion tecnica queda fuera del flujo web principal.</a:t>
            </a:r>
          </a:p>
        </p:txBody>
      </p:sp>
    </p:spTree>
    <p:extLst>
      <p:ext uri="{BB962C8B-B14F-4D97-AF65-F5344CB8AC3E}">
        <p14:creationId xmlns:p14="http://schemas.microsoft.com/office/powerpoint/2010/main" val="2886672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E6DC61B-22FB-E1A2-867F-2CD288BC8FBD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04 / MODELO DE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1FE1F73-538C-6D2B-85BA-01E5B4A1B36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De la cuenta de empresa a la asignacion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D935C8-1B76-0A55-9A90-29C598D66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784350"/>
            <a:ext cx="5969000" cy="41783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00F6E40-7E9D-FA0E-85A4-DCF195F305C5}"/>
              </a:ext>
            </a:extLst>
          </p:cNvPr>
          <p:cNvSpPr txBox="1"/>
          <p:nvPr/>
        </p:nvSpPr>
        <p:spPr>
          <a:xfrm>
            <a:off x="7239000" y="2006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Regla de negocio defendible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17C8830-9864-5F88-2B81-164A5855DA5F}"/>
              </a:ext>
            </a:extLst>
          </p:cNvPr>
          <p:cNvSpPr txBox="1"/>
          <p:nvPr/>
        </p:nvSpPr>
        <p:spPr>
          <a:xfrm>
            <a:off x="7493000" y="2667000"/>
            <a:ext cx="3619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cuenta portal sobrevive al preregistro inicial.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solicitud concentra verificacion, estado y mensajes.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empresa aprobada hereda convenios, documentos y tutores.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Asignacion, seguimiento y evaluacion cierran el ciclo.</a:t>
            </a:r>
          </a:p>
        </p:txBody>
      </p:sp>
    </p:spTree>
    <p:extLst>
      <p:ext uri="{BB962C8B-B14F-4D97-AF65-F5344CB8AC3E}">
        <p14:creationId xmlns:p14="http://schemas.microsoft.com/office/powerpoint/2010/main" val="197158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4B90C54-59B9-29C1-FAB1-6D06BEC83C6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05 / PANEL INTERNO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4201F9F-E495-1A34-E813-7CEB643A52E1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Gestion diaria del centro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4FC1F65-6350-4E16-6CA9-97F7559A79B2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Dashboard, CRUD operativo, solicitudes, bandeja, documentos, seguimientos y exportacion.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8EF20F3-E98B-C65B-5E7B-11E87999C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000"/>
            <a:ext cx="7112000" cy="40005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0921B6D-BF60-4A96-32E7-556ABB908AAB}"/>
              </a:ext>
            </a:extLst>
          </p:cNvPr>
          <p:cNvSpPr/>
          <p:nvPr/>
        </p:nvSpPr>
        <p:spPr>
          <a:xfrm>
            <a:off x="8407400" y="20955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1D36378-35A6-CE30-0376-63404731523E}"/>
              </a:ext>
            </a:extLst>
          </p:cNvPr>
          <p:cNvSpPr txBox="1"/>
          <p:nvPr/>
        </p:nvSpPr>
        <p:spPr>
          <a:xfrm>
            <a:off x="8636000" y="2260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9563791-87A4-F2A8-21E7-A2B85BEEDA13}"/>
              </a:ext>
            </a:extLst>
          </p:cNvPr>
          <p:cNvSpPr txBox="1"/>
          <p:nvPr/>
        </p:nvSpPr>
        <p:spPr>
          <a:xfrm>
            <a:off x="8636000" y="27559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empresas demo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7B22E91-588B-FC7C-0E00-7B1C1C793752}"/>
              </a:ext>
            </a:extLst>
          </p:cNvPr>
          <p:cNvSpPr/>
          <p:nvPr/>
        </p:nvSpPr>
        <p:spPr>
          <a:xfrm>
            <a:off x="8407400" y="35306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196D7ED-BA84-4FF1-2EA1-86A31C7DCA9C}"/>
              </a:ext>
            </a:extLst>
          </p:cNvPr>
          <p:cNvSpPr txBox="1"/>
          <p:nvPr/>
        </p:nvSpPr>
        <p:spPr>
          <a:xfrm>
            <a:off x="8636000" y="36957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DBA14D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42F4661-0F9E-E635-545C-CF94776D7859}"/>
              </a:ext>
            </a:extLst>
          </p:cNvPr>
          <p:cNvSpPr txBox="1"/>
          <p:nvPr/>
        </p:nvSpPr>
        <p:spPr>
          <a:xfrm>
            <a:off x="8636000" y="41910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convenios demo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35086C4-5C5A-A103-567B-81B3845CC0F9}"/>
              </a:ext>
            </a:extLst>
          </p:cNvPr>
          <p:cNvSpPr/>
          <p:nvPr/>
        </p:nvSpPr>
        <p:spPr>
          <a:xfrm>
            <a:off x="8407400" y="49657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624BE0A-6486-09A5-D1F6-BC4DA4479ABB}"/>
              </a:ext>
            </a:extLst>
          </p:cNvPr>
          <p:cNvSpPr txBox="1"/>
          <p:nvPr/>
        </p:nvSpPr>
        <p:spPr>
          <a:xfrm>
            <a:off x="8636000" y="5130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CSV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64CC48B-2885-0574-D2A6-FD83124CF8D7}"/>
              </a:ext>
            </a:extLst>
          </p:cNvPr>
          <p:cNvSpPr txBox="1"/>
          <p:nvPr/>
        </p:nvSpPr>
        <p:spPr>
          <a:xfrm>
            <a:off x="8636000" y="56261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exportacion operativa</a:t>
            </a:r>
          </a:p>
        </p:txBody>
      </p:sp>
    </p:spTree>
    <p:extLst>
      <p:ext uri="{BB962C8B-B14F-4D97-AF65-F5344CB8AC3E}">
        <p14:creationId xmlns:p14="http://schemas.microsoft.com/office/powerpoint/2010/main" val="1870687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A2E44B-4012-D66E-6975-B2B82BC52A62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06 / FLUJO EMPRESA-CENTRO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3D4E4D9-0C09-D458-F63D-CE83E122ABA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Solicitudes, aprobacion y bandeja unificada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8BEFF83-73E1-6C40-6A3C-93391239A0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1747"/>
            <a:ext cx="6794500" cy="38219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DC0D98C-C30B-C13D-83C8-7ACD64420E8C}"/>
              </a:ext>
            </a:extLst>
          </p:cNvPr>
          <p:cNvSpPr txBox="1"/>
          <p:nvPr/>
        </p:nvSpPr>
        <p:spPr>
          <a:xfrm>
            <a:off x="7937500" y="2108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empresa solicita colaborar desde el portal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correo queda verificado antes de la revision.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centro aprueba o rechaza desde el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conversacion queda ligada a la solicitud y a la empresa.</a:t>
            </a:r>
          </a:p>
        </p:txBody>
      </p:sp>
    </p:spTree>
    <p:extLst>
      <p:ext uri="{BB962C8B-B14F-4D97-AF65-F5344CB8AC3E}">
        <p14:creationId xmlns:p14="http://schemas.microsoft.com/office/powerpoint/2010/main" val="2218698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1C050A0-6921-B6D2-E5BC-322E6A06C535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07 / PORTAL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1F9578E-E5F3-F489-7A6C-0F09A15693A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Experiencia de la empresa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90C8A9D-CD87-1FFD-5E15-65B60B1DBB25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Alta, seguimiento de estado, activacion de cuenta, recuperacion de contrasena y area privada.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69E3CA6-3A0C-BE56-5837-2AB59D2E33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55" y="1854200"/>
            <a:ext cx="7224889" cy="4064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2E779A8-11E5-B8DE-D05C-84B751D5CE51}"/>
              </a:ext>
            </a:extLst>
          </p:cNvPr>
          <p:cNvSpPr/>
          <p:nvPr/>
        </p:nvSpPr>
        <p:spPr>
          <a:xfrm>
            <a:off x="8763000" y="2082800"/>
            <a:ext cx="22860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7F5F231-6468-A042-3C34-FAD44DBFA31F}"/>
              </a:ext>
            </a:extLst>
          </p:cNvPr>
          <p:cNvSpPr txBox="1"/>
          <p:nvPr/>
        </p:nvSpPr>
        <p:spPr>
          <a:xfrm>
            <a:off x="9042400" y="2336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Sin acceso interno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84EEE23-CEDA-1DAE-11AC-C5FD47E0FA98}"/>
              </a:ext>
            </a:extLst>
          </p:cNvPr>
          <p:cNvSpPr txBox="1"/>
          <p:nvPr/>
        </p:nvSpPr>
        <p:spPr>
          <a:xfrm>
            <a:off x="87630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portal externo tiene su propio recorrido y no mezcla credenciales de empresa con el panel del centro.</a:t>
            </a:r>
          </a:p>
        </p:txBody>
      </p:sp>
    </p:spTree>
    <p:extLst>
      <p:ext uri="{BB962C8B-B14F-4D97-AF65-F5344CB8AC3E}">
        <p14:creationId xmlns:p14="http://schemas.microsoft.com/office/powerpoint/2010/main" val="368892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9C87107-47D5-FE8D-53D3-4804744F9A1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08 / DESARROLLO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8838B2B-EE8B-4F9D-3A7D-F40AE960843F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lo he desarrollado y que partes tiene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020C065-38A9-66E8-A3E3-560223338CC8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presentacion se apoya en bloques funcionales y decisiones de arquitectura, no en fragmentos de codigo.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CA005563-89EA-808E-66D0-B732EA8AB31E}"/>
              </a:ext>
            </a:extLst>
          </p:cNvPr>
          <p:cNvSpPr/>
          <p:nvPr/>
        </p:nvSpPr>
        <p:spPr>
          <a:xfrm>
            <a:off x="762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3C41619-89A7-4796-5D5B-A388B8F27FDF}"/>
              </a:ext>
            </a:extLst>
          </p:cNvPr>
          <p:cNvSpPr txBox="1"/>
          <p:nvPr/>
        </p:nvSpPr>
        <p:spPr>
          <a:xfrm>
            <a:off x="990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Analisis del 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751DD6A-2E23-0880-F2B8-F6A50A3459AD}"/>
              </a:ext>
            </a:extLst>
          </p:cNvPr>
          <p:cNvSpPr txBox="1"/>
          <p:nvPr/>
        </p:nvSpPr>
        <p:spPr>
          <a:xfrm>
            <a:off x="990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Necesidad real del centro y alcance viable para el TFG.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78B8247-503E-4F06-3EDD-AE07D2D3EB52}"/>
              </a:ext>
            </a:extLst>
          </p:cNvPr>
          <p:cNvSpPr/>
          <p:nvPr/>
        </p:nvSpPr>
        <p:spPr>
          <a:xfrm>
            <a:off x="6096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232DF11-5F2E-8CA0-850C-E8C964B528F1}"/>
              </a:ext>
            </a:extLst>
          </p:cNvPr>
          <p:cNvSpPr txBox="1"/>
          <p:nvPr/>
        </p:nvSpPr>
        <p:spPr>
          <a:xfrm>
            <a:off x="6324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Modelo y reglas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ACD2940-8FD0-C488-D977-677F9130B1EB}"/>
              </a:ext>
            </a:extLst>
          </p:cNvPr>
          <p:cNvSpPr txBox="1"/>
          <p:nvPr/>
        </p:nvSpPr>
        <p:spPr>
          <a:xfrm>
            <a:off x="6324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Empresa, convenio, asignacion, seguimiento y evaluacion.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15CBE82E-1E6B-A600-D53B-93CFF6F37C14}"/>
              </a:ext>
            </a:extLst>
          </p:cNvPr>
          <p:cNvSpPr/>
          <p:nvPr/>
        </p:nvSpPr>
        <p:spPr>
          <a:xfrm>
            <a:off x="762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6DBF4D4-AF3C-1CAE-AAE3-7BC33D03EEB5}"/>
              </a:ext>
            </a:extLst>
          </p:cNvPr>
          <p:cNvSpPr txBox="1"/>
          <p:nvPr/>
        </p:nvSpPr>
        <p:spPr>
          <a:xfrm>
            <a:off x="990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Backend Symfony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0321472-DAB2-7B8C-BB47-82C42B9E4A11}"/>
              </a:ext>
            </a:extLst>
          </p:cNvPr>
          <p:cNvSpPr txBox="1"/>
          <p:nvPr/>
        </p:nvSpPr>
        <p:spPr>
          <a:xfrm>
            <a:off x="990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API, seguridad, correo, tokens, auditoria y persistencia.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AD96489-76F8-B559-03A5-362580CF8A66}"/>
              </a:ext>
            </a:extLst>
          </p:cNvPr>
          <p:cNvSpPr/>
          <p:nvPr/>
        </p:nvSpPr>
        <p:spPr>
          <a:xfrm>
            <a:off x="6096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642DD86-CB6A-421C-E05C-4E3CEC17DC81}"/>
              </a:ext>
            </a:extLst>
          </p:cNvPr>
          <p:cNvSpPr txBox="1"/>
          <p:nvPr/>
        </p:nvSpPr>
        <p:spPr>
          <a:xfrm>
            <a:off x="6324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interno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6845773-DC4E-F31C-1C48-67C044F73A55}"/>
              </a:ext>
            </a:extLst>
          </p:cNvPr>
          <p:cNvSpPr txBox="1"/>
          <p:nvPr/>
        </p:nvSpPr>
        <p:spPr>
          <a:xfrm>
            <a:off x="6324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Gestion academica, bandeja, documentos y exportacion CSV.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84B96BE3-B71E-71C8-C5CB-0FDA0651AFB8}"/>
              </a:ext>
            </a:extLst>
          </p:cNvPr>
          <p:cNvSpPr/>
          <p:nvPr/>
        </p:nvSpPr>
        <p:spPr>
          <a:xfrm>
            <a:off x="762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856000A-BCF8-C231-784A-B191622AB285}"/>
              </a:ext>
            </a:extLst>
          </p:cNvPr>
          <p:cNvSpPr txBox="1"/>
          <p:nvPr/>
        </p:nvSpPr>
        <p:spPr>
          <a:xfrm>
            <a:off x="990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externo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C446BC0-B203-434D-5198-E611C650F74F}"/>
              </a:ext>
            </a:extLst>
          </p:cNvPr>
          <p:cNvSpPr txBox="1"/>
          <p:nvPr/>
        </p:nvSpPr>
        <p:spPr>
          <a:xfrm>
            <a:off x="990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Registro, verificacion, estado, acceso empresa y chat.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8DF8A7DA-98AC-FCEF-AECF-F42CEBA93481}"/>
              </a:ext>
            </a:extLst>
          </p:cNvPr>
          <p:cNvSpPr/>
          <p:nvPr/>
        </p:nvSpPr>
        <p:spPr>
          <a:xfrm>
            <a:off x="6096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5D7ED3A-36CF-256D-0106-2D9E605346B9}"/>
              </a:ext>
            </a:extLst>
          </p:cNvPr>
          <p:cNvSpPr txBox="1"/>
          <p:nvPr/>
        </p:nvSpPr>
        <p:spPr>
          <a:xfrm>
            <a:off x="6324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Operacion final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45EC501-4E58-10A6-A758-C90D025FB9ED}"/>
              </a:ext>
            </a:extLst>
          </p:cNvPr>
          <p:cNvSpPr txBox="1"/>
          <p:nvPr/>
        </p:nvSpPr>
        <p:spPr>
          <a:xfrm>
            <a:off x="6324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App de escritorio, pruebas, logs, backups y empaquetado.</a:t>
            </a:r>
          </a:p>
        </p:txBody>
      </p:sp>
    </p:spTree>
    <p:extLst>
      <p:ext uri="{BB962C8B-B14F-4D97-AF65-F5344CB8AC3E}">
        <p14:creationId xmlns:p14="http://schemas.microsoft.com/office/powerpoint/2010/main" val="3281172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DAFACFB-80D7-5FD8-2363-C08A84230F6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09 / CORREO Y RECHAZO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BE4E9F7-7ADD-BB4E-C2CF-68611E37102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Gestor de correos y comunicaciones transaccionales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DECF87B-9681-5FC8-B46E-90823A3D70E6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proveedor configurado es Brevo y cubre tanto correo funcional como operaciones sensibles.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D1AEA64-2F0E-FD31-1E48-81AA0EE5224C}"/>
              </a:ext>
            </a:extLst>
          </p:cNvPr>
          <p:cNvSpPr/>
          <p:nvPr/>
        </p:nvSpPr>
        <p:spPr>
          <a:xfrm>
            <a:off x="736600" y="2032000"/>
            <a:ext cx="3175000" cy="28702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F410CEA-58BF-683F-FA42-462212E14AAD}"/>
              </a:ext>
            </a:extLst>
          </p:cNvPr>
          <p:cNvSpPr txBox="1"/>
          <p:nvPr/>
        </p:nvSpPr>
        <p:spPr>
          <a:xfrm>
            <a:off x="1168400" y="2438400"/>
            <a:ext cx="231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800" b="1">
                <a:solidFill>
                  <a:srgbClr val="DBA14D"/>
                </a:solidFill>
                <a:latin typeface="Segoe UI" panose="020B0502040204020203" pitchFamily="34" charset="0"/>
              </a:rPr>
              <a:t>Brevo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8372610-7914-4758-2055-CF56C828BEEE}"/>
              </a:ext>
            </a:extLst>
          </p:cNvPr>
          <p:cNvSpPr txBox="1"/>
          <p:nvPr/>
        </p:nvSpPr>
        <p:spPr>
          <a:xfrm>
            <a:off x="1092200" y="3124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Verificacion de solicitud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Activacion de cuenta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Recuperacion de contrasena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MFA tecnico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Aviso de rechazo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833D4F6-6461-6404-5CC8-A8AF549C4DF2}"/>
              </a:ext>
            </a:extLst>
          </p:cNvPr>
          <p:cNvSpPr/>
          <p:nvPr/>
        </p:nvSpPr>
        <p:spPr>
          <a:xfrm>
            <a:off x="4597400" y="20320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86E8B70-9A97-A59B-3BF2-43F7B273C367}"/>
              </a:ext>
            </a:extLst>
          </p:cNvPr>
          <p:cNvSpPr txBox="1"/>
          <p:nvPr/>
        </p:nvSpPr>
        <p:spPr>
          <a:xfrm>
            <a:off x="4876800" y="2159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1. Registro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36AD5C9-DA30-BD9E-D349-51EFD08D301A}"/>
              </a:ext>
            </a:extLst>
          </p:cNvPr>
          <p:cNvSpPr txBox="1"/>
          <p:nvPr/>
        </p:nvSpPr>
        <p:spPr>
          <a:xfrm>
            <a:off x="6604000" y="2159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empresa envia la solicitud.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6486B53-C0B3-3CEC-50CD-AD6DFDCD8DB7}"/>
              </a:ext>
            </a:extLst>
          </p:cNvPr>
          <p:cNvSpPr/>
          <p:nvPr/>
        </p:nvSpPr>
        <p:spPr>
          <a:xfrm>
            <a:off x="4597400" y="28956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9E83C5C-D7AA-0B77-A468-718A426FADC8}"/>
              </a:ext>
            </a:extLst>
          </p:cNvPr>
          <p:cNvSpPr txBox="1"/>
          <p:nvPr/>
        </p:nvSpPr>
        <p:spPr>
          <a:xfrm>
            <a:off x="4876800" y="30226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2. Verificacion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330EEA6-2376-81FB-AE65-3B8744BB9603}"/>
              </a:ext>
            </a:extLst>
          </p:cNvPr>
          <p:cNvSpPr txBox="1"/>
          <p:nvPr/>
        </p:nvSpPr>
        <p:spPr>
          <a:xfrm>
            <a:off x="6604000" y="30226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Recibe enlace y confirma correo.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1FDF2267-131A-C751-687C-166852FF3B52}"/>
              </a:ext>
            </a:extLst>
          </p:cNvPr>
          <p:cNvSpPr/>
          <p:nvPr/>
        </p:nvSpPr>
        <p:spPr>
          <a:xfrm>
            <a:off x="4597400" y="37592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CB386C5-F39C-3FC0-0F45-51A2612BCF1B}"/>
              </a:ext>
            </a:extLst>
          </p:cNvPr>
          <p:cNvSpPr txBox="1"/>
          <p:nvPr/>
        </p:nvSpPr>
        <p:spPr>
          <a:xfrm>
            <a:off x="4876800" y="38862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3. Revision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2DDCB08-4518-EB21-7ACD-F5FDF90651E0}"/>
              </a:ext>
            </a:extLst>
          </p:cNvPr>
          <p:cNvSpPr txBox="1"/>
          <p:nvPr/>
        </p:nvSpPr>
        <p:spPr>
          <a:xfrm>
            <a:off x="6604000" y="3886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El centro aprueba o rechaza.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320F2B7-174C-1027-38D7-ECFF71D80656}"/>
              </a:ext>
            </a:extLst>
          </p:cNvPr>
          <p:cNvSpPr/>
          <p:nvPr/>
        </p:nvSpPr>
        <p:spPr>
          <a:xfrm>
            <a:off x="4597400" y="46228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FB53001C-A200-2209-3614-1259FBB90E1D}"/>
              </a:ext>
            </a:extLst>
          </p:cNvPr>
          <p:cNvSpPr txBox="1"/>
          <p:nvPr/>
        </p:nvSpPr>
        <p:spPr>
          <a:xfrm>
            <a:off x="4876800" y="47498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4. Resultado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71A4644-3886-B7F2-8B3F-ADB935E517C2}"/>
              </a:ext>
            </a:extLst>
          </p:cNvPr>
          <p:cNvSpPr txBox="1"/>
          <p:nvPr/>
        </p:nvSpPr>
        <p:spPr>
          <a:xfrm>
            <a:off x="6604000" y="4749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Si se rechaza llega correo y el estado sigue visible en el portal.</a:t>
            </a:r>
          </a:p>
        </p:txBody>
      </p:sp>
    </p:spTree>
    <p:extLst>
      <p:ext uri="{BB962C8B-B14F-4D97-AF65-F5344CB8AC3E}">
        <p14:creationId xmlns:p14="http://schemas.microsoft.com/office/powerpoint/2010/main" val="3510644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CEEDE5F-50BB-0917-399B-C8FB6165E00C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10 / DOMINIO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3804E9C-6A0D-07F4-AB1E-A3F992B98FA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resuelvo el acceso publico y los enlaces de correo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9394BCA-BA92-1008-BE68-D26ED27277C6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problema ya no es una IP local incrustada: la plataforma publica una URL HTTPS estable sobre la VM cloud.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A08D243-A7CA-D48E-592D-D1455304947E}"/>
              </a:ext>
            </a:extLst>
          </p:cNvPr>
          <p:cNvSpPr/>
          <p:nvPr/>
        </p:nvSpPr>
        <p:spPr>
          <a:xfrm>
            <a:off x="9144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FC70503-32F7-AB23-6077-DB168DA4F5EE}"/>
              </a:ext>
            </a:extLst>
          </p:cNvPr>
          <p:cNvSpPr txBox="1"/>
          <p:nvPr/>
        </p:nvSpPr>
        <p:spPr>
          <a:xfrm>
            <a:off x="12192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Infraestructura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A6A47F9-1C47-765B-E66E-F0E29EB720CC}"/>
              </a:ext>
            </a:extLst>
          </p:cNvPr>
          <p:cNvSpPr txBox="1"/>
          <p:nvPr/>
        </p:nvSpPr>
        <p:spPr>
          <a:xfrm>
            <a:off x="1219200" y="31242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>
                <a:solidFill>
                  <a:srgbClr val="1F2937"/>
                </a:solidFill>
                <a:latin typeface="Consolas" panose="020B0609020204030204" pitchFamily="49" charset="0"/>
              </a:rPr>
              <a:t>GCP + Docker Compose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E3EC0F7-D648-EAAB-3301-1960AE2E2FA6}"/>
              </a:ext>
            </a:extLst>
          </p:cNvPr>
          <p:cNvSpPr/>
          <p:nvPr/>
        </p:nvSpPr>
        <p:spPr>
          <a:xfrm>
            <a:off x="47752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8BF4BF4-695A-D88E-1F0F-1EB784C5D477}"/>
              </a:ext>
            </a:extLst>
          </p:cNvPr>
          <p:cNvSpPr txBox="1"/>
          <p:nvPr/>
        </p:nvSpPr>
        <p:spPr>
          <a:xfrm>
            <a:off x="51308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Borde HTTPS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F00DB8B-7F11-3273-5889-9453992EA05C}"/>
              </a:ext>
            </a:extLst>
          </p:cNvPr>
          <p:cNvSpPr txBox="1"/>
          <p:nvPr/>
        </p:nvSpPr>
        <p:spPr>
          <a:xfrm>
            <a:off x="5410200" y="3124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Consolas" panose="020B0609020204030204" pitchFamily="49" charset="0"/>
              </a:rPr>
              <a:t>Caddy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4711F600-0351-B6A8-7F18-D27788BD4C54}"/>
              </a:ext>
            </a:extLst>
          </p:cNvPr>
          <p:cNvSpPr/>
          <p:nvPr/>
        </p:nvSpPr>
        <p:spPr>
          <a:xfrm>
            <a:off x="8255000" y="2463800"/>
            <a:ext cx="3073400" cy="11684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6138A3E-6C95-0782-580B-B7ED3EDDCC21}"/>
              </a:ext>
            </a:extLst>
          </p:cNvPr>
          <p:cNvSpPr txBox="1"/>
          <p:nvPr/>
        </p:nvSpPr>
        <p:spPr>
          <a:xfrm>
            <a:off x="8559800" y="27178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URL publica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48DFCA-94A5-8E0A-C947-1CDD1AB1A164}"/>
              </a:ext>
            </a:extLst>
          </p:cNvPr>
          <p:cNvSpPr txBox="1"/>
          <p:nvPr/>
        </p:nvSpPr>
        <p:spPr>
          <a:xfrm>
            <a:off x="8483600" y="3124200"/>
            <a:ext cx="2641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900">
                <a:solidFill>
                  <a:srgbClr val="F6F8FC"/>
                </a:solidFill>
                <a:latin typeface="Consolas" panose="020B0609020204030204" pitchFamily="49" charset="0"/>
              </a:rPr>
              <a:t>https://agora.34.175.225.98...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E5CC75F-F5EF-31C9-EC42-68947BF0DFDB}"/>
              </a:ext>
            </a:extLst>
          </p:cNvPr>
          <p:cNvSpPr txBox="1"/>
          <p:nvPr/>
        </p:nvSpPr>
        <p:spPr>
          <a:xfrm>
            <a:off x="1168400" y="4216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portal externo y los correos usan ya el origen publico correcto de la VM.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APP_EXTERNAL_BASE_URL fija la URL canonica para enlaces y notificaciones.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siguiente paso natural seria cambiar nip.io por dominio institucional propio.</a:t>
            </a:r>
          </a:p>
        </p:txBody>
      </p:sp>
    </p:spTree>
    <p:extLst>
      <p:ext uri="{BB962C8B-B14F-4D97-AF65-F5344CB8AC3E}">
        <p14:creationId xmlns:p14="http://schemas.microsoft.com/office/powerpoint/2010/main" val="2469724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B7D82D7-B708-D180-EFB4-6C21EF8B331C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11 / MENSAJERIA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FADF928-4261-2380-B043-AEF1226E6AF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Bandeja y chat con actualizacion automatica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0E91017-F843-F648-311B-F90979922D69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comunicacion entre centro y empresa no depende ya de recargar la pagina a mano.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FCDCC7E-691C-B01A-77BD-D8B6B8C710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028825"/>
            <a:ext cx="6604000" cy="37147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53A1019-86EF-FDFC-F858-663ED918FAF0}"/>
              </a:ext>
            </a:extLst>
          </p:cNvPr>
          <p:cNvSpPr/>
          <p:nvPr/>
        </p:nvSpPr>
        <p:spPr>
          <a:xfrm>
            <a:off x="7874000" y="2082800"/>
            <a:ext cx="3175000" cy="1066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CE17BF1-6AD2-F32C-9450-44ACDA473674}"/>
              </a:ext>
            </a:extLst>
          </p:cNvPr>
          <p:cNvSpPr txBox="1"/>
          <p:nvPr/>
        </p:nvSpPr>
        <p:spPr>
          <a:xfrm>
            <a:off x="8255000" y="2336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Actualizacion automatica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A4A0975-109E-4A3F-4B54-EFDA114C070B}"/>
              </a:ext>
            </a:extLst>
          </p:cNvPr>
          <p:cNvSpPr txBox="1"/>
          <p:nvPr/>
        </p:nvSpPr>
        <p:spPr>
          <a:xfrm>
            <a:off x="8813800" y="27178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F6F8FC"/>
                </a:solidFill>
                <a:latin typeface="Segoe UI" panose="020B0502040204020203" pitchFamily="34" charset="0"/>
              </a:rPr>
              <a:t>5 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BF088D-72A3-3D27-051A-1B4A038ED58F}"/>
              </a:ext>
            </a:extLst>
          </p:cNvPr>
          <p:cNvSpPr txBox="1"/>
          <p:nvPr/>
        </p:nvSpPr>
        <p:spPr>
          <a:xfrm>
            <a:off x="7924800" y="3479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Refresco periodico del chat y de la bandeja.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Nueva carga cuando la ventana recupera el foco.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La empresa tambien ve cambios en su panel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El rechazo queda comunicado por correo y visible en estado.</a:t>
            </a:r>
          </a:p>
        </p:txBody>
      </p:sp>
    </p:spTree>
    <p:extLst>
      <p:ext uri="{BB962C8B-B14F-4D97-AF65-F5344CB8AC3E}">
        <p14:creationId xmlns:p14="http://schemas.microsoft.com/office/powerpoint/2010/main" val="3632644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6A78540-E163-B045-AC3A-A21791E4B81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12 / AGORA DESKTOP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24BB97B-08C7-2FD3-87D1-4D571DA1EB5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Consola tecnica local y cloud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515BA48-9782-B0B0-ABA3-86A36CC8BA90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parte tecnica ya no depende de varios terminales sueltos ni de una pagina web separada: queda centralizada en una sola app.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1D285CA-55C4-F977-7CF5-70DB4D2C5C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471" y="1879600"/>
            <a:ext cx="3981459" cy="40386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1E57BAD-3F1E-06EE-E8B0-E17A430D6065}"/>
              </a:ext>
            </a:extLst>
          </p:cNvPr>
          <p:cNvSpPr txBox="1"/>
          <p:nvPr/>
        </p:nvSpPr>
        <p:spPr>
          <a:xfrm>
            <a:off x="6858000" y="20574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local para backend, SQLite y demo offline.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cloud para estado, smoke, logs y reinicios remotos.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MFA en operaciones sensibles del flujo local.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Diagnostico, logs y backups desde una sola interfaz.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Empaquetado Windows listo para la defensa.</a:t>
            </a:r>
          </a:p>
        </p:txBody>
      </p:sp>
    </p:spTree>
    <p:extLst>
      <p:ext uri="{BB962C8B-B14F-4D97-AF65-F5344CB8AC3E}">
        <p14:creationId xmlns:p14="http://schemas.microsoft.com/office/powerpoint/2010/main" val="3572334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5AE60CF-E363-2B77-E838-C415AFE3598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13 / VALIDACION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345F1B8-1C3A-3B10-C5A6-DE1CB265F91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Comprobaciones ejecutadas antes de la revision final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0A90649-836B-F320-C443-410EE1435B1E}"/>
              </a:ext>
            </a:extLst>
          </p:cNvPr>
          <p:cNvSpPr/>
          <p:nvPr/>
        </p:nvSpPr>
        <p:spPr>
          <a:xfrm>
            <a:off x="8890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A32F3C5-F477-675B-904F-367B449B30C3}"/>
              </a:ext>
            </a:extLst>
          </p:cNvPr>
          <p:cNvSpPr txBox="1"/>
          <p:nvPr/>
        </p:nvSpPr>
        <p:spPr>
          <a:xfrm>
            <a:off x="11176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110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04E598E-D48E-B088-0D0B-9388D2FC5F4A}"/>
              </a:ext>
            </a:extLst>
          </p:cNvPr>
          <p:cNvSpPr txBox="1"/>
          <p:nvPr/>
        </p:nvSpPr>
        <p:spPr>
          <a:xfrm>
            <a:off x="11176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E6487A0-3224-A6D8-B359-0197FDA6444F}"/>
              </a:ext>
            </a:extLst>
          </p:cNvPr>
          <p:cNvSpPr/>
          <p:nvPr/>
        </p:nvSpPr>
        <p:spPr>
          <a:xfrm>
            <a:off x="37084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5614C6C-273F-16ED-15D0-483983C97A65}"/>
              </a:ext>
            </a:extLst>
          </p:cNvPr>
          <p:cNvSpPr txBox="1"/>
          <p:nvPr/>
        </p:nvSpPr>
        <p:spPr>
          <a:xfrm>
            <a:off x="39370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628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8077E7A-068F-2D77-2B1B-E8861C37ADB6}"/>
              </a:ext>
            </a:extLst>
          </p:cNvPr>
          <p:cNvSpPr txBox="1"/>
          <p:nvPr/>
        </p:nvSpPr>
        <p:spPr>
          <a:xfrm>
            <a:off x="39370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aserciones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305A896B-439F-8186-6897-B359BC044784}"/>
              </a:ext>
            </a:extLst>
          </p:cNvPr>
          <p:cNvSpPr/>
          <p:nvPr/>
        </p:nvSpPr>
        <p:spPr>
          <a:xfrm>
            <a:off x="65278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ADC988E-5836-9656-712D-3215B31FE7BF}"/>
              </a:ext>
            </a:extLst>
          </p:cNvPr>
          <p:cNvSpPr txBox="1"/>
          <p:nvPr/>
        </p:nvSpPr>
        <p:spPr>
          <a:xfrm>
            <a:off x="67564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14/14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21C7DB2-EE2A-0A1F-4162-D417B0F42D11}"/>
              </a:ext>
            </a:extLst>
          </p:cNvPr>
          <p:cNvSpPr txBox="1"/>
          <p:nvPr/>
        </p:nvSpPr>
        <p:spPr>
          <a:xfrm>
            <a:off x="67564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frontend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B5B5511-EA4D-2EE1-1213-81E93F30634A}"/>
              </a:ext>
            </a:extLst>
          </p:cNvPr>
          <p:cNvSpPr/>
          <p:nvPr/>
        </p:nvSpPr>
        <p:spPr>
          <a:xfrm>
            <a:off x="93472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A772EB-F063-0849-8BFF-693972605AC4}"/>
              </a:ext>
            </a:extLst>
          </p:cNvPr>
          <p:cNvSpPr txBox="1"/>
          <p:nvPr/>
        </p:nvSpPr>
        <p:spPr>
          <a:xfrm>
            <a:off x="95758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6/6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A8E837A-F4C8-C811-0E70-980D4A2F5CEF}"/>
              </a:ext>
            </a:extLst>
          </p:cNvPr>
          <p:cNvSpPr txBox="1"/>
          <p:nvPr/>
        </p:nvSpPr>
        <p:spPr>
          <a:xfrm>
            <a:off x="95758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E2E Playwright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EB59DB2-FCAD-9268-E5F8-4DF8C6FC3CFA}"/>
              </a:ext>
            </a:extLst>
          </p:cNvPr>
          <p:cNvSpPr txBox="1"/>
          <p:nvPr/>
        </p:nvSpPr>
        <p:spPr>
          <a:xfrm>
            <a:off x="1193800" y="39878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Build integrada de /app y /externo publicada en Symfony.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Verificados correo, rechazo, URLs publicas, chat y consola tecnica de escritorio.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Tambien se ha validado el empaquetado Windows con PHP embebido y SQLite.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23E7F99-4563-27D9-DD28-122A6E1B635A}"/>
              </a:ext>
            </a:extLst>
          </p:cNvPr>
          <p:cNvSpPr txBox="1"/>
          <p:nvPr/>
        </p:nvSpPr>
        <p:spPr>
          <a:xfrm>
            <a:off x="1193800" y="5562600"/>
            <a:ext cx="927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Queda una deprecacion tecnica de PHPUnit, no bloqueante para la demo ni para la funcionalidad.</a:t>
            </a:r>
          </a:p>
        </p:txBody>
      </p:sp>
    </p:spTree>
    <p:extLst>
      <p:ext uri="{BB962C8B-B14F-4D97-AF65-F5344CB8AC3E}">
        <p14:creationId xmlns:p14="http://schemas.microsoft.com/office/powerpoint/2010/main" val="1833900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3F4C206-8459-F939-248A-3FB31B3C47E2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14 / ACCESO DE EVALUACION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536A14B-98AD-330D-E3A2-5F9C5FECCDBE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puede probarla la profesora desde fuera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23D2F72-8993-A09C-30B6-5CF217848F11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Con la VM levantada no necesita instalar dependencias en su equipo.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16CFE9C-F638-2584-7F3C-213C43EF5B70}"/>
              </a:ext>
            </a:extLst>
          </p:cNvPr>
          <p:cNvSpPr/>
          <p:nvPr/>
        </p:nvSpPr>
        <p:spPr>
          <a:xfrm>
            <a:off x="863600" y="2006600"/>
            <a:ext cx="104648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854F5D6-9D86-50AB-E2B3-EB4E442655C9}"/>
              </a:ext>
            </a:extLst>
          </p:cNvPr>
          <p:cNvSpPr txBox="1"/>
          <p:nvPr/>
        </p:nvSpPr>
        <p:spPr>
          <a:xfrm>
            <a:off x="12446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 b="1">
                <a:solidFill>
                  <a:srgbClr val="4975B0"/>
                </a:solidFill>
                <a:latin typeface="Consolas" panose="020B0609020204030204" pitchFamily="49" charset="0"/>
              </a:rPr>
              <a:t>\https://agora.34.175.225.98.nip.io/app   |   https://agora.34.175.225.98.nip.io/externo\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9AF8D8-CD8A-01CD-7F41-07B8C580CB33}"/>
              </a:ext>
            </a:extLst>
          </p:cNvPr>
          <p:cNvSpPr txBox="1"/>
          <p:nvPr/>
        </p:nvSpPr>
        <p:spPr>
          <a:xfrm>
            <a:off x="1295400" y="279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misma base sirve panel interno, portal externo y documentacion; la operacion tecnica se hace desde Agora Desktop.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A074F37-BF29-B61B-C7A0-718A5DEC485C}"/>
              </a:ext>
            </a:extLst>
          </p:cNvPr>
          <p:cNvSpPr/>
          <p:nvPr/>
        </p:nvSpPr>
        <p:spPr>
          <a:xfrm>
            <a:off x="1092200" y="3835400"/>
            <a:ext cx="4064000" cy="14986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2AC185B-6514-73F1-A3E5-E984F68B9902}"/>
              </a:ext>
            </a:extLst>
          </p:cNvPr>
          <p:cNvSpPr txBox="1"/>
          <p:nvPr/>
        </p:nvSpPr>
        <p:spPr>
          <a:xfrm>
            <a:off x="14986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Usuario de prueba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8D14FB8-A2EC-B48D-803C-8DCBB99BEF42}"/>
              </a:ext>
            </a:extLst>
          </p:cNvPr>
          <p:cNvSpPr txBox="1"/>
          <p:nvPr/>
        </p:nvSpPr>
        <p:spPr>
          <a:xfrm>
            <a:off x="1498600" y="4597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F6F8FC"/>
                </a:solidFill>
                <a:latin typeface="Consolas" panose="020B0609020204030204" pitchFamily="49" charset="0"/>
              </a:rPr>
              <a:t>profesora / Abrete01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4F3486F-329C-AFD2-5979-CCFAC7EA8CAE}"/>
              </a:ext>
            </a:extLst>
          </p:cNvPr>
          <p:cNvSpPr txBox="1"/>
          <p:nvPr/>
        </p:nvSpPr>
        <p:spPr>
          <a:xfrm>
            <a:off x="1498600" y="49784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Rol: coordinacion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D511053-1A70-2E09-E182-03F420080343}"/>
              </a:ext>
            </a:extLst>
          </p:cNvPr>
          <p:cNvSpPr txBox="1"/>
          <p:nvPr/>
        </p:nvSpPr>
        <p:spPr>
          <a:xfrm>
            <a:off x="5969000" y="38862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Puede revisar solicitudes, convenios, asignaciones y mensajes.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La empresa prueba el recorrido por /externo.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acceso remoto depende de que la VM siga activa.</a:t>
            </a:r>
          </a:p>
        </p:txBody>
      </p:sp>
    </p:spTree>
    <p:extLst>
      <p:ext uri="{BB962C8B-B14F-4D97-AF65-F5344CB8AC3E}">
        <p14:creationId xmlns:p14="http://schemas.microsoft.com/office/powerpoint/2010/main" val="4148631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B5CBCEC-03B0-5983-7141-BA1810FA18B9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15 / ALCANCE Y FUTURO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776B045-5ED7-50C1-623F-C7BB99EA094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cerrado y que se deja para despues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B2033FE-0561-28AC-FCA8-AB0CBF99D9A4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nucleo funcional y tecnico ya esta entregado; las mejoras futuras endurecen o amplian, pero no bloquean la defensa.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28BC6F7-336F-F92E-29E5-C7676A1C0506}"/>
              </a:ext>
            </a:extLst>
          </p:cNvPr>
          <p:cNvSpPr/>
          <p:nvPr/>
        </p:nvSpPr>
        <p:spPr>
          <a:xfrm>
            <a:off x="711200" y="2159000"/>
            <a:ext cx="3429000" cy="2717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616075B-EBFC-AF2A-D441-CA625A64DB9E}"/>
              </a:ext>
            </a:extLst>
          </p:cNvPr>
          <p:cNvSpPr txBox="1"/>
          <p:nvPr/>
        </p:nvSpPr>
        <p:spPr>
          <a:xfrm>
            <a:off x="1016000" y="2438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Cerrado en esta entrega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33A05D1-2367-AE95-42A7-15FE4AFB453E}"/>
              </a:ext>
            </a:extLst>
          </p:cNvPr>
          <p:cNvSpPr txBox="1"/>
          <p:nvPr/>
        </p:nvSpPr>
        <p:spPr>
          <a:xfrm>
            <a:off x="1041400" y="2946400"/>
            <a:ext cx="269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Portales /app y /externo bajo HTTPS.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Correo real, documentos, chat y exportacion.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Agora Desktop local/cloud como consola tecnica.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VM publica con arranque automatico y URL efectiva visible.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5120959-4246-3FE9-1B92-CE3BC5DEB55A}"/>
              </a:ext>
            </a:extLst>
          </p:cNvPr>
          <p:cNvSpPr/>
          <p:nvPr/>
        </p:nvSpPr>
        <p:spPr>
          <a:xfrm>
            <a:off x="4521200" y="22352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5E495AE-6705-AF48-3376-84A0E6C5C1E5}"/>
              </a:ext>
            </a:extLst>
          </p:cNvPr>
          <p:cNvSpPr txBox="1"/>
          <p:nvPr/>
        </p:nvSpPr>
        <p:spPr>
          <a:xfrm>
            <a:off x="4749800" y="24130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1A772"/>
                </a:solidFill>
                <a:latin typeface="Segoe UI" panose="020B0502040204020203" pitchFamily="34" charset="0"/>
              </a:rPr>
              <a:t>Dominio propio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693FBB9-0DB6-D935-E315-EF7815C19D0D}"/>
              </a:ext>
            </a:extLst>
          </p:cNvPr>
          <p:cNvSpPr txBox="1"/>
          <p:nvPr/>
        </p:nvSpPr>
        <p:spPr>
          <a:xfrm>
            <a:off x="4749800" y="2768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Sustituir nip.io por dominio institucional y reforzar TLS.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6EF31EE-7914-1FBB-C311-57DDB8C76FA7}"/>
              </a:ext>
            </a:extLst>
          </p:cNvPr>
          <p:cNvSpPr/>
          <p:nvPr/>
        </p:nvSpPr>
        <p:spPr>
          <a:xfrm>
            <a:off x="7975600" y="22352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9B47D44-C6F5-7496-9F88-919F244828B7}"/>
              </a:ext>
            </a:extLst>
          </p:cNvPr>
          <p:cNvSpPr txBox="1"/>
          <p:nvPr/>
        </p:nvSpPr>
        <p:spPr>
          <a:xfrm>
            <a:off x="8204200" y="24130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B1D2"/>
                </a:solidFill>
                <a:latin typeface="Segoe UI" panose="020B0502040204020203" pitchFamily="34" charset="0"/>
              </a:rPr>
              <a:t>Servicios gestionados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1AE0AD6-88DE-6861-29B6-748240F58BB0}"/>
              </a:ext>
            </a:extLst>
          </p:cNvPr>
          <p:cNvSpPr txBox="1"/>
          <p:nvPr/>
        </p:nvSpPr>
        <p:spPr>
          <a:xfrm>
            <a:off x="8204200" y="2768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Mover documentos, backups y observabilidad a piezas gestionadas.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CFA353E8-3014-76E1-58B0-D739ED35FBF6}"/>
              </a:ext>
            </a:extLst>
          </p:cNvPr>
          <p:cNvSpPr/>
          <p:nvPr/>
        </p:nvSpPr>
        <p:spPr>
          <a:xfrm>
            <a:off x="4521200" y="37338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4183F15-1129-087E-1A27-21B234E62411}"/>
              </a:ext>
            </a:extLst>
          </p:cNvPr>
          <p:cNvSpPr txBox="1"/>
          <p:nvPr/>
        </p:nvSpPr>
        <p:spPr>
          <a:xfrm>
            <a:off x="4749800" y="39116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Cliente tecnico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BBB3881-FAA5-224E-B2A1-C0CE0CB227F4}"/>
              </a:ext>
            </a:extLst>
          </p:cNvPr>
          <p:cNvSpPr txBox="1"/>
          <p:nvPr/>
        </p:nvSpPr>
        <p:spPr>
          <a:xfrm>
            <a:off x="4749800" y="426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Ampliar Agora Desktop sin mezclar soporte con negocio.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33E648D-304F-1E51-8C24-192548D7542B}"/>
              </a:ext>
            </a:extLst>
          </p:cNvPr>
          <p:cNvSpPr txBox="1"/>
          <p:nvPr/>
        </p:nvSpPr>
        <p:spPr>
          <a:xfrm>
            <a:off x="1016000" y="5257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prioridad futura no es anadir modulos sin control, sino endurecer despliegue, seguridad y soporte.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Las funciones secundarias quedan identificadas para justificar con claridad el recorte de alcance.</a:t>
            </a:r>
          </a:p>
        </p:txBody>
      </p:sp>
    </p:spTree>
    <p:extLst>
      <p:ext uri="{BB962C8B-B14F-4D97-AF65-F5344CB8AC3E}">
        <p14:creationId xmlns:p14="http://schemas.microsoft.com/office/powerpoint/2010/main" val="42883489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3A5D2F9-AF48-EBB4-7F27-9300C0C11E3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16 / LIMITACIONES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5E0E42-9ED7-0158-57C0-58EFCAD1EE35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fuera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B0A7C40-A46C-523E-8A41-1419EA7C2BD7}"/>
              </a:ext>
            </a:extLst>
          </p:cNvPr>
          <p:cNvSpPr txBox="1"/>
          <p:nvPr/>
        </p:nvSpPr>
        <p:spPr>
          <a:xfrm>
            <a:off x="990600" y="20320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Despliegue permanente completamente automatizado.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Integracion con SSO o identidad corporativa.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Firma electronica avanzada.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Almacenamiento documental en nube gestionada.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Perfilado profundo de rendimiento en produccion.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CCFF1FD8-4B20-AF2A-7061-A654004E9755}"/>
              </a:ext>
            </a:extLst>
          </p:cNvPr>
          <p:cNvSpPr/>
          <p:nvPr/>
        </p:nvSpPr>
        <p:spPr>
          <a:xfrm>
            <a:off x="6807200" y="2057400"/>
            <a:ext cx="4064000" cy="2667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014CB03-D51D-37C3-75A1-85002D142207}"/>
              </a:ext>
            </a:extLst>
          </p:cNvPr>
          <p:cNvSpPr txBox="1"/>
          <p:nvPr/>
        </p:nvSpPr>
        <p:spPr>
          <a:xfrm>
            <a:off x="7213600" y="24384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Siguiente iteracion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06BCA0E-8AB9-A855-0D30-3D091A3A4418}"/>
              </a:ext>
            </a:extLst>
          </p:cNvPr>
          <p:cNvSpPr txBox="1"/>
          <p:nvPr/>
        </p:nvSpPr>
        <p:spPr>
          <a:xfrm>
            <a:off x="7213600" y="3098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Despliegue estable, dominio propio, base de datos de servidor y seguridad endurecida.</a:t>
            </a:r>
          </a:p>
        </p:txBody>
      </p:sp>
    </p:spTree>
    <p:extLst>
      <p:ext uri="{BB962C8B-B14F-4D97-AF65-F5344CB8AC3E}">
        <p14:creationId xmlns:p14="http://schemas.microsoft.com/office/powerpoint/2010/main" val="990444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36CED16-AF6D-6F19-B5C9-667A760854D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17 / CIERRE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BF3C10-C8F8-D4EA-C929-9C9E13152A42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Resultado defendible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EB16D0E-93DC-A5D4-428C-CB7F5AF93E7B}"/>
              </a:ext>
            </a:extLst>
          </p:cNvPr>
          <p:cNvSpPr txBox="1"/>
          <p:nvPr/>
        </p:nvSpPr>
        <p:spPr>
          <a:xfrm>
            <a:off x="1168400" y="200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El proyecto transforma una gestion dispersa en una plataforma web funcional, trazable y documentada para empresas colaboradoras y practicas de FP Dual.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3F4D4A8-FAE3-468C-B4E0-177E55140173}"/>
              </a:ext>
            </a:extLst>
          </p:cNvPr>
          <p:cNvSpPr txBox="1"/>
          <p:nvPr/>
        </p:nvSpPr>
        <p:spPr>
          <a:xfrm>
            <a:off x="1625600" y="40894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Problema real del centro.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Arquitectura completa con backend, dos frontends y operacion local.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Validacion tecnica, empaquetado y demo preparados.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80A97D4-C6A7-C8B0-B201-F15B6F610839}"/>
              </a:ext>
            </a:extLst>
          </p:cNvPr>
          <p:cNvSpPr txBox="1"/>
          <p:nvPr/>
        </p:nvSpPr>
        <p:spPr>
          <a:xfrm>
            <a:off x="4191000" y="594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200" b="1">
                <a:solidFill>
                  <a:srgbClr val="DBA14D"/>
                </a:solidFill>
                <a:latin typeface="Segoe UI" panose="020B0502040204020203" pitchFamily="34" charset="0"/>
              </a:rPr>
              <a:t>Demo y preguntas</a:t>
            </a:r>
          </a:p>
        </p:txBody>
      </p:sp>
    </p:spTree>
    <p:extLst>
      <p:ext uri="{BB962C8B-B14F-4D97-AF65-F5344CB8AC3E}">
        <p14:creationId xmlns:p14="http://schemas.microsoft.com/office/powerpoint/2010/main" val="5896559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1313</Words>
  <Application>Microsoft Office PowerPoint</Application>
  <PresentationFormat>Personalizado</PresentationFormat>
  <Paragraphs>177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Consolas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Ángel Méndez Minda</dc:creator>
  <cp:lastModifiedBy>Luis Ángel Méndez Minda</cp:lastModifiedBy>
  <cp:revision>1</cp:revision>
  <dcterms:created xsi:type="dcterms:W3CDTF">2026-05-27T16:55:11Z</dcterms:created>
  <dcterms:modified xsi:type="dcterms:W3CDTF">2026-05-27T16:55:11Z</dcterms:modified>
</cp:coreProperties>
</file>