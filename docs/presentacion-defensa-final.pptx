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108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E5A7B3-DB98-1D89-F899-AEC08AFD84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3B5CC5E-E153-4CC1-0813-8C99F904C1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8A4332-47F2-93D2-AB2C-A89BCEA66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B0E9B-2144-47A1-BEC6-FBFA1BF47B9A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2D96030-1D67-E65E-DB5F-CBD17F2EC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DA5BFA-B198-26BC-2677-BF1D00F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04229-7FF9-4687-89EB-F65AD4937D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3882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58301A-E34A-93A9-0EE8-5E6C6C335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8593C7-26A1-78E2-69F6-BD574A29B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09F172-327B-CBF2-F971-57E7C1559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B0E9B-2144-47A1-BEC6-FBFA1BF47B9A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19C2CBD-DEAA-5EA7-C39D-4B230AB17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F4C82BB-CCC2-3BF9-5E6D-91C9698EE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04229-7FF9-4687-89EB-F65AD4937D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624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843CB4-4338-B537-F980-EA3217DF0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610A105-7FAF-036D-185F-D6E29BB95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B8FFD8-6642-3AAA-05D7-101DE947E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B0E9B-2144-47A1-BEC6-FBFA1BF47B9A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383495-DBAC-C793-E0B1-2CA391BBB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B46BD9-82AB-168B-18ED-3666A11F1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04229-7FF9-4687-89EB-F65AD4937D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59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B6829B-26C7-40A3-0CD7-3B4A42135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14E2ED6-9A55-433D-7730-CD0C8AB7A1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2351AF7-016A-52D6-1F8A-E87D7419ED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1FDFD63-C6D8-D2A5-8CA3-38683E9E3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B0E9B-2144-47A1-BEC6-FBFA1BF47B9A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46A1384-02F1-C06A-7E34-25130922E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1C3B1EA-F757-9D55-1AC4-5FB6CBFDD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04229-7FF9-4687-89EB-F65AD4937D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47465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6C8622-C583-E73F-E2FE-2AD78D859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A49F940-56D2-8A35-A8C7-A62030CB84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51D7EC0-74F4-2C5B-C59C-049BFFA275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870369B-DBB9-CB84-BFC9-D652F39756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E78608E-F504-CC1C-8217-8AECAB0825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2B8B12D-2958-7A7E-6005-8AFBAA0B9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B0E9B-2144-47A1-BEC6-FBFA1BF47B9A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52F9287-2740-9215-CB24-94B600180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B923351-39C6-10F8-E0C0-1DEB71FB2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04229-7FF9-4687-89EB-F65AD4937D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784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C254E7-7200-2664-1595-101278E12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E82FA4E-DD4B-42C6-9BC3-0CD887AA8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B0E9B-2144-47A1-BEC6-FBFA1BF47B9A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4B9C0D3-5CF6-CA85-139A-B689AB85C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F1573AC-F3ED-7368-9D96-BA78EB9BF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04229-7FF9-4687-89EB-F65AD4937D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94678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02D1CE3-AB36-74BD-BABB-158101B7E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B0E9B-2144-47A1-BEC6-FBFA1BF47B9A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47C11AF-D7ED-9035-5AE1-94989847E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9E9E6E0-BE16-582E-A665-8F31D3A08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04229-7FF9-4687-89EB-F65AD4937D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4897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5F02F0-C58E-B645-72A4-7FD442F7A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BBB3B10-C757-B517-81D5-BC74A178B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E4CB9BB-404A-10D7-8AEE-2DA003001C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5F47C2E-AE3D-F82E-2540-B84293B74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B0E9B-2144-47A1-BEC6-FBFA1BF47B9A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EE92FB6-0429-6B91-BBAF-7DABD52E3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19B694-261B-30E6-A277-B6BDA51BB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04229-7FF9-4687-89EB-F65AD4937D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37122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35C9F3-F7AC-D4F7-4303-9BD416C22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A9A112E-451F-50DC-028D-C6F58F570E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598B36F-615A-BAC7-C33E-7A99411A85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23CA87-0035-81EC-0AB8-5A679616B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B0E9B-2144-47A1-BEC6-FBFA1BF47B9A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6AE9DA7-03F8-4DBB-3A16-971CF6E63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C24F64F-0D50-6B49-18CD-8815D633B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04229-7FF9-4687-89EB-F65AD4937D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68038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E8C88B-F2F7-DCC3-43AD-182093FB7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6A99770-1608-2015-FCD2-10F0095BA8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EBF4A6-FF26-2B06-F6DF-EC0ECEF6A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B0E9B-2144-47A1-BEC6-FBFA1BF47B9A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96AC5AF-FE7B-7662-BB85-20692911A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E231EBB-0FBA-13B3-A8AE-F84AC191D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04229-7FF9-4687-89EB-F65AD4937D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63189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6CCA69A-2F73-48F2-359C-114F96970F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8C87A4B-0718-0903-3B9D-D76B968B51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BD75856-D348-4226-A7DA-F41334648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B0E9B-2144-47A1-BEC6-FBFA1BF47B9A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412906B-0B33-CB15-7EB5-7D302BC48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F564A54-F270-B7FE-A36E-ABC6E2628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04229-7FF9-4687-89EB-F65AD4937D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8810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6291D40-7C43-5C14-7CF7-845E35E72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984FB41-5CA9-FF2E-AE6F-0968E6F637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9EB0A9A-7CC2-6295-0FF7-00B213ECEF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DB0E9B-2144-47A1-BEC6-FBFA1BF47B9A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0213811-A5C7-C833-63EF-E36585B956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D9F55CE-0126-CDF4-D7BC-0DB15CBA6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804229-7FF9-4687-89EB-F65AD4937D3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746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A9B68B07-0E42-3D3A-59AB-75D314A3590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0B0E1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DFB9613-F2EC-9F26-BEDE-17D320311A8E}"/>
              </a:ext>
            </a:extLst>
          </p:cNvPr>
          <p:cNvSpPr txBox="1"/>
          <p:nvPr/>
        </p:nvSpPr>
        <p:spPr>
          <a:xfrm>
            <a:off x="736600" y="6858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DBA14D"/>
                </a:solidFill>
                <a:latin typeface="Segoe UI" panose="020B0502040204020203" pitchFamily="34" charset="0"/>
              </a:rPr>
              <a:t>Trabajo Final de Grado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A48F141-1814-39FD-E775-DA62716C05B7}"/>
              </a:ext>
            </a:extLst>
          </p:cNvPr>
          <p:cNvSpPr txBox="1"/>
          <p:nvPr/>
        </p:nvSpPr>
        <p:spPr>
          <a:xfrm>
            <a:off x="736600" y="1320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4200" b="1">
                <a:solidFill>
                  <a:srgbClr val="F6F8FC"/>
                </a:solidFill>
                <a:latin typeface="Segoe UI" panose="020B0502040204020203" pitchFamily="34" charset="0"/>
              </a:rPr>
              <a:t>Gestion de Empresas Colaboradoras para FP Dual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66FFC5C-8565-D9F3-2B11-D36DA6658618}"/>
              </a:ext>
            </a:extLst>
          </p:cNvPr>
          <p:cNvSpPr txBox="1"/>
          <p:nvPr/>
        </p:nvSpPr>
        <p:spPr>
          <a:xfrm>
            <a:off x="787400" y="3124200"/>
            <a:ext cx="8064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Plataforma web para centralizar empresas, convenios, practicas, solicitudes externas, seguimiento documental y comunicacion empresa-centro.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5176ACD-9518-7C4D-EC15-6D9A1C40E7B5}"/>
              </a:ext>
            </a:extLst>
          </p:cNvPr>
          <p:cNvSpPr txBox="1"/>
          <p:nvPr/>
        </p:nvSpPr>
        <p:spPr>
          <a:xfrm>
            <a:off x="787400" y="52324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Autor: Luis Angel</a:t>
            </a:r>
          </a:p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Tutora: Elena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884051A0-4E18-9663-2F6E-4AD9BB297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968500"/>
            <a:ext cx="4064000" cy="2286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97840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BC4A996-C0DC-0661-E17E-8ED31D136F34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01 / PROBLEMA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3D14285-670D-8745-1CD0-505DD2D0BC25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Punto de partida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F327E35-6509-576A-0D37-8F7EA77DB923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gestion anterior estaba repartida entre hojas de calculo, correos y documentos sin una vista unificada.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303F56F-1DE5-334F-E711-665F5FA30246}"/>
              </a:ext>
            </a:extLst>
          </p:cNvPr>
          <p:cNvSpPr txBox="1"/>
          <p:nvPr/>
        </p:nvSpPr>
        <p:spPr>
          <a:xfrm>
            <a:off x="889000" y="2349500"/>
            <a:ext cx="520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Informacion dispersa entre varias fuentes.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Dificultad para conocer el estado real de convenios, solicitudes y asignaciones.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Dependencia del conocimiento manual de la persona que coordina las practicas.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Poca trazabilidad sobre mensajes, documentos y cambios.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17543611-9206-78E5-230B-C3BC42460A5C}"/>
              </a:ext>
            </a:extLst>
          </p:cNvPr>
          <p:cNvSpPr/>
          <p:nvPr/>
        </p:nvSpPr>
        <p:spPr>
          <a:xfrm>
            <a:off x="7112000" y="2184400"/>
            <a:ext cx="3937000" cy="2413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939EC5F-EB7F-DD90-6838-8B99D7D26098}"/>
              </a:ext>
            </a:extLst>
          </p:cNvPr>
          <p:cNvSpPr txBox="1"/>
          <p:nvPr/>
        </p:nvSpPr>
        <p:spPr>
          <a:xfrm>
            <a:off x="7493000" y="2540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700" b="1">
                <a:solidFill>
                  <a:srgbClr val="DBA14D"/>
                </a:solidFill>
                <a:latin typeface="Segoe UI" panose="020B0502040204020203" pitchFamily="34" charset="0"/>
              </a:rPr>
              <a:t>Necesidad principal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140C953-3759-A7F5-DAA6-AB2EE8DFC2B6}"/>
              </a:ext>
            </a:extLst>
          </p:cNvPr>
          <p:cNvSpPr txBox="1"/>
          <p:nvPr/>
        </p:nvSpPr>
        <p:spPr>
          <a:xfrm>
            <a:off x="7493000" y="3149600"/>
            <a:ext cx="3124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Pasar de una gestion dispersa a una plataforma unica, trazable y defendible.</a:t>
            </a:r>
          </a:p>
        </p:txBody>
      </p:sp>
    </p:spTree>
    <p:extLst>
      <p:ext uri="{BB962C8B-B14F-4D97-AF65-F5344CB8AC3E}">
        <p14:creationId xmlns:p14="http://schemas.microsoft.com/office/powerpoint/2010/main" val="2782718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D860636-5B88-65EB-66C8-525E9B1C5029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02 / OBJETIVOS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73E6A14-075B-6C57-E09D-688C309193E6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tenia que resolver la aplicacion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07AF75E8-38D7-18EA-3A3F-1E7C53957F73}"/>
              </a:ext>
            </a:extLst>
          </p:cNvPr>
          <p:cNvSpPr/>
          <p:nvPr/>
        </p:nvSpPr>
        <p:spPr>
          <a:xfrm>
            <a:off x="7366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952830A-94B6-5754-B734-F9BBA633C170}"/>
              </a:ext>
            </a:extLst>
          </p:cNvPr>
          <p:cNvSpPr txBox="1"/>
          <p:nvPr/>
        </p:nvSpPr>
        <p:spPr>
          <a:xfrm>
            <a:off x="10160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Centralizar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352CCE7-B113-CDC9-3A6B-DB1FC63637ED}"/>
              </a:ext>
            </a:extLst>
          </p:cNvPr>
          <p:cNvSpPr txBox="1"/>
          <p:nvPr/>
        </p:nvSpPr>
        <p:spPr>
          <a:xfrm>
            <a:off x="10160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Empresas, convenios, estudiantes, tutores y asignaciones.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EBFD86C3-8FE0-F47C-76BF-F5F3DA212EC3}"/>
              </a:ext>
            </a:extLst>
          </p:cNvPr>
          <p:cNvSpPr/>
          <p:nvPr/>
        </p:nvSpPr>
        <p:spPr>
          <a:xfrm>
            <a:off x="61341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DA1BC90-8ADD-C160-177E-BDFDF9BF41D7}"/>
              </a:ext>
            </a:extLst>
          </p:cNvPr>
          <p:cNvSpPr txBox="1"/>
          <p:nvPr/>
        </p:nvSpPr>
        <p:spPr>
          <a:xfrm>
            <a:off x="64135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Abrir canal externo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F218EFD-8AC8-6D5D-514C-DDFA96414C7B}"/>
              </a:ext>
            </a:extLst>
          </p:cNvPr>
          <p:cNvSpPr txBox="1"/>
          <p:nvPr/>
        </p:nvSpPr>
        <p:spPr>
          <a:xfrm>
            <a:off x="64135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Registro de empresas, verificacion, estado y cuenta persistente.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67EC4629-F2E7-0F54-0CF6-7300799CA813}"/>
              </a:ext>
            </a:extLst>
          </p:cNvPr>
          <p:cNvSpPr/>
          <p:nvPr/>
        </p:nvSpPr>
        <p:spPr>
          <a:xfrm>
            <a:off x="7366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6F8E751-6AB2-7BE2-E9EF-0168332DF2AC}"/>
              </a:ext>
            </a:extLst>
          </p:cNvPr>
          <p:cNvSpPr txBox="1"/>
          <p:nvPr/>
        </p:nvSpPr>
        <p:spPr>
          <a:xfrm>
            <a:off x="10160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Trazabilidad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234A87B-E86D-5B5C-9A5A-B4AC9EC2DA71}"/>
              </a:ext>
            </a:extLst>
          </p:cNvPr>
          <p:cNvSpPr txBox="1"/>
          <p:nvPr/>
        </p:nvSpPr>
        <p:spPr>
          <a:xfrm>
            <a:off x="10160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Mensajeria, documentos versionados, evidencias y evaluacion final.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D42F7469-EE53-A828-98A4-3CF2E1277762}"/>
              </a:ext>
            </a:extLst>
          </p:cNvPr>
          <p:cNvSpPr/>
          <p:nvPr/>
        </p:nvSpPr>
        <p:spPr>
          <a:xfrm>
            <a:off x="61341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60BBF21-3D4D-94FA-3519-4D64AAC54A71}"/>
              </a:ext>
            </a:extLst>
          </p:cNvPr>
          <p:cNvSpPr txBox="1"/>
          <p:nvPr/>
        </p:nvSpPr>
        <p:spPr>
          <a:xfrm>
            <a:off x="64135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Defensa tecnica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D56B5AF-74E7-D2F9-212A-B052B5521A6F}"/>
              </a:ext>
            </a:extLst>
          </p:cNvPr>
          <p:cNvSpPr txBox="1"/>
          <p:nvPr/>
        </p:nvSpPr>
        <p:spPr>
          <a:xfrm>
            <a:off x="64135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Arquitectura separada, pruebas, demo y documentacion final.</a:t>
            </a:r>
          </a:p>
        </p:txBody>
      </p:sp>
    </p:spTree>
    <p:extLst>
      <p:ext uri="{BB962C8B-B14F-4D97-AF65-F5344CB8AC3E}">
        <p14:creationId xmlns:p14="http://schemas.microsoft.com/office/powerpoint/2010/main" val="2920862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28A9E5C-1A80-0CAB-CDFE-C6322207A13A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03 / ARQUITECTURA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96BA637-4BC9-9863-06B2-643CF9089114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Topologia operativa y de despliegue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3E28275-3FDB-C476-1898-8C59DA2BEAD2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misma URL publica sirve los dos portales, la documentacion y el monitor legacy, mientras el escritorio opera por API y SSH.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C39E8F7-737C-9985-4F61-E7041E46D3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022" y="2006600"/>
            <a:ext cx="6427756" cy="3937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912DDBBC-7C3C-A465-43FB-7E293FA4767D}"/>
              </a:ext>
            </a:extLst>
          </p:cNvPr>
          <p:cNvSpPr txBox="1"/>
          <p:nvPr/>
        </p:nvSpPr>
        <p:spPr>
          <a:xfrm>
            <a:off x="7937500" y="22098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Caddy expone HTTPS y enruta a la aplicacion.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Symfony concentra seguridad, negocio y APIs.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PostgreSQL y documentos persisten fuera del contenedor.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Agora Desktop trabaja en local o en cloud.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shell web de monitor queda en legacy.</a:t>
            </a:r>
          </a:p>
        </p:txBody>
      </p:sp>
    </p:spTree>
    <p:extLst>
      <p:ext uri="{BB962C8B-B14F-4D97-AF65-F5344CB8AC3E}">
        <p14:creationId xmlns:p14="http://schemas.microsoft.com/office/powerpoint/2010/main" val="1820082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FEB5C7E-1CD1-8EAE-8422-6816165B0386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04 / MODELO DE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A721D04-6A57-D719-681A-DB43A374A36C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De la cuenta de empresa a la asignacion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249F826-C292-4ED7-2FEF-1A71CFC9B9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2016478"/>
            <a:ext cx="5969000" cy="371404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16D37AAB-DA47-E103-DC95-339465F7F373}"/>
              </a:ext>
            </a:extLst>
          </p:cNvPr>
          <p:cNvSpPr txBox="1"/>
          <p:nvPr/>
        </p:nvSpPr>
        <p:spPr>
          <a:xfrm>
            <a:off x="7239000" y="2006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Regla de negocio defendible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EB8936E-9522-D541-2858-EEF4AFA6CBBB}"/>
              </a:ext>
            </a:extLst>
          </p:cNvPr>
          <p:cNvSpPr txBox="1"/>
          <p:nvPr/>
        </p:nvSpPr>
        <p:spPr>
          <a:xfrm>
            <a:off x="7493000" y="2667000"/>
            <a:ext cx="3619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cuenta portal sobrevive al preregistro inicial.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solicitud concentra verificacion, estado y mensajes.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empresa aprobada hereda convenios, documentos y tutores.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Asignacion, seguimiento y evaluacion cierran el ciclo.</a:t>
            </a:r>
          </a:p>
        </p:txBody>
      </p:sp>
    </p:spTree>
    <p:extLst>
      <p:ext uri="{BB962C8B-B14F-4D97-AF65-F5344CB8AC3E}">
        <p14:creationId xmlns:p14="http://schemas.microsoft.com/office/powerpoint/2010/main" val="1695852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A9E1F0B-BDF1-4C18-FA1E-DBB85328D07A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05 / PANEL INTERNO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9928138-6B23-8A2C-7358-B7535E8F0854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Gestion diaria del centro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AABE39B-449B-8D65-C4D7-25CEE13E48F6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Dashboard, CRUD operativo, solicitudes, bandeja, documentos, seguimientos y exportacion.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C45D29C-D2B7-5774-D729-E54533DB20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1905000"/>
            <a:ext cx="7112000" cy="40005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6C118CA-7706-AA24-4B94-3CA0DAFB12A2}"/>
              </a:ext>
            </a:extLst>
          </p:cNvPr>
          <p:cNvSpPr/>
          <p:nvPr/>
        </p:nvSpPr>
        <p:spPr>
          <a:xfrm>
            <a:off x="8407400" y="20955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0FF7F01-F678-7332-D01A-A4E9C34AFC55}"/>
              </a:ext>
            </a:extLst>
          </p:cNvPr>
          <p:cNvSpPr txBox="1"/>
          <p:nvPr/>
        </p:nvSpPr>
        <p:spPr>
          <a:xfrm>
            <a:off x="8636000" y="22606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20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281DD0F-E1B5-A30A-6FEE-E6609C36C48F}"/>
              </a:ext>
            </a:extLst>
          </p:cNvPr>
          <p:cNvSpPr txBox="1"/>
          <p:nvPr/>
        </p:nvSpPr>
        <p:spPr>
          <a:xfrm>
            <a:off x="8636000" y="27559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empresas demo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592470D7-DB12-70A1-8C2C-634DFFF87A3D}"/>
              </a:ext>
            </a:extLst>
          </p:cNvPr>
          <p:cNvSpPr/>
          <p:nvPr/>
        </p:nvSpPr>
        <p:spPr>
          <a:xfrm>
            <a:off x="8407400" y="35306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BB9A8C2D-2C15-65D6-34F4-EFF35D086C9D}"/>
              </a:ext>
            </a:extLst>
          </p:cNvPr>
          <p:cNvSpPr txBox="1"/>
          <p:nvPr/>
        </p:nvSpPr>
        <p:spPr>
          <a:xfrm>
            <a:off x="8636000" y="36957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DBA14D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BCEFA69-B51E-6BDA-ADD9-96914115396A}"/>
              </a:ext>
            </a:extLst>
          </p:cNvPr>
          <p:cNvSpPr txBox="1"/>
          <p:nvPr/>
        </p:nvSpPr>
        <p:spPr>
          <a:xfrm>
            <a:off x="8636000" y="41910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convenios demo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CDECFDD1-B17D-1525-32F1-FB7E618F070B}"/>
              </a:ext>
            </a:extLst>
          </p:cNvPr>
          <p:cNvSpPr/>
          <p:nvPr/>
        </p:nvSpPr>
        <p:spPr>
          <a:xfrm>
            <a:off x="8407400" y="49657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42B069A-FED2-C970-BDFF-4266530C47B1}"/>
              </a:ext>
            </a:extLst>
          </p:cNvPr>
          <p:cNvSpPr txBox="1"/>
          <p:nvPr/>
        </p:nvSpPr>
        <p:spPr>
          <a:xfrm>
            <a:off x="8636000" y="5130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CSV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344A2AC-07E9-1E86-FAE7-94698EE3F95A}"/>
              </a:ext>
            </a:extLst>
          </p:cNvPr>
          <p:cNvSpPr txBox="1"/>
          <p:nvPr/>
        </p:nvSpPr>
        <p:spPr>
          <a:xfrm>
            <a:off x="8636000" y="56261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exportacion operativa</a:t>
            </a:r>
          </a:p>
        </p:txBody>
      </p:sp>
    </p:spTree>
    <p:extLst>
      <p:ext uri="{BB962C8B-B14F-4D97-AF65-F5344CB8AC3E}">
        <p14:creationId xmlns:p14="http://schemas.microsoft.com/office/powerpoint/2010/main" val="444641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CE89E96-8080-E632-7DF5-66335AFC344D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06 / FLUJO EMPRESA-CENTRO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E058A5-6A40-A02A-622D-78A676D3D767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Solicitudes, aprobacion y bandeja unificada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3C7D728-633E-1564-7E9C-6BAEC3FE60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911747"/>
            <a:ext cx="6794500" cy="38219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715EE4E-A1C6-1C3D-CE17-162C1B0133F9}"/>
              </a:ext>
            </a:extLst>
          </p:cNvPr>
          <p:cNvSpPr txBox="1"/>
          <p:nvPr/>
        </p:nvSpPr>
        <p:spPr>
          <a:xfrm>
            <a:off x="7937500" y="2108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empresa solicita colaborar desde el portal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correo queda verificado antes de la revision.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centro aprueba o rechaza desde el panel interno.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conversacion queda ligada a la solicitud y a la empresa.</a:t>
            </a:r>
          </a:p>
        </p:txBody>
      </p:sp>
    </p:spTree>
    <p:extLst>
      <p:ext uri="{BB962C8B-B14F-4D97-AF65-F5344CB8AC3E}">
        <p14:creationId xmlns:p14="http://schemas.microsoft.com/office/powerpoint/2010/main" val="1844937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D154D3C-0CC9-334A-8C60-D074F7E3F248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07 / PORTAL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57691EC-32BD-3270-563E-C99F26EC5CDB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Experiencia de la empresa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2B226B4-6E16-EF50-554E-5E2D3FEC44DD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Alta, seguimiento de estado, activacion de cuenta, recuperacion de contrasena y area privada.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98F6E69-6ADB-CD03-7C1D-43010B0BB9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55" y="1854200"/>
            <a:ext cx="7224889" cy="4064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70AADC6-9A6A-D148-5E95-7C44264CAD7C}"/>
              </a:ext>
            </a:extLst>
          </p:cNvPr>
          <p:cNvSpPr/>
          <p:nvPr/>
        </p:nvSpPr>
        <p:spPr>
          <a:xfrm>
            <a:off x="8763000" y="2082800"/>
            <a:ext cx="2286000" cy="914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23DD8F0-9855-49F5-BE46-AC1BFDD9BF08}"/>
              </a:ext>
            </a:extLst>
          </p:cNvPr>
          <p:cNvSpPr txBox="1"/>
          <p:nvPr/>
        </p:nvSpPr>
        <p:spPr>
          <a:xfrm>
            <a:off x="9042400" y="23368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Sin acceso interno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8AA1450-6C4C-3BBC-C570-3F75D447FE05}"/>
              </a:ext>
            </a:extLst>
          </p:cNvPr>
          <p:cNvSpPr txBox="1"/>
          <p:nvPr/>
        </p:nvSpPr>
        <p:spPr>
          <a:xfrm>
            <a:off x="8763000" y="327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portal externo tiene su propio recorrido y no mezcla credenciales de empresa con el panel del centro.</a:t>
            </a:r>
          </a:p>
        </p:txBody>
      </p:sp>
    </p:spTree>
    <p:extLst>
      <p:ext uri="{BB962C8B-B14F-4D97-AF65-F5344CB8AC3E}">
        <p14:creationId xmlns:p14="http://schemas.microsoft.com/office/powerpoint/2010/main" val="1123479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4968A2A-D52D-6028-C97A-6F360F1AA37B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08 / DESARROLLO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EE95117-2191-150D-CEAB-AD181B5215E5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lo he desarrollado y que partes tiene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C1F3077-79E0-9100-D8E6-B1A7602DE670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presentacion se apoya en bloques funcionales y decisiones de arquitectura, no en fragmentos de codigo.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A9C28EFF-5544-FF9F-1F73-40ED012101D8}"/>
              </a:ext>
            </a:extLst>
          </p:cNvPr>
          <p:cNvSpPr/>
          <p:nvPr/>
        </p:nvSpPr>
        <p:spPr>
          <a:xfrm>
            <a:off x="762000" y="19558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E59955A-D259-8761-3DD0-BA61871AA08D}"/>
              </a:ext>
            </a:extLst>
          </p:cNvPr>
          <p:cNvSpPr txBox="1"/>
          <p:nvPr/>
        </p:nvSpPr>
        <p:spPr>
          <a:xfrm>
            <a:off x="990600" y="213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Analisis del problema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C22FA5F-E4D3-5F6D-D8FB-AE53312B5CEE}"/>
              </a:ext>
            </a:extLst>
          </p:cNvPr>
          <p:cNvSpPr txBox="1"/>
          <p:nvPr/>
        </p:nvSpPr>
        <p:spPr>
          <a:xfrm>
            <a:off x="990600" y="2489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Necesidad real del centro y alcance viable para el TFG.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272A3DE5-BCF8-196E-7B96-8600265D8F7C}"/>
              </a:ext>
            </a:extLst>
          </p:cNvPr>
          <p:cNvSpPr/>
          <p:nvPr/>
        </p:nvSpPr>
        <p:spPr>
          <a:xfrm>
            <a:off x="6096000" y="19558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F66ECF2-AABE-B148-59ED-90F7BB781B9A}"/>
              </a:ext>
            </a:extLst>
          </p:cNvPr>
          <p:cNvSpPr txBox="1"/>
          <p:nvPr/>
        </p:nvSpPr>
        <p:spPr>
          <a:xfrm>
            <a:off x="6324600" y="213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Modelo y reglas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61EF2D3-A939-0A2B-2126-EE03D1BB6432}"/>
              </a:ext>
            </a:extLst>
          </p:cNvPr>
          <p:cNvSpPr txBox="1"/>
          <p:nvPr/>
        </p:nvSpPr>
        <p:spPr>
          <a:xfrm>
            <a:off x="6324600" y="2489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Empresa, convenio, asignacion, seguimiento y evaluacion.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D14D23F2-88B8-7160-AB9F-31DC093D925A}"/>
              </a:ext>
            </a:extLst>
          </p:cNvPr>
          <p:cNvSpPr/>
          <p:nvPr/>
        </p:nvSpPr>
        <p:spPr>
          <a:xfrm>
            <a:off x="762000" y="32766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2D69466-A8D3-7070-D0EA-4F23BE7919F8}"/>
              </a:ext>
            </a:extLst>
          </p:cNvPr>
          <p:cNvSpPr txBox="1"/>
          <p:nvPr/>
        </p:nvSpPr>
        <p:spPr>
          <a:xfrm>
            <a:off x="990600" y="345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Backend Symfony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9F2ECC3-24B4-3134-3946-D3E3424D7892}"/>
              </a:ext>
            </a:extLst>
          </p:cNvPr>
          <p:cNvSpPr txBox="1"/>
          <p:nvPr/>
        </p:nvSpPr>
        <p:spPr>
          <a:xfrm>
            <a:off x="990600" y="3810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API, seguridad, correo, tokens, auditoria y persistencia.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860C01C8-C1AD-5CCE-801A-743786CC699D}"/>
              </a:ext>
            </a:extLst>
          </p:cNvPr>
          <p:cNvSpPr/>
          <p:nvPr/>
        </p:nvSpPr>
        <p:spPr>
          <a:xfrm>
            <a:off x="6096000" y="32766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2533663A-B044-598C-EBB1-1BA5E26D4737}"/>
              </a:ext>
            </a:extLst>
          </p:cNvPr>
          <p:cNvSpPr txBox="1"/>
          <p:nvPr/>
        </p:nvSpPr>
        <p:spPr>
          <a:xfrm>
            <a:off x="6324600" y="345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Portal interno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5978AA5-938B-6A0D-B27B-170DF9BDE389}"/>
              </a:ext>
            </a:extLst>
          </p:cNvPr>
          <p:cNvSpPr txBox="1"/>
          <p:nvPr/>
        </p:nvSpPr>
        <p:spPr>
          <a:xfrm>
            <a:off x="6324600" y="3810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Gestion academica, bandeja, documentos y exportacion CSV.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18D4FCF-962D-604B-58E3-5E8BD78D3EE6}"/>
              </a:ext>
            </a:extLst>
          </p:cNvPr>
          <p:cNvSpPr/>
          <p:nvPr/>
        </p:nvSpPr>
        <p:spPr>
          <a:xfrm>
            <a:off x="762000" y="45974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B422D8D1-1F94-B9D7-2452-5A8F751785C2}"/>
              </a:ext>
            </a:extLst>
          </p:cNvPr>
          <p:cNvSpPr txBox="1"/>
          <p:nvPr/>
        </p:nvSpPr>
        <p:spPr>
          <a:xfrm>
            <a:off x="990600" y="4775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Portal externo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42A556D-F0D2-84CA-9CC4-11D4CBD4F6DE}"/>
              </a:ext>
            </a:extLst>
          </p:cNvPr>
          <p:cNvSpPr txBox="1"/>
          <p:nvPr/>
        </p:nvSpPr>
        <p:spPr>
          <a:xfrm>
            <a:off x="990600" y="5130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Registro, verificacion, estado, acceso empresa y chat.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D398D3A8-CBC7-258D-3BF8-AA6D1DB0B1CA}"/>
              </a:ext>
            </a:extLst>
          </p:cNvPr>
          <p:cNvSpPr/>
          <p:nvPr/>
        </p:nvSpPr>
        <p:spPr>
          <a:xfrm>
            <a:off x="6096000" y="45974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6C7F5FD2-A784-AD4C-F9B7-C056966DA94B}"/>
              </a:ext>
            </a:extLst>
          </p:cNvPr>
          <p:cNvSpPr txBox="1"/>
          <p:nvPr/>
        </p:nvSpPr>
        <p:spPr>
          <a:xfrm>
            <a:off x="6324600" y="4775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Operacion final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D94D5F-0FFF-3914-5A04-39DCD1679264}"/>
              </a:ext>
            </a:extLst>
          </p:cNvPr>
          <p:cNvSpPr txBox="1"/>
          <p:nvPr/>
        </p:nvSpPr>
        <p:spPr>
          <a:xfrm>
            <a:off x="6324600" y="5130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App de escritorio, pruebas, logs, backups y empaquetado.</a:t>
            </a:r>
          </a:p>
        </p:txBody>
      </p:sp>
    </p:spTree>
    <p:extLst>
      <p:ext uri="{BB962C8B-B14F-4D97-AF65-F5344CB8AC3E}">
        <p14:creationId xmlns:p14="http://schemas.microsoft.com/office/powerpoint/2010/main" val="2432627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B3E3A21-700F-B328-1C85-49F91535B3B3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09 / CORREO Y RECHAZO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5C96FD9-FF04-FDF2-A4B6-8814B4AE257E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Gestor de correos y comunicaciones transaccionales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BDC3A2A-272F-7680-1053-39254C9434D6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proveedor configurado es Brevo y cubre tanto correo funcional como operaciones sensibles.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8FA6FB1C-07D4-3C91-2EBC-7BF26420A85D}"/>
              </a:ext>
            </a:extLst>
          </p:cNvPr>
          <p:cNvSpPr/>
          <p:nvPr/>
        </p:nvSpPr>
        <p:spPr>
          <a:xfrm>
            <a:off x="736600" y="2032000"/>
            <a:ext cx="3175000" cy="28702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AFA737E-7877-A656-D66A-1719E860F090}"/>
              </a:ext>
            </a:extLst>
          </p:cNvPr>
          <p:cNvSpPr txBox="1"/>
          <p:nvPr/>
        </p:nvSpPr>
        <p:spPr>
          <a:xfrm>
            <a:off x="1168400" y="2438400"/>
            <a:ext cx="231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800" b="1">
                <a:solidFill>
                  <a:srgbClr val="DBA14D"/>
                </a:solidFill>
                <a:latin typeface="Segoe UI" panose="020B0502040204020203" pitchFamily="34" charset="0"/>
              </a:rPr>
              <a:t>Brevo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8E2502A-9E45-73E5-4753-CCC2DCC164AA}"/>
              </a:ext>
            </a:extLst>
          </p:cNvPr>
          <p:cNvSpPr txBox="1"/>
          <p:nvPr/>
        </p:nvSpPr>
        <p:spPr>
          <a:xfrm>
            <a:off x="1092200" y="3124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Verificacion de solicitud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Activacion de cuenta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Recuperacion de contrasena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MFA tecnico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Aviso de rechazo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1249BF07-C029-8215-F68E-C663267BFB44}"/>
              </a:ext>
            </a:extLst>
          </p:cNvPr>
          <p:cNvSpPr/>
          <p:nvPr/>
        </p:nvSpPr>
        <p:spPr>
          <a:xfrm>
            <a:off x="4597400" y="20320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6409B55-1FF9-05CA-E20C-E946527B6ECD}"/>
              </a:ext>
            </a:extLst>
          </p:cNvPr>
          <p:cNvSpPr txBox="1"/>
          <p:nvPr/>
        </p:nvSpPr>
        <p:spPr>
          <a:xfrm>
            <a:off x="4876800" y="21590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1. Registro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CA6F5FF-4D69-355C-34A2-CD3F5AF5358B}"/>
              </a:ext>
            </a:extLst>
          </p:cNvPr>
          <p:cNvSpPr txBox="1"/>
          <p:nvPr/>
        </p:nvSpPr>
        <p:spPr>
          <a:xfrm>
            <a:off x="6604000" y="2159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La empresa envia la solicitud.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BFAF78B-1B2B-5291-293E-820940BCE32D}"/>
              </a:ext>
            </a:extLst>
          </p:cNvPr>
          <p:cNvSpPr/>
          <p:nvPr/>
        </p:nvSpPr>
        <p:spPr>
          <a:xfrm>
            <a:off x="4597400" y="28956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F4FC968-FEC4-DA0E-E391-9B756368F5C9}"/>
              </a:ext>
            </a:extLst>
          </p:cNvPr>
          <p:cNvSpPr txBox="1"/>
          <p:nvPr/>
        </p:nvSpPr>
        <p:spPr>
          <a:xfrm>
            <a:off x="4876800" y="30226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2. Verificacion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0EC0647C-77B4-AF71-3D0D-E54806027063}"/>
              </a:ext>
            </a:extLst>
          </p:cNvPr>
          <p:cNvSpPr txBox="1"/>
          <p:nvPr/>
        </p:nvSpPr>
        <p:spPr>
          <a:xfrm>
            <a:off x="6604000" y="30226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Recibe enlace y confirma correo.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5D4EC944-4691-ED16-8EC6-081AC36B8E33}"/>
              </a:ext>
            </a:extLst>
          </p:cNvPr>
          <p:cNvSpPr/>
          <p:nvPr/>
        </p:nvSpPr>
        <p:spPr>
          <a:xfrm>
            <a:off x="4597400" y="37592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BAB85E2-4DE6-012A-94DB-3DD42C13458B}"/>
              </a:ext>
            </a:extLst>
          </p:cNvPr>
          <p:cNvSpPr txBox="1"/>
          <p:nvPr/>
        </p:nvSpPr>
        <p:spPr>
          <a:xfrm>
            <a:off x="4876800" y="38862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3. Revision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9F92D73-D283-698B-4D77-606985933359}"/>
              </a:ext>
            </a:extLst>
          </p:cNvPr>
          <p:cNvSpPr txBox="1"/>
          <p:nvPr/>
        </p:nvSpPr>
        <p:spPr>
          <a:xfrm>
            <a:off x="6604000" y="3886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El centro aprueba o rechaza.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5D5B2AB5-87B9-B15C-018C-CEBB6F47100B}"/>
              </a:ext>
            </a:extLst>
          </p:cNvPr>
          <p:cNvSpPr/>
          <p:nvPr/>
        </p:nvSpPr>
        <p:spPr>
          <a:xfrm>
            <a:off x="4597400" y="46228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E9BC1837-93EF-D3CE-2CD8-8F3060F1A27B}"/>
              </a:ext>
            </a:extLst>
          </p:cNvPr>
          <p:cNvSpPr txBox="1"/>
          <p:nvPr/>
        </p:nvSpPr>
        <p:spPr>
          <a:xfrm>
            <a:off x="4876800" y="47498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4. Resultado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A42F90E0-DE57-5568-4EDF-BABAE0AD47DA}"/>
              </a:ext>
            </a:extLst>
          </p:cNvPr>
          <p:cNvSpPr txBox="1"/>
          <p:nvPr/>
        </p:nvSpPr>
        <p:spPr>
          <a:xfrm>
            <a:off x="6604000" y="4749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Si se rechaza llega correo y el estado sigue visible en el portal.</a:t>
            </a:r>
          </a:p>
        </p:txBody>
      </p:sp>
    </p:spTree>
    <p:extLst>
      <p:ext uri="{BB962C8B-B14F-4D97-AF65-F5344CB8AC3E}">
        <p14:creationId xmlns:p14="http://schemas.microsoft.com/office/powerpoint/2010/main" val="35326584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B6C318D-A379-813A-0988-B1A9761E04CA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10 / DOMINIO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B42BBBE-4372-3EB3-C9B1-28067BAE8AB7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resuelvo el acceso publico y los enlaces de correo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1C176EB-D1AA-B5C4-7F31-C4594402B1B8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problema ya no es una IP local incrustada: la plataforma publica una URL HTTPS estable sobre la VM cloud.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C1FA7CE-AA04-AF8B-B1AE-513BA4BC5676}"/>
              </a:ext>
            </a:extLst>
          </p:cNvPr>
          <p:cNvSpPr/>
          <p:nvPr/>
        </p:nvSpPr>
        <p:spPr>
          <a:xfrm>
            <a:off x="914400" y="2463800"/>
            <a:ext cx="24130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CF4DDCD-700B-10A4-0DBB-57683CF91507}"/>
              </a:ext>
            </a:extLst>
          </p:cNvPr>
          <p:cNvSpPr txBox="1"/>
          <p:nvPr/>
        </p:nvSpPr>
        <p:spPr>
          <a:xfrm>
            <a:off x="1219200" y="2717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Infraestructura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B84B0ED-17A7-78DE-80F4-34C88011AC41}"/>
              </a:ext>
            </a:extLst>
          </p:cNvPr>
          <p:cNvSpPr txBox="1"/>
          <p:nvPr/>
        </p:nvSpPr>
        <p:spPr>
          <a:xfrm>
            <a:off x="1219200" y="31242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>
                <a:solidFill>
                  <a:srgbClr val="1F2937"/>
                </a:solidFill>
                <a:latin typeface="Consolas" panose="020B0609020204030204" pitchFamily="49" charset="0"/>
              </a:rPr>
              <a:t>GCP + Docker Compose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BFBDBF3-96AF-ED49-4CB0-FE9650FF6A2C}"/>
              </a:ext>
            </a:extLst>
          </p:cNvPr>
          <p:cNvSpPr/>
          <p:nvPr/>
        </p:nvSpPr>
        <p:spPr>
          <a:xfrm>
            <a:off x="4775200" y="2463800"/>
            <a:ext cx="24130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1887F25-D654-250B-E014-C7C2DCEBE80C}"/>
              </a:ext>
            </a:extLst>
          </p:cNvPr>
          <p:cNvSpPr txBox="1"/>
          <p:nvPr/>
        </p:nvSpPr>
        <p:spPr>
          <a:xfrm>
            <a:off x="5130800" y="2717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Borde HTTPS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D271785-A2ED-8972-3966-D833F2421BC8}"/>
              </a:ext>
            </a:extLst>
          </p:cNvPr>
          <p:cNvSpPr txBox="1"/>
          <p:nvPr/>
        </p:nvSpPr>
        <p:spPr>
          <a:xfrm>
            <a:off x="5410200" y="31242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Consolas" panose="020B0609020204030204" pitchFamily="49" charset="0"/>
              </a:rPr>
              <a:t>Caddy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03CB2B5F-3C01-6895-DA2C-4CF6C14AC82C}"/>
              </a:ext>
            </a:extLst>
          </p:cNvPr>
          <p:cNvSpPr/>
          <p:nvPr/>
        </p:nvSpPr>
        <p:spPr>
          <a:xfrm>
            <a:off x="8255000" y="2463800"/>
            <a:ext cx="3073400" cy="11684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880637A-CB1B-5782-D079-ACC2BE9637C5}"/>
              </a:ext>
            </a:extLst>
          </p:cNvPr>
          <p:cNvSpPr txBox="1"/>
          <p:nvPr/>
        </p:nvSpPr>
        <p:spPr>
          <a:xfrm>
            <a:off x="8559800" y="2717800"/>
            <a:ext cx="228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DBA14D"/>
                </a:solidFill>
                <a:latin typeface="Segoe UI" panose="020B0502040204020203" pitchFamily="34" charset="0"/>
              </a:rPr>
              <a:t>URL publica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3DE608D-A0B7-5295-B3CD-640A62ED4713}"/>
              </a:ext>
            </a:extLst>
          </p:cNvPr>
          <p:cNvSpPr txBox="1"/>
          <p:nvPr/>
        </p:nvSpPr>
        <p:spPr>
          <a:xfrm>
            <a:off x="8483600" y="3124200"/>
            <a:ext cx="2641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000">
                <a:solidFill>
                  <a:srgbClr val="F6F8FC"/>
                </a:solidFill>
                <a:latin typeface="Consolas" panose="020B0609020204030204" pitchFamily="49" charset="0"/>
              </a:rPr>
              <a:t>https://agora.34.175...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2EC6BCA-D704-E1FF-9E90-0AE17FAE0EBB}"/>
              </a:ext>
            </a:extLst>
          </p:cNvPr>
          <p:cNvSpPr txBox="1"/>
          <p:nvPr/>
        </p:nvSpPr>
        <p:spPr>
          <a:xfrm>
            <a:off x="1168400" y="4216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portal externo y los correos usan ya el origen publico correcto de la VM.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APP_EXTERNAL_BASE_URL fija la URL canonica para enlaces y notificaciones.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siguiente paso natural seria cambiar nip.io por dominio institucional propio.</a:t>
            </a:r>
          </a:p>
        </p:txBody>
      </p:sp>
    </p:spTree>
    <p:extLst>
      <p:ext uri="{BB962C8B-B14F-4D97-AF65-F5344CB8AC3E}">
        <p14:creationId xmlns:p14="http://schemas.microsoft.com/office/powerpoint/2010/main" val="3405836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B9B6B7E-C6B3-B223-1BFD-E8BEC0482E7E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11 / MENSAJERIA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DCD38B-33FD-0819-047A-A0BC19FA6012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Bandeja y chat con actualizacion automatica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99D53E9-606E-E5A8-BEAB-4AAFA0BA4E3E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comunicacion entre centro y empresa no depende ya de recargar la pagina a mano.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D78C6A8-502A-BF1F-7037-B92D921A1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2028825"/>
            <a:ext cx="6604000" cy="371475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4C3F84F1-C002-E42E-6F30-561370E14D4D}"/>
              </a:ext>
            </a:extLst>
          </p:cNvPr>
          <p:cNvSpPr/>
          <p:nvPr/>
        </p:nvSpPr>
        <p:spPr>
          <a:xfrm>
            <a:off x="7874000" y="2082800"/>
            <a:ext cx="3175000" cy="10668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4169844-49DA-44AD-10C8-4E9CB91B3260}"/>
              </a:ext>
            </a:extLst>
          </p:cNvPr>
          <p:cNvSpPr txBox="1"/>
          <p:nvPr/>
        </p:nvSpPr>
        <p:spPr>
          <a:xfrm>
            <a:off x="8255000" y="2336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Actualizacion automatica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58AF3C4-FC08-AD3B-5C94-74A4CA19B02D}"/>
              </a:ext>
            </a:extLst>
          </p:cNvPr>
          <p:cNvSpPr txBox="1"/>
          <p:nvPr/>
        </p:nvSpPr>
        <p:spPr>
          <a:xfrm>
            <a:off x="8813800" y="27178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F6F8FC"/>
                </a:solidFill>
                <a:latin typeface="Segoe UI" panose="020B0502040204020203" pitchFamily="34" charset="0"/>
              </a:rPr>
              <a:t>5 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C1DB574-CDEA-B7AF-AB80-5B09A652AB85}"/>
              </a:ext>
            </a:extLst>
          </p:cNvPr>
          <p:cNvSpPr txBox="1"/>
          <p:nvPr/>
        </p:nvSpPr>
        <p:spPr>
          <a:xfrm>
            <a:off x="7924800" y="3479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Refresco periodico del chat y de la bandeja.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Nueva carga cuando la ventana recupera el foco.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La empresa tambien ve cambios en su panel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El rechazo queda comunicado por correo y visible en estado.</a:t>
            </a:r>
          </a:p>
        </p:txBody>
      </p:sp>
    </p:spTree>
    <p:extLst>
      <p:ext uri="{BB962C8B-B14F-4D97-AF65-F5344CB8AC3E}">
        <p14:creationId xmlns:p14="http://schemas.microsoft.com/office/powerpoint/2010/main" val="22104629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2D3F0E6-C8A7-090D-EAF0-34D303DC63CB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12 / AGORA DESKTOP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73FB023-723C-BFD4-D252-82974DA3A6C8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Consola tecnica local y cloud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658B0A6-E10F-F98A-76F7-ED59C2343165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parte tecnica ya no depende de varios terminales sueltos: queda centralizada en una sola app.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5488A2C-AD32-68EC-13CD-150018457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2305843"/>
            <a:ext cx="5461000" cy="307181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1933801-18FB-DD6E-590C-18C7B2D41FF3}"/>
              </a:ext>
            </a:extLst>
          </p:cNvPr>
          <p:cNvSpPr txBox="1"/>
          <p:nvPr/>
        </p:nvSpPr>
        <p:spPr>
          <a:xfrm>
            <a:off x="6858000" y="20574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Modo local para backend, SQLite y demo offline.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Modo cloud para monitor, smoke, logs y reinicios remotos.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MFA en operaciones sensibles del flujo local.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Diagnostico, logs y backups desde una sola interfaz.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Empaquetado Windows listo para la defensa.</a:t>
            </a:r>
          </a:p>
        </p:txBody>
      </p:sp>
    </p:spTree>
    <p:extLst>
      <p:ext uri="{BB962C8B-B14F-4D97-AF65-F5344CB8AC3E}">
        <p14:creationId xmlns:p14="http://schemas.microsoft.com/office/powerpoint/2010/main" val="198109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8A8D320-D3D9-D479-857F-592D2A98B6D5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13 / VALIDACION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5502EFF-453D-C37B-4866-D796ED1BF587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Comprobaciones ejecutadas antes de la revision final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0EB9F5AA-9213-DCCA-BFC2-9145D86110F3}"/>
              </a:ext>
            </a:extLst>
          </p:cNvPr>
          <p:cNvSpPr/>
          <p:nvPr/>
        </p:nvSpPr>
        <p:spPr>
          <a:xfrm>
            <a:off x="8890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8F637CC-F7B3-7720-B1F3-148835C7B0A3}"/>
              </a:ext>
            </a:extLst>
          </p:cNvPr>
          <p:cNvSpPr txBox="1"/>
          <p:nvPr/>
        </p:nvSpPr>
        <p:spPr>
          <a:xfrm>
            <a:off x="11176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101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3BF3B7F-00E6-45F1-1BBD-77C5C001A21B}"/>
              </a:ext>
            </a:extLst>
          </p:cNvPr>
          <p:cNvSpPr txBox="1"/>
          <p:nvPr/>
        </p:nvSpPr>
        <p:spPr>
          <a:xfrm>
            <a:off x="11176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backend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75ABA86E-3F26-5381-6A09-2098F1B7A76F}"/>
              </a:ext>
            </a:extLst>
          </p:cNvPr>
          <p:cNvSpPr/>
          <p:nvPr/>
        </p:nvSpPr>
        <p:spPr>
          <a:xfrm>
            <a:off x="37084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1C63BFB-98C4-7ED5-773B-9E0E5B0F060A}"/>
              </a:ext>
            </a:extLst>
          </p:cNvPr>
          <p:cNvSpPr txBox="1"/>
          <p:nvPr/>
        </p:nvSpPr>
        <p:spPr>
          <a:xfrm>
            <a:off x="39370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567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97B74B2-7776-1E59-2D39-45BF642969E4}"/>
              </a:ext>
            </a:extLst>
          </p:cNvPr>
          <p:cNvSpPr txBox="1"/>
          <p:nvPr/>
        </p:nvSpPr>
        <p:spPr>
          <a:xfrm>
            <a:off x="39370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aserciones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A1D25B25-7532-80F7-A1BC-B653824749E7}"/>
              </a:ext>
            </a:extLst>
          </p:cNvPr>
          <p:cNvSpPr/>
          <p:nvPr/>
        </p:nvSpPr>
        <p:spPr>
          <a:xfrm>
            <a:off x="65278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BF23786-17DA-8D81-ACC7-DE506C18099A}"/>
              </a:ext>
            </a:extLst>
          </p:cNvPr>
          <p:cNvSpPr txBox="1"/>
          <p:nvPr/>
        </p:nvSpPr>
        <p:spPr>
          <a:xfrm>
            <a:off x="67564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14/14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CCE4AB0-8957-E3DE-AA4F-1766A6C32A75}"/>
              </a:ext>
            </a:extLst>
          </p:cNvPr>
          <p:cNvSpPr txBox="1"/>
          <p:nvPr/>
        </p:nvSpPr>
        <p:spPr>
          <a:xfrm>
            <a:off x="67564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frontend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2A2CF79F-7B26-6FF9-27BE-288884F83C81}"/>
              </a:ext>
            </a:extLst>
          </p:cNvPr>
          <p:cNvSpPr/>
          <p:nvPr/>
        </p:nvSpPr>
        <p:spPr>
          <a:xfrm>
            <a:off x="93472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9E33C67-CB50-BC7D-9ABD-8F6AB00E83ED}"/>
              </a:ext>
            </a:extLst>
          </p:cNvPr>
          <p:cNvSpPr txBox="1"/>
          <p:nvPr/>
        </p:nvSpPr>
        <p:spPr>
          <a:xfrm>
            <a:off x="95758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6/6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7459030-4D23-0822-8CD0-1B97AE0B84BC}"/>
              </a:ext>
            </a:extLst>
          </p:cNvPr>
          <p:cNvSpPr txBox="1"/>
          <p:nvPr/>
        </p:nvSpPr>
        <p:spPr>
          <a:xfrm>
            <a:off x="95758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E2E Playwright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58ACC12-BE56-02A8-3685-6CEB8BF8C5BB}"/>
              </a:ext>
            </a:extLst>
          </p:cNvPr>
          <p:cNvSpPr txBox="1"/>
          <p:nvPr/>
        </p:nvSpPr>
        <p:spPr>
          <a:xfrm>
            <a:off x="1193800" y="39878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Build integrada de /app y /externo publicada en Symfony.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Verificados correo, rechazo, URLs publicas, chat, monitor legacy y app de escritorio.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Tambien se ha validado el empaquetado Windows con PHP embebido y SQLite.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65254E5-511B-D601-A467-89263CA473C4}"/>
              </a:ext>
            </a:extLst>
          </p:cNvPr>
          <p:cNvSpPr txBox="1"/>
          <p:nvPr/>
        </p:nvSpPr>
        <p:spPr>
          <a:xfrm>
            <a:off x="1193800" y="5562600"/>
            <a:ext cx="927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Queda una deprecacion tecnica de PHPUnit, no bloqueante para la demo ni para la funcionalidad.</a:t>
            </a:r>
          </a:p>
        </p:txBody>
      </p:sp>
    </p:spTree>
    <p:extLst>
      <p:ext uri="{BB962C8B-B14F-4D97-AF65-F5344CB8AC3E}">
        <p14:creationId xmlns:p14="http://schemas.microsoft.com/office/powerpoint/2010/main" val="4151966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196CABB-6C82-094D-72E5-EAA8E0A9070B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14 / ACCESO DE EVALUACION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DA1A7FB-DDF9-4965-7F17-B1761287B81A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puede probarla la profesora desde fuera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24B5627-82BD-3649-F968-C05ED6EAC3EB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Con la VM levantada no necesita instalar dependencias en su equipo.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2A49FF86-1A50-3660-9AB2-CC6B73910ACA}"/>
              </a:ext>
            </a:extLst>
          </p:cNvPr>
          <p:cNvSpPr/>
          <p:nvPr/>
        </p:nvSpPr>
        <p:spPr>
          <a:xfrm>
            <a:off x="863600" y="2006600"/>
            <a:ext cx="104648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8BB3FBC-878F-C284-3984-DE711FA9AA3B}"/>
              </a:ext>
            </a:extLst>
          </p:cNvPr>
          <p:cNvSpPr txBox="1"/>
          <p:nvPr/>
        </p:nvSpPr>
        <p:spPr>
          <a:xfrm>
            <a:off x="1244600" y="2362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 b="1">
                <a:solidFill>
                  <a:srgbClr val="4975B0"/>
                </a:solidFill>
                <a:latin typeface="Consolas" panose="020B0609020204030204" pitchFamily="49" charset="0"/>
              </a:rPr>
              <a:t>https://agora.34.175.224.87.nip.io/app   |   https://agora.34.175.224.87.nip.io/externo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05339D7-AE6F-CF6D-6835-7E5D280AF18C}"/>
              </a:ext>
            </a:extLst>
          </p:cNvPr>
          <p:cNvSpPr txBox="1"/>
          <p:nvPr/>
        </p:nvSpPr>
        <p:spPr>
          <a:xfrm>
            <a:off x="1295400" y="2794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La misma base sirve panel interno, portal externo, documentacion y la shell legacy.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F0D1F64-5173-E6B0-2867-D732AF7FFA5F}"/>
              </a:ext>
            </a:extLst>
          </p:cNvPr>
          <p:cNvSpPr/>
          <p:nvPr/>
        </p:nvSpPr>
        <p:spPr>
          <a:xfrm>
            <a:off x="1092200" y="3835400"/>
            <a:ext cx="4064000" cy="14986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F197C26-BD49-5A86-7F1B-13A8F78E15EB}"/>
              </a:ext>
            </a:extLst>
          </p:cNvPr>
          <p:cNvSpPr txBox="1"/>
          <p:nvPr/>
        </p:nvSpPr>
        <p:spPr>
          <a:xfrm>
            <a:off x="1498600" y="4165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Usuario de prueba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F541267-B2E0-D780-2E45-4F992941AE9E}"/>
              </a:ext>
            </a:extLst>
          </p:cNvPr>
          <p:cNvSpPr txBox="1"/>
          <p:nvPr/>
        </p:nvSpPr>
        <p:spPr>
          <a:xfrm>
            <a:off x="1498600" y="45974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F6F8FC"/>
                </a:solidFill>
                <a:latin typeface="Consolas" panose="020B0609020204030204" pitchFamily="49" charset="0"/>
              </a:rPr>
              <a:t>profesora / Abrete01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DB4DA62-221D-CA65-54CA-4FD5B8E97F3A}"/>
              </a:ext>
            </a:extLst>
          </p:cNvPr>
          <p:cNvSpPr txBox="1"/>
          <p:nvPr/>
        </p:nvSpPr>
        <p:spPr>
          <a:xfrm>
            <a:off x="1498600" y="4978400"/>
            <a:ext cx="279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Rol: coordinacion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502AC56E-84CB-EED9-95FE-6AB1C6B812B7}"/>
              </a:ext>
            </a:extLst>
          </p:cNvPr>
          <p:cNvSpPr txBox="1"/>
          <p:nvPr/>
        </p:nvSpPr>
        <p:spPr>
          <a:xfrm>
            <a:off x="5969000" y="38862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Puede revisar solicitudes, convenios, asignaciones y mensajes.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La empresa prueba el recorrido por /externo.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acceso remoto depende de que la VM siga activa.</a:t>
            </a:r>
          </a:p>
        </p:txBody>
      </p:sp>
    </p:spTree>
    <p:extLst>
      <p:ext uri="{BB962C8B-B14F-4D97-AF65-F5344CB8AC3E}">
        <p14:creationId xmlns:p14="http://schemas.microsoft.com/office/powerpoint/2010/main" val="262939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F633AEB-C8E3-38F3-865A-AEFD904A6358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15 / MEJORAS FUTURAS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77637BC-466E-38C8-DFF9-62CA4B5DFA28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endureceria despues de esta entrega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85A282E-F38E-563B-C79A-5CA90EB7D04B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nucleo ya esta cerrado; lo siguiente ya no es supervivencia de la demo, sino evolucion del producto.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32F11A3-16C4-FC00-5D74-A8A2B3FFA522}"/>
              </a:ext>
            </a:extLst>
          </p:cNvPr>
          <p:cNvSpPr/>
          <p:nvPr/>
        </p:nvSpPr>
        <p:spPr>
          <a:xfrm>
            <a:off x="711200" y="2235200"/>
            <a:ext cx="3200400" cy="2235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71884CA-A07F-3CAE-ACA6-985260681AFC}"/>
              </a:ext>
            </a:extLst>
          </p:cNvPr>
          <p:cNvSpPr txBox="1"/>
          <p:nvPr/>
        </p:nvSpPr>
        <p:spPr>
          <a:xfrm>
            <a:off x="965200" y="2489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1A772"/>
                </a:solidFill>
                <a:latin typeface="Segoe UI" panose="020B0502040204020203" pitchFamily="34" charset="0"/>
              </a:rPr>
              <a:t>Dominio propio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BE67DF1-0FED-E550-864E-0EE8E8C01831}"/>
              </a:ext>
            </a:extLst>
          </p:cNvPr>
          <p:cNvSpPr txBox="1"/>
          <p:nvPr/>
        </p:nvSpPr>
        <p:spPr>
          <a:xfrm>
            <a:off x="965200" y="2997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Sustituir nip.io por dominio institucional y reforzar politicas TLS.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0811625C-B8C8-7299-3317-0B357D650119}"/>
              </a:ext>
            </a:extLst>
          </p:cNvPr>
          <p:cNvSpPr/>
          <p:nvPr/>
        </p:nvSpPr>
        <p:spPr>
          <a:xfrm>
            <a:off x="4495800" y="2235200"/>
            <a:ext cx="3200400" cy="2235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56F0306-06DF-7A7F-C7BA-F37512E5D503}"/>
              </a:ext>
            </a:extLst>
          </p:cNvPr>
          <p:cNvSpPr txBox="1"/>
          <p:nvPr/>
        </p:nvSpPr>
        <p:spPr>
          <a:xfrm>
            <a:off x="4749800" y="2489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B1D2"/>
                </a:solidFill>
                <a:latin typeface="Segoe UI" panose="020B0502040204020203" pitchFamily="34" charset="0"/>
              </a:rPr>
              <a:t>Servicios gestionados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103D061-5808-835F-DCB8-6E26A9B76CEF}"/>
              </a:ext>
            </a:extLst>
          </p:cNvPr>
          <p:cNvSpPr txBox="1"/>
          <p:nvPr/>
        </p:nvSpPr>
        <p:spPr>
          <a:xfrm>
            <a:off x="4749800" y="2997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Mover documentos, backups y observabilidad a piezas gestionadas.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A7B72B3E-DC33-B561-CC44-0AD373119C10}"/>
              </a:ext>
            </a:extLst>
          </p:cNvPr>
          <p:cNvSpPr/>
          <p:nvPr/>
        </p:nvSpPr>
        <p:spPr>
          <a:xfrm>
            <a:off x="8280400" y="2235200"/>
            <a:ext cx="3200400" cy="2235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7A4A240-D87D-25B5-5C1C-1CD3AF2FF11C}"/>
              </a:ext>
            </a:extLst>
          </p:cNvPr>
          <p:cNvSpPr txBox="1"/>
          <p:nvPr/>
        </p:nvSpPr>
        <p:spPr>
          <a:xfrm>
            <a:off x="8534400" y="2489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DBA14D"/>
                </a:solidFill>
                <a:latin typeface="Segoe UI" panose="020B0502040204020203" pitchFamily="34" charset="0"/>
              </a:rPr>
              <a:t>Cliente tecnico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B5F7562-D71C-C0FA-2EFC-422D1BB96241}"/>
              </a:ext>
            </a:extLst>
          </p:cNvPr>
          <p:cNvSpPr txBox="1"/>
          <p:nvPr/>
        </p:nvSpPr>
        <p:spPr>
          <a:xfrm>
            <a:off x="8534400" y="2997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Decidir si Agora Desktop absorbe por completo la shell web legacy.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AB1583C-3074-97A2-1A5B-18B6057525B1}"/>
              </a:ext>
            </a:extLst>
          </p:cNvPr>
          <p:cNvSpPr txBox="1"/>
          <p:nvPr/>
        </p:nvSpPr>
        <p:spPr>
          <a:xfrm>
            <a:off x="1117600" y="4978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Mantendria PostgreSQL en servidor y endureceria automatizacion, dominio y observabilidad.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No meteria nuevas funciones secundarias sin cerrar antes seguridad, pruebas y operacion.</a:t>
            </a:r>
          </a:p>
        </p:txBody>
      </p:sp>
    </p:spTree>
    <p:extLst>
      <p:ext uri="{BB962C8B-B14F-4D97-AF65-F5344CB8AC3E}">
        <p14:creationId xmlns:p14="http://schemas.microsoft.com/office/powerpoint/2010/main" val="28991660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F61135F-580E-C819-0791-91AF2067E3C1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16 / LIMITACIONES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CC7C245-2FAB-4F31-20FE-9FE749563D57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queda fuera de esta entrega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57ABC16-AB0D-EE8A-14EF-37E39CD730EF}"/>
              </a:ext>
            </a:extLst>
          </p:cNvPr>
          <p:cNvSpPr txBox="1"/>
          <p:nvPr/>
        </p:nvSpPr>
        <p:spPr>
          <a:xfrm>
            <a:off x="990600" y="20320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Despliegue permanente completamente automatizado.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Integracion con SSO o identidad corporativa.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Firma electronica avanzada.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Almacenamiento documental en nube gestionada.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Perfilado profundo de rendimiento en produccion.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9999316-951B-5CAB-36C3-24D49FFCF643}"/>
              </a:ext>
            </a:extLst>
          </p:cNvPr>
          <p:cNvSpPr/>
          <p:nvPr/>
        </p:nvSpPr>
        <p:spPr>
          <a:xfrm>
            <a:off x="6807200" y="2057400"/>
            <a:ext cx="4064000" cy="2667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12F9E92-CDB7-87E4-9D52-9B136F4C6443}"/>
              </a:ext>
            </a:extLst>
          </p:cNvPr>
          <p:cNvSpPr txBox="1"/>
          <p:nvPr/>
        </p:nvSpPr>
        <p:spPr>
          <a:xfrm>
            <a:off x="7213600" y="24384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Siguiente iteracion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D8153D6-86E3-766B-D147-F91159556FE8}"/>
              </a:ext>
            </a:extLst>
          </p:cNvPr>
          <p:cNvSpPr txBox="1"/>
          <p:nvPr/>
        </p:nvSpPr>
        <p:spPr>
          <a:xfrm>
            <a:off x="7213600" y="3098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Despliegue estable, dominio propio, base de datos de servidor y seguridad endurecida.</a:t>
            </a:r>
          </a:p>
        </p:txBody>
      </p:sp>
    </p:spTree>
    <p:extLst>
      <p:ext uri="{BB962C8B-B14F-4D97-AF65-F5344CB8AC3E}">
        <p14:creationId xmlns:p14="http://schemas.microsoft.com/office/powerpoint/2010/main" val="1501258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751393D-4816-16A5-E38D-53548AC7220C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17 / CIERRE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50BEDA8-F92B-B057-F39D-ADF6E9E10AB3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Resultado defendible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93BA8D5-7A9E-BAE3-A221-878D8AF96B9C}"/>
              </a:ext>
            </a:extLst>
          </p:cNvPr>
          <p:cNvSpPr txBox="1"/>
          <p:nvPr/>
        </p:nvSpPr>
        <p:spPr>
          <a:xfrm>
            <a:off x="1168400" y="2006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El proyecto transforma una gestion dispersa en una plataforma web funcional, trazable y documentada para empresas colaboradoras y practicas de FP Dual.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5F15734-46C2-69C6-5023-A197B05A5019}"/>
              </a:ext>
            </a:extLst>
          </p:cNvPr>
          <p:cNvSpPr txBox="1"/>
          <p:nvPr/>
        </p:nvSpPr>
        <p:spPr>
          <a:xfrm>
            <a:off x="1625600" y="40894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Problema real del centro.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Arquitectura completa con backend, dos frontends y operacion local.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Validacion tecnica, empaquetado y demo preparados.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104C127-2FD0-AE74-977D-4AD83BE56564}"/>
              </a:ext>
            </a:extLst>
          </p:cNvPr>
          <p:cNvSpPr txBox="1"/>
          <p:nvPr/>
        </p:nvSpPr>
        <p:spPr>
          <a:xfrm>
            <a:off x="4191000" y="594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200" b="1">
                <a:solidFill>
                  <a:srgbClr val="DBA14D"/>
                </a:solidFill>
                <a:latin typeface="Segoe UI" panose="020B0502040204020203" pitchFamily="34" charset="0"/>
              </a:rPr>
              <a:t>Demo y preguntas</a:t>
            </a:r>
          </a:p>
        </p:txBody>
      </p:sp>
    </p:spTree>
    <p:extLst>
      <p:ext uri="{BB962C8B-B14F-4D97-AF65-F5344CB8AC3E}">
        <p14:creationId xmlns:p14="http://schemas.microsoft.com/office/powerpoint/2010/main" val="79982464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1255</Words>
  <Application>Microsoft Office PowerPoint</Application>
  <PresentationFormat>Personalizado</PresentationFormat>
  <Paragraphs>172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Consolas</vt:lpstr>
      <vt:lpstr>Segoe UI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Ángel Méndez Minda</dc:creator>
  <cp:lastModifiedBy>Luis Ángel Méndez Minda</cp:lastModifiedBy>
  <cp:revision>1</cp:revision>
  <dcterms:created xsi:type="dcterms:W3CDTF">2026-05-18T21:18:56Z</dcterms:created>
  <dcterms:modified xsi:type="dcterms:W3CDTF">2026-05-18T21:18:56Z</dcterms:modified>
</cp:coreProperties>
</file>