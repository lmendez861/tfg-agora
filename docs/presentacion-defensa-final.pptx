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108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6B0814-BF45-E573-A6DD-089C6E4300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9A3F60D-381D-A44B-0A93-8C52096248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A48920-AADB-D026-B9B2-9DA509FB0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62A27-1D85-48AD-90C3-37B244257CF0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8A59491-3B6A-48C9-5EEB-7EB818871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D81804F-C69B-B021-BB20-0F4660F39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92D4-5BD9-41C8-9EE5-942CB5B156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0099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A4115C-5D06-4D7C-B8EC-F9D77664F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78EC942-61D9-112C-287C-90292BD32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ED1F93-2489-6D68-93DB-F2D5E595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62A27-1D85-48AD-90C3-37B244257CF0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7CE7D42-E5A1-356C-3F58-B627C49AA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FEFE665-0B92-8F3C-FF33-3B8D22EB1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92D4-5BD9-41C8-9EE5-942CB5B156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04774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8D4A99-9A29-200B-6DD7-FACD52DC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93EBD5B-4058-DD2F-D0AB-1FD2A62C2E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9DC1F3-D5E5-CCDC-9020-669CCE684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62A27-1D85-48AD-90C3-37B244257CF0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B357624-B5DB-F2A1-7FA2-7C221A5F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50C7AE2-5B81-9A50-05AC-1B614CC7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92D4-5BD9-41C8-9EE5-942CB5B156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26879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68C001-776F-00A0-A9A3-C5FC6137A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E2DC49-A2BE-ECC8-0798-6178D2DC12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659D0DA-D6BE-FBD5-4AAA-FDDE91CC49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2A06CC8-F91D-7586-85D6-F5C5668B2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62A27-1D85-48AD-90C3-37B244257CF0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A1CA324-ED71-21AE-613B-F8A58D66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26749BC-6AAC-7FA0-BBB3-6F22C2074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92D4-5BD9-41C8-9EE5-942CB5B156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73210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E95328-B4B6-9ACB-B687-8EA3D3874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81CAD59-CAA5-D3D0-5485-F0368B6E46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2B8E0C2-AAE9-83BD-B746-56796B3B9C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55150E5-F565-FA62-3459-87167636DD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47F2CB0-A358-148D-6C1F-7CF84C0B2A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057AC04-7560-E3A7-A831-FB4DFF69F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62A27-1D85-48AD-90C3-37B244257CF0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A59DA2E-8572-9B68-793C-55E5FD9AB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85E1E7C-FB27-5478-B7CC-B2D9E4DC9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92D4-5BD9-41C8-9EE5-942CB5B156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24685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CF473E-51F7-D4A4-404E-56FC61F96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C2BF4BF-32DA-9453-FCF1-4E82CF047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62A27-1D85-48AD-90C3-37B244257CF0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3F41BD4-0A83-52D5-8B71-1E1B3DC8C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2BB15A4-C317-4292-367F-A35A34F7E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92D4-5BD9-41C8-9EE5-942CB5B156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3809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B770DBA-80A6-D082-CE82-4104E8F6A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62A27-1D85-48AD-90C3-37B244257CF0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D8222E9-DDE3-B1D4-E6BA-2BBE6D5CA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05FE56-9D48-9873-839E-6DA6555E7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92D4-5BD9-41C8-9EE5-942CB5B156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59517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E62A58-AF8A-3FB8-EA0A-1ABF9C4B8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83C48F-EE56-D384-1B9C-B1E1C5E07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62B874F-BC36-715D-D132-8FD3254599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80A516C-DDEA-C052-9308-F388DDF01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62A27-1D85-48AD-90C3-37B244257CF0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957D22E-3E4E-3BA1-E165-39275168A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9CD3F2A-5D76-4B7C-3D0E-CC8CE2B8C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92D4-5BD9-41C8-9EE5-942CB5B156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824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EA0205-E1B1-D315-A143-01A9D00CF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BADC2F0-6160-7416-B388-A10C879912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C8B46F-1A24-D909-BB46-D0EA7E06A1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247D9DE-E2CE-52AC-CCDB-87BE83C4E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62A27-1D85-48AD-90C3-37B244257CF0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0FEF411-C3D2-F204-D11D-12BEC439E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04D838E-8580-34E0-3EB7-1118DCC31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92D4-5BD9-41C8-9EE5-942CB5B156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303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ABD5DC-78B2-1D43-6817-084E7D311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83029C5-5484-68D1-9988-6F026988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40ACC64-DF2E-FB98-BEE2-33C18881B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62A27-1D85-48AD-90C3-37B244257CF0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0E13036-6346-F20B-D4DD-22038DD9C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602EB5-B081-CE0E-966B-C70200BEE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92D4-5BD9-41C8-9EE5-942CB5B156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47015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4A42644-ABFA-58B7-9710-0C222F7690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02D70CA-E9E5-7B05-1516-9406222EE3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32D4B7-CBA2-CC7D-E399-72CB728BB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62A27-1D85-48AD-90C3-37B244257CF0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3BAB20-BD10-B4FA-2237-2D478006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3F63C59-FBCF-9096-30B2-872FBE51D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92D4-5BD9-41C8-9EE5-942CB5B156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6580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2786C14-7D58-E4B6-34F2-327E67DD1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7AEFCDE-9BDE-1271-E379-25AE01116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C386A11-5809-CF73-C86F-4A15E6AD7B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A62A27-1D85-48AD-90C3-37B244257CF0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CD38D0-3C3E-52AC-389B-35B51C2CE4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52B3E20-F6CA-0C98-43CD-121A885307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7192D4-5BD9-41C8-9EE5-942CB5B156C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7115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D205D9E9-2B2A-8449-3280-81D4BA7193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0B0E1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CD26C4F-EB69-6F68-D6A8-EFDFAAB9A2EE}"/>
              </a:ext>
            </a:extLst>
          </p:cNvPr>
          <p:cNvSpPr txBox="1"/>
          <p:nvPr/>
        </p:nvSpPr>
        <p:spPr>
          <a:xfrm>
            <a:off x="736600" y="6858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DBA14D"/>
                </a:solidFill>
                <a:latin typeface="Segoe UI" panose="020B0502040204020203" pitchFamily="34" charset="0"/>
              </a:rPr>
              <a:t>Trabajo Final de Grado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594C209-D7CD-32E9-0092-BEEDDDE630D1}"/>
              </a:ext>
            </a:extLst>
          </p:cNvPr>
          <p:cNvSpPr txBox="1"/>
          <p:nvPr/>
        </p:nvSpPr>
        <p:spPr>
          <a:xfrm>
            <a:off x="736600" y="1320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4200" b="1">
                <a:solidFill>
                  <a:srgbClr val="F6F8FC"/>
                </a:solidFill>
                <a:latin typeface="Segoe UI" panose="020B0502040204020203" pitchFamily="34" charset="0"/>
              </a:rPr>
              <a:t>Gestion de Empresas Colaboradoras para FP Dual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010246E-364B-3BEC-B71E-FE18CDB86658}"/>
              </a:ext>
            </a:extLst>
          </p:cNvPr>
          <p:cNvSpPr txBox="1"/>
          <p:nvPr/>
        </p:nvSpPr>
        <p:spPr>
          <a:xfrm>
            <a:off x="787400" y="3124200"/>
            <a:ext cx="8064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Plataforma web para centralizar empresas, convenios, practicas, solicitudes externas, seguimiento documental y comunicacion empresa-centro.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C422221-3442-CE74-2513-F43623CAB150}"/>
              </a:ext>
            </a:extLst>
          </p:cNvPr>
          <p:cNvSpPr txBox="1"/>
          <p:nvPr/>
        </p:nvSpPr>
        <p:spPr>
          <a:xfrm>
            <a:off x="787400" y="52324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Autor: Luis Angel</a:t>
            </a:r>
          </a:p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Tutora: Elena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7A6C684F-BE85-6DFF-BFD5-BD4E0258C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968500"/>
            <a:ext cx="4064000" cy="2286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24773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7A99495-7698-35C9-F519-3509243DF9B7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01 / PROBLEMA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473AEC7-F891-C8CF-F621-F8AB92A8A3AA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Punto de partida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BC3D1CE-C197-78B9-9A60-0A88E3B8E328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gestion anterior estaba repartida entre hojas de calculo, correos y documentos sin una vista unificada.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0FB9D0D-9935-C4CD-A639-878E061C4E37}"/>
              </a:ext>
            </a:extLst>
          </p:cNvPr>
          <p:cNvSpPr txBox="1"/>
          <p:nvPr/>
        </p:nvSpPr>
        <p:spPr>
          <a:xfrm>
            <a:off x="889000" y="2349500"/>
            <a:ext cx="520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Informacion dispersa entre varias fuentes.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Dificultad para conocer el estado real de convenios, solicitudes y asignaciones.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Dependencia del conocimiento manual de la persona que coordina las practicas.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Poca trazabilidad sobre mensajes, documentos y cambios.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2379AFE7-7192-0690-5CFC-6D21DABC384B}"/>
              </a:ext>
            </a:extLst>
          </p:cNvPr>
          <p:cNvSpPr/>
          <p:nvPr/>
        </p:nvSpPr>
        <p:spPr>
          <a:xfrm>
            <a:off x="7112000" y="2184400"/>
            <a:ext cx="3937000" cy="2413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CDFD10E-68AA-CD60-D127-C2BDC01E1210}"/>
              </a:ext>
            </a:extLst>
          </p:cNvPr>
          <p:cNvSpPr txBox="1"/>
          <p:nvPr/>
        </p:nvSpPr>
        <p:spPr>
          <a:xfrm>
            <a:off x="7493000" y="2540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700" b="1">
                <a:solidFill>
                  <a:srgbClr val="DBA14D"/>
                </a:solidFill>
                <a:latin typeface="Segoe UI" panose="020B0502040204020203" pitchFamily="34" charset="0"/>
              </a:rPr>
              <a:t>Necesidad principal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0B2DE3F-31A5-C76F-97EE-CF45D9539F16}"/>
              </a:ext>
            </a:extLst>
          </p:cNvPr>
          <p:cNvSpPr txBox="1"/>
          <p:nvPr/>
        </p:nvSpPr>
        <p:spPr>
          <a:xfrm>
            <a:off x="7493000" y="3149600"/>
            <a:ext cx="3124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Pasar de una gestion dispersa a una plataforma unica, trazable y defendible.</a:t>
            </a:r>
          </a:p>
        </p:txBody>
      </p:sp>
    </p:spTree>
    <p:extLst>
      <p:ext uri="{BB962C8B-B14F-4D97-AF65-F5344CB8AC3E}">
        <p14:creationId xmlns:p14="http://schemas.microsoft.com/office/powerpoint/2010/main" val="1700853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47EE030-9113-F839-0500-8CD8FF63BCF0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02 / OBJETIVOS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8C524AC-4C67-81BF-7CCF-69FF8BD63A89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tenia que resolver la aplicacion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183502EE-D18B-B6A8-0611-2FB4423E8FD7}"/>
              </a:ext>
            </a:extLst>
          </p:cNvPr>
          <p:cNvSpPr/>
          <p:nvPr/>
        </p:nvSpPr>
        <p:spPr>
          <a:xfrm>
            <a:off x="7366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F6B2FD9-691B-2B4F-0E7E-1E1921951509}"/>
              </a:ext>
            </a:extLst>
          </p:cNvPr>
          <p:cNvSpPr txBox="1"/>
          <p:nvPr/>
        </p:nvSpPr>
        <p:spPr>
          <a:xfrm>
            <a:off x="10160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Centralizar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78FE75E-5B02-6B68-D4F4-DD7679DC86A6}"/>
              </a:ext>
            </a:extLst>
          </p:cNvPr>
          <p:cNvSpPr txBox="1"/>
          <p:nvPr/>
        </p:nvSpPr>
        <p:spPr>
          <a:xfrm>
            <a:off x="10160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Empresas, convenios, estudiantes, tutores y asignaciones.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F70DB089-39D2-93F2-93E1-36918E2B0A52}"/>
              </a:ext>
            </a:extLst>
          </p:cNvPr>
          <p:cNvSpPr/>
          <p:nvPr/>
        </p:nvSpPr>
        <p:spPr>
          <a:xfrm>
            <a:off x="61341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896B342-D52E-797F-C4D1-8C77FA9387B7}"/>
              </a:ext>
            </a:extLst>
          </p:cNvPr>
          <p:cNvSpPr txBox="1"/>
          <p:nvPr/>
        </p:nvSpPr>
        <p:spPr>
          <a:xfrm>
            <a:off x="64135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Abrir canal externo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8602FF3-714F-AA57-D40E-86781CE18B46}"/>
              </a:ext>
            </a:extLst>
          </p:cNvPr>
          <p:cNvSpPr txBox="1"/>
          <p:nvPr/>
        </p:nvSpPr>
        <p:spPr>
          <a:xfrm>
            <a:off x="64135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Registro de empresas, verificacion, estado y cuenta persistente.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018F7BD-80CB-AE7F-1AD1-5F348FD4E479}"/>
              </a:ext>
            </a:extLst>
          </p:cNvPr>
          <p:cNvSpPr/>
          <p:nvPr/>
        </p:nvSpPr>
        <p:spPr>
          <a:xfrm>
            <a:off x="7366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41ECDB7-FDE8-B2B7-EF09-E3AF19A6F71C}"/>
              </a:ext>
            </a:extLst>
          </p:cNvPr>
          <p:cNvSpPr txBox="1"/>
          <p:nvPr/>
        </p:nvSpPr>
        <p:spPr>
          <a:xfrm>
            <a:off x="10160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Trazabilidad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AC34014-78F3-3DA1-D8BE-B59827995065}"/>
              </a:ext>
            </a:extLst>
          </p:cNvPr>
          <p:cNvSpPr txBox="1"/>
          <p:nvPr/>
        </p:nvSpPr>
        <p:spPr>
          <a:xfrm>
            <a:off x="10160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Mensajeria, documentos versionados, evidencias y evaluacion final.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211940CC-D8B5-390B-5A36-C4840E35938B}"/>
              </a:ext>
            </a:extLst>
          </p:cNvPr>
          <p:cNvSpPr/>
          <p:nvPr/>
        </p:nvSpPr>
        <p:spPr>
          <a:xfrm>
            <a:off x="61341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7289F20-C8BB-3595-F15B-4E2880ED0960}"/>
              </a:ext>
            </a:extLst>
          </p:cNvPr>
          <p:cNvSpPr txBox="1"/>
          <p:nvPr/>
        </p:nvSpPr>
        <p:spPr>
          <a:xfrm>
            <a:off x="64135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Defensa tecnica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D5FDCD2-CF71-63AC-BF34-7A984AFA6773}"/>
              </a:ext>
            </a:extLst>
          </p:cNvPr>
          <p:cNvSpPr txBox="1"/>
          <p:nvPr/>
        </p:nvSpPr>
        <p:spPr>
          <a:xfrm>
            <a:off x="64135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Arquitectura separada, pruebas, demo y documentacion final.</a:t>
            </a:r>
          </a:p>
        </p:txBody>
      </p:sp>
    </p:spTree>
    <p:extLst>
      <p:ext uri="{BB962C8B-B14F-4D97-AF65-F5344CB8AC3E}">
        <p14:creationId xmlns:p14="http://schemas.microsoft.com/office/powerpoint/2010/main" val="532801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2C763EB-133E-A78A-1CB0-1107BA8FDB07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03 / ARQUITECTURA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DDA0427-728B-B593-D27C-E87F5A662BB1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Topologia operativa y de despliegue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117148E-9BE1-AD74-94C9-056B7A8F40BA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misma URL publica sirve los dos portales, la documentacion y el monitor legacy, mientras el escritorio opera por API y SSH.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4278C2D-D007-0FAB-0454-E696414CB4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400" y="2196774"/>
            <a:ext cx="6477000" cy="355665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F6E86348-1442-E11C-BF6E-F3E0C27223E0}"/>
              </a:ext>
            </a:extLst>
          </p:cNvPr>
          <p:cNvSpPr txBox="1"/>
          <p:nvPr/>
        </p:nvSpPr>
        <p:spPr>
          <a:xfrm>
            <a:off x="7937500" y="22098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Caddy expone HTTPS y enruta a la aplicacion.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Symfony concentra seguridad, negocio y APIs.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PostgreSQL y documentos persisten fuera del contenedor.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Agora Desktop trabaja en local o en cloud.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shell web de monitor queda en legacy.</a:t>
            </a:r>
          </a:p>
        </p:txBody>
      </p:sp>
    </p:spTree>
    <p:extLst>
      <p:ext uri="{BB962C8B-B14F-4D97-AF65-F5344CB8AC3E}">
        <p14:creationId xmlns:p14="http://schemas.microsoft.com/office/powerpoint/2010/main" val="3055323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A55F792-719B-4933-0A82-79DA36A75C66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04 / MODELO DE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E49A66F-CB1D-8525-2172-BAF6AB440E2B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De la cuenta de empresa a la asignacion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F1E2096-6DE4-2AA4-BC44-C2719EB4F5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2016478"/>
            <a:ext cx="5969000" cy="371404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2D2B4C86-D810-64D8-4A85-90CC19F2C751}"/>
              </a:ext>
            </a:extLst>
          </p:cNvPr>
          <p:cNvSpPr txBox="1"/>
          <p:nvPr/>
        </p:nvSpPr>
        <p:spPr>
          <a:xfrm>
            <a:off x="7239000" y="2006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Regla de negocio defendible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685FCED-4FC2-BF16-CB15-0DD8D2E263EB}"/>
              </a:ext>
            </a:extLst>
          </p:cNvPr>
          <p:cNvSpPr txBox="1"/>
          <p:nvPr/>
        </p:nvSpPr>
        <p:spPr>
          <a:xfrm>
            <a:off x="7493000" y="2667000"/>
            <a:ext cx="3619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cuenta portal sobrevive al preregistro inicial.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solicitud concentra verificacion, estado y mensajes.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empresa aprobada hereda convenios, documentos y tutores.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Asignacion, seguimiento y evaluacion cierran el ciclo.</a:t>
            </a:r>
          </a:p>
        </p:txBody>
      </p:sp>
    </p:spTree>
    <p:extLst>
      <p:ext uri="{BB962C8B-B14F-4D97-AF65-F5344CB8AC3E}">
        <p14:creationId xmlns:p14="http://schemas.microsoft.com/office/powerpoint/2010/main" val="2739586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E2F9C66-1DF0-AA26-FDED-651C2EB88C0A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05 / PANEL INTERNO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B4629B6-4913-02FD-22C5-F6B0C32BD709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Gestion diaria del centro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9B0F4DE-C0A7-A7EE-1CA2-F3A03BCD4C50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Dashboard, CRUD operativo, solicitudes, bandeja, documentos, seguimientos y exportacion.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6A3FCBC-E07E-66C5-C566-583C15F6E5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1905000"/>
            <a:ext cx="7112000" cy="40005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E163F4D-D493-53CB-D135-CCB3C639FD66}"/>
              </a:ext>
            </a:extLst>
          </p:cNvPr>
          <p:cNvSpPr/>
          <p:nvPr/>
        </p:nvSpPr>
        <p:spPr>
          <a:xfrm>
            <a:off x="8407400" y="20955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E2B6364-4DB1-AE6A-0D78-80A02A8AA6BD}"/>
              </a:ext>
            </a:extLst>
          </p:cNvPr>
          <p:cNvSpPr txBox="1"/>
          <p:nvPr/>
        </p:nvSpPr>
        <p:spPr>
          <a:xfrm>
            <a:off x="8636000" y="22606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20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A64EE55-B20E-4844-D32D-4F73259ACA22}"/>
              </a:ext>
            </a:extLst>
          </p:cNvPr>
          <p:cNvSpPr txBox="1"/>
          <p:nvPr/>
        </p:nvSpPr>
        <p:spPr>
          <a:xfrm>
            <a:off x="8636000" y="27559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empresas demo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31982D3-0988-2594-A592-4D0C6D87671F}"/>
              </a:ext>
            </a:extLst>
          </p:cNvPr>
          <p:cNvSpPr/>
          <p:nvPr/>
        </p:nvSpPr>
        <p:spPr>
          <a:xfrm>
            <a:off x="8407400" y="35306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3925F191-B401-B60F-B76D-5E7E042AA08A}"/>
              </a:ext>
            </a:extLst>
          </p:cNvPr>
          <p:cNvSpPr txBox="1"/>
          <p:nvPr/>
        </p:nvSpPr>
        <p:spPr>
          <a:xfrm>
            <a:off x="8636000" y="36957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DBA14D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7504DA1-D9C3-AF90-A7A9-F274FCD16B03}"/>
              </a:ext>
            </a:extLst>
          </p:cNvPr>
          <p:cNvSpPr txBox="1"/>
          <p:nvPr/>
        </p:nvSpPr>
        <p:spPr>
          <a:xfrm>
            <a:off x="8636000" y="41910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convenios demo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1C302DFF-C064-5ED9-A3A6-5955EFF7003E}"/>
              </a:ext>
            </a:extLst>
          </p:cNvPr>
          <p:cNvSpPr/>
          <p:nvPr/>
        </p:nvSpPr>
        <p:spPr>
          <a:xfrm>
            <a:off x="8407400" y="49657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208011F-4DB1-E672-7A4D-4B7B41415603}"/>
              </a:ext>
            </a:extLst>
          </p:cNvPr>
          <p:cNvSpPr txBox="1"/>
          <p:nvPr/>
        </p:nvSpPr>
        <p:spPr>
          <a:xfrm>
            <a:off x="8636000" y="5130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CSV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06D95B7-07CF-B39A-C8EB-290DAADF0404}"/>
              </a:ext>
            </a:extLst>
          </p:cNvPr>
          <p:cNvSpPr txBox="1"/>
          <p:nvPr/>
        </p:nvSpPr>
        <p:spPr>
          <a:xfrm>
            <a:off x="8636000" y="56261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exportacion operativa</a:t>
            </a:r>
          </a:p>
        </p:txBody>
      </p:sp>
    </p:spTree>
    <p:extLst>
      <p:ext uri="{BB962C8B-B14F-4D97-AF65-F5344CB8AC3E}">
        <p14:creationId xmlns:p14="http://schemas.microsoft.com/office/powerpoint/2010/main" val="537032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D271AAC-A832-5E08-C88A-93FF0DEC3547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06 / FLUJO EMPRESA-CENTRO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D9944CF-079F-0D18-83A8-3B08688E2314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Solicitudes, aprobacion y bandeja unificada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C2C4B73-58CA-A5C3-34D3-2BBBA5E9B5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911747"/>
            <a:ext cx="6794500" cy="38219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1F1B8C47-7AA5-402F-9DE9-2E84691C3AC7}"/>
              </a:ext>
            </a:extLst>
          </p:cNvPr>
          <p:cNvSpPr txBox="1"/>
          <p:nvPr/>
        </p:nvSpPr>
        <p:spPr>
          <a:xfrm>
            <a:off x="7937500" y="2108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empresa solicita colaborar desde el portal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correo queda verificado antes de la revision.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centro aprueba o rechaza desde el panel interno.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conversacion queda ligada a la solicitud y a la empresa.</a:t>
            </a:r>
          </a:p>
        </p:txBody>
      </p:sp>
    </p:spTree>
    <p:extLst>
      <p:ext uri="{BB962C8B-B14F-4D97-AF65-F5344CB8AC3E}">
        <p14:creationId xmlns:p14="http://schemas.microsoft.com/office/powerpoint/2010/main" val="472471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2D22E14-F2E0-12FB-23AD-8C06856A5CEC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07 / PORTAL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A9CFA21-8403-29AD-04BC-F190C18F9982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Experiencia de la empresa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A134C0F-CB10-D821-49F7-39624C8868CA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Alta, seguimiento de estado, activacion de cuenta, recuperacion de contrasena y area privada.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CB5DA02-DAA9-B8B0-2EF1-31F9B92ED5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55" y="1854200"/>
            <a:ext cx="7224889" cy="4064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62987D9B-3E4E-70FC-9478-5CB4BD439987}"/>
              </a:ext>
            </a:extLst>
          </p:cNvPr>
          <p:cNvSpPr/>
          <p:nvPr/>
        </p:nvSpPr>
        <p:spPr>
          <a:xfrm>
            <a:off x="8763000" y="2082800"/>
            <a:ext cx="2286000" cy="914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68A74AC-0594-A8D8-4023-EEE74A3322B7}"/>
              </a:ext>
            </a:extLst>
          </p:cNvPr>
          <p:cNvSpPr txBox="1"/>
          <p:nvPr/>
        </p:nvSpPr>
        <p:spPr>
          <a:xfrm>
            <a:off x="9042400" y="23368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Sin acceso interno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0FEE87D-4813-369E-CDF0-D3B7AE81E5BB}"/>
              </a:ext>
            </a:extLst>
          </p:cNvPr>
          <p:cNvSpPr txBox="1"/>
          <p:nvPr/>
        </p:nvSpPr>
        <p:spPr>
          <a:xfrm>
            <a:off x="8763000" y="327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portal externo tiene su propio recorrido y no mezcla credenciales de empresa con el panel del centro.</a:t>
            </a:r>
          </a:p>
        </p:txBody>
      </p:sp>
    </p:spTree>
    <p:extLst>
      <p:ext uri="{BB962C8B-B14F-4D97-AF65-F5344CB8AC3E}">
        <p14:creationId xmlns:p14="http://schemas.microsoft.com/office/powerpoint/2010/main" val="1678548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8CDCCD6-2EF4-0F24-586E-5203F93C424A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08 / DESARROLLO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798B586-C962-DBEA-4D8E-83B718B7CBA1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lo he desarrollado y que partes tiene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BD29CD5-2995-DEEE-7EB2-5087A0CA9DE9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presentacion se apoya en bloques funcionales y decisiones de arquitectura, no en fragmentos de codigo.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7CEA027-1CF4-64D0-C7A3-4234DEF651E7}"/>
              </a:ext>
            </a:extLst>
          </p:cNvPr>
          <p:cNvSpPr/>
          <p:nvPr/>
        </p:nvSpPr>
        <p:spPr>
          <a:xfrm>
            <a:off x="762000" y="19558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C1888A3-3A4F-1D68-A197-FDF057B2C713}"/>
              </a:ext>
            </a:extLst>
          </p:cNvPr>
          <p:cNvSpPr txBox="1"/>
          <p:nvPr/>
        </p:nvSpPr>
        <p:spPr>
          <a:xfrm>
            <a:off x="990600" y="213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Analisis del problema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793028D-CA88-DB07-AD8E-8D4F835B7B10}"/>
              </a:ext>
            </a:extLst>
          </p:cNvPr>
          <p:cNvSpPr txBox="1"/>
          <p:nvPr/>
        </p:nvSpPr>
        <p:spPr>
          <a:xfrm>
            <a:off x="990600" y="2489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Necesidad real del centro y alcance viable para el TFG.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A558677-C866-62A1-1E71-993B4D95E4F2}"/>
              </a:ext>
            </a:extLst>
          </p:cNvPr>
          <p:cNvSpPr/>
          <p:nvPr/>
        </p:nvSpPr>
        <p:spPr>
          <a:xfrm>
            <a:off x="6096000" y="19558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C67C9A2-9611-E597-A0F4-5F4AF9F0CC03}"/>
              </a:ext>
            </a:extLst>
          </p:cNvPr>
          <p:cNvSpPr txBox="1"/>
          <p:nvPr/>
        </p:nvSpPr>
        <p:spPr>
          <a:xfrm>
            <a:off x="6324600" y="213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Modelo y reglas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138F767-6F11-A4C3-0626-D4CC43D28120}"/>
              </a:ext>
            </a:extLst>
          </p:cNvPr>
          <p:cNvSpPr txBox="1"/>
          <p:nvPr/>
        </p:nvSpPr>
        <p:spPr>
          <a:xfrm>
            <a:off x="6324600" y="2489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Empresa, convenio, asignacion, seguimiento y evaluacion.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CAD6787-FAA2-14F0-8B25-0946EB1A5B29}"/>
              </a:ext>
            </a:extLst>
          </p:cNvPr>
          <p:cNvSpPr/>
          <p:nvPr/>
        </p:nvSpPr>
        <p:spPr>
          <a:xfrm>
            <a:off x="762000" y="32766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AA20422-DC77-CC23-8DC0-1D6A3F3CFA2C}"/>
              </a:ext>
            </a:extLst>
          </p:cNvPr>
          <p:cNvSpPr txBox="1"/>
          <p:nvPr/>
        </p:nvSpPr>
        <p:spPr>
          <a:xfrm>
            <a:off x="990600" y="345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Backend Symfony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E5312E2-4CD1-2151-1BA8-B07624168BB7}"/>
              </a:ext>
            </a:extLst>
          </p:cNvPr>
          <p:cNvSpPr txBox="1"/>
          <p:nvPr/>
        </p:nvSpPr>
        <p:spPr>
          <a:xfrm>
            <a:off x="990600" y="3810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API, seguridad, correo, tokens, auditoria y persistencia.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E81C0679-D03A-6A0D-332A-86A1B1AEC437}"/>
              </a:ext>
            </a:extLst>
          </p:cNvPr>
          <p:cNvSpPr/>
          <p:nvPr/>
        </p:nvSpPr>
        <p:spPr>
          <a:xfrm>
            <a:off x="6096000" y="32766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39ED77F-300D-7747-038C-C7235A53130F}"/>
              </a:ext>
            </a:extLst>
          </p:cNvPr>
          <p:cNvSpPr txBox="1"/>
          <p:nvPr/>
        </p:nvSpPr>
        <p:spPr>
          <a:xfrm>
            <a:off x="6324600" y="345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Portal interno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8DF6048-8027-8105-AB0D-6A129451598C}"/>
              </a:ext>
            </a:extLst>
          </p:cNvPr>
          <p:cNvSpPr txBox="1"/>
          <p:nvPr/>
        </p:nvSpPr>
        <p:spPr>
          <a:xfrm>
            <a:off x="6324600" y="3810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Gestion academica, bandeja, documentos y exportacion CSV.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8D4A248-2DAC-2D2D-40DA-A0C272FB9D70}"/>
              </a:ext>
            </a:extLst>
          </p:cNvPr>
          <p:cNvSpPr/>
          <p:nvPr/>
        </p:nvSpPr>
        <p:spPr>
          <a:xfrm>
            <a:off x="762000" y="45974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2CAEF4FC-B0DA-6EF8-C78D-8022D75BDCAD}"/>
              </a:ext>
            </a:extLst>
          </p:cNvPr>
          <p:cNvSpPr txBox="1"/>
          <p:nvPr/>
        </p:nvSpPr>
        <p:spPr>
          <a:xfrm>
            <a:off x="990600" y="4775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Portal externo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80BBCD7-8522-81A5-53E1-E99DCD41D98F}"/>
              </a:ext>
            </a:extLst>
          </p:cNvPr>
          <p:cNvSpPr txBox="1"/>
          <p:nvPr/>
        </p:nvSpPr>
        <p:spPr>
          <a:xfrm>
            <a:off x="990600" y="5130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Registro, verificacion, estado, acceso empresa y chat.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7FC02C4D-DBFF-D14A-7FC5-DF3BBB26A494}"/>
              </a:ext>
            </a:extLst>
          </p:cNvPr>
          <p:cNvSpPr/>
          <p:nvPr/>
        </p:nvSpPr>
        <p:spPr>
          <a:xfrm>
            <a:off x="6096000" y="45974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81735565-1B92-5540-5026-4E57A8C43268}"/>
              </a:ext>
            </a:extLst>
          </p:cNvPr>
          <p:cNvSpPr txBox="1"/>
          <p:nvPr/>
        </p:nvSpPr>
        <p:spPr>
          <a:xfrm>
            <a:off x="6324600" y="4775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Operacion final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772E63E3-B570-3617-DDA5-F26E392E9721}"/>
              </a:ext>
            </a:extLst>
          </p:cNvPr>
          <p:cNvSpPr txBox="1"/>
          <p:nvPr/>
        </p:nvSpPr>
        <p:spPr>
          <a:xfrm>
            <a:off x="6324600" y="5130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App de escritorio, pruebas, logs, backups y empaquetado.</a:t>
            </a:r>
          </a:p>
        </p:txBody>
      </p:sp>
    </p:spTree>
    <p:extLst>
      <p:ext uri="{BB962C8B-B14F-4D97-AF65-F5344CB8AC3E}">
        <p14:creationId xmlns:p14="http://schemas.microsoft.com/office/powerpoint/2010/main" val="1093037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8AAE408-EF69-259D-BAA6-33ED04A04C57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09 / CORREO Y RECHAZO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086D1C7-C914-B072-1836-0199861C2628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Gestor de correos y comunicaciones transaccionales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DF96AA8-6440-8183-2342-0628F8D93C1A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proveedor configurado es Brevo y cubre tanto correo funcional como operaciones sensibles.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72C7F4DA-D661-40BE-C733-D0CFC5C5D4DF}"/>
              </a:ext>
            </a:extLst>
          </p:cNvPr>
          <p:cNvSpPr/>
          <p:nvPr/>
        </p:nvSpPr>
        <p:spPr>
          <a:xfrm>
            <a:off x="736600" y="2032000"/>
            <a:ext cx="3175000" cy="28702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DBAA4C0-2D71-CAC0-B5DE-D0FBDD24023B}"/>
              </a:ext>
            </a:extLst>
          </p:cNvPr>
          <p:cNvSpPr txBox="1"/>
          <p:nvPr/>
        </p:nvSpPr>
        <p:spPr>
          <a:xfrm>
            <a:off x="1168400" y="2438400"/>
            <a:ext cx="231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800" b="1">
                <a:solidFill>
                  <a:srgbClr val="DBA14D"/>
                </a:solidFill>
                <a:latin typeface="Segoe UI" panose="020B0502040204020203" pitchFamily="34" charset="0"/>
              </a:rPr>
              <a:t>Brevo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F5E01B1-602E-9AAB-E81C-2CD851951762}"/>
              </a:ext>
            </a:extLst>
          </p:cNvPr>
          <p:cNvSpPr txBox="1"/>
          <p:nvPr/>
        </p:nvSpPr>
        <p:spPr>
          <a:xfrm>
            <a:off x="1092200" y="3124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Verificacion de solicitud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Activacion de cuenta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Recuperacion de contrasena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MFA tecnico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Aviso de rechazo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B951AA5D-2568-173E-3564-B6188845BFAB}"/>
              </a:ext>
            </a:extLst>
          </p:cNvPr>
          <p:cNvSpPr/>
          <p:nvPr/>
        </p:nvSpPr>
        <p:spPr>
          <a:xfrm>
            <a:off x="4597400" y="20320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718BDB6-8A2A-59D7-94D9-1ABB0C32B839}"/>
              </a:ext>
            </a:extLst>
          </p:cNvPr>
          <p:cNvSpPr txBox="1"/>
          <p:nvPr/>
        </p:nvSpPr>
        <p:spPr>
          <a:xfrm>
            <a:off x="4876800" y="21590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1. Registro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3202201-B8E7-16DA-060E-49AFEAAA9BBA}"/>
              </a:ext>
            </a:extLst>
          </p:cNvPr>
          <p:cNvSpPr txBox="1"/>
          <p:nvPr/>
        </p:nvSpPr>
        <p:spPr>
          <a:xfrm>
            <a:off x="6604000" y="2159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La empresa envia la solicitud.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19370CEA-D01B-E710-52C7-F1754B5DF4BD}"/>
              </a:ext>
            </a:extLst>
          </p:cNvPr>
          <p:cNvSpPr/>
          <p:nvPr/>
        </p:nvSpPr>
        <p:spPr>
          <a:xfrm>
            <a:off x="4597400" y="28956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9ED67AE-12C2-53C7-385C-8F3B9E9C1C06}"/>
              </a:ext>
            </a:extLst>
          </p:cNvPr>
          <p:cNvSpPr txBox="1"/>
          <p:nvPr/>
        </p:nvSpPr>
        <p:spPr>
          <a:xfrm>
            <a:off x="4876800" y="30226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2. Verificacion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38D04B1-01AA-9D2C-F15B-DFF6B72BEBF0}"/>
              </a:ext>
            </a:extLst>
          </p:cNvPr>
          <p:cNvSpPr txBox="1"/>
          <p:nvPr/>
        </p:nvSpPr>
        <p:spPr>
          <a:xfrm>
            <a:off x="6604000" y="30226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Recibe enlace y confirma correo.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61A4F89D-7193-1ED4-7F96-DE96ED033F1D}"/>
              </a:ext>
            </a:extLst>
          </p:cNvPr>
          <p:cNvSpPr/>
          <p:nvPr/>
        </p:nvSpPr>
        <p:spPr>
          <a:xfrm>
            <a:off x="4597400" y="37592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64A9D98-FAC5-DD14-0376-22899E9C74B4}"/>
              </a:ext>
            </a:extLst>
          </p:cNvPr>
          <p:cNvSpPr txBox="1"/>
          <p:nvPr/>
        </p:nvSpPr>
        <p:spPr>
          <a:xfrm>
            <a:off x="4876800" y="38862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3. Revision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A4CDBA9-9DAC-8B1F-16A9-301C5313FD4B}"/>
              </a:ext>
            </a:extLst>
          </p:cNvPr>
          <p:cNvSpPr txBox="1"/>
          <p:nvPr/>
        </p:nvSpPr>
        <p:spPr>
          <a:xfrm>
            <a:off x="6604000" y="3886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El centro aprueba o rechaza.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658C09E8-6A59-E416-E38F-35F2C3BE7A31}"/>
              </a:ext>
            </a:extLst>
          </p:cNvPr>
          <p:cNvSpPr/>
          <p:nvPr/>
        </p:nvSpPr>
        <p:spPr>
          <a:xfrm>
            <a:off x="4597400" y="46228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4E03C3C2-56D3-8B47-CBB2-B8C6BB906DE5}"/>
              </a:ext>
            </a:extLst>
          </p:cNvPr>
          <p:cNvSpPr txBox="1"/>
          <p:nvPr/>
        </p:nvSpPr>
        <p:spPr>
          <a:xfrm>
            <a:off x="4876800" y="47498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4. Resultado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A8A35CA-E482-34AF-FE89-1AF1BABFD828}"/>
              </a:ext>
            </a:extLst>
          </p:cNvPr>
          <p:cNvSpPr txBox="1"/>
          <p:nvPr/>
        </p:nvSpPr>
        <p:spPr>
          <a:xfrm>
            <a:off x="6604000" y="4749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Si se rechaza llega correo y el estado sigue visible en el portal.</a:t>
            </a:r>
          </a:p>
        </p:txBody>
      </p:sp>
    </p:spTree>
    <p:extLst>
      <p:ext uri="{BB962C8B-B14F-4D97-AF65-F5344CB8AC3E}">
        <p14:creationId xmlns:p14="http://schemas.microsoft.com/office/powerpoint/2010/main" val="239697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F1E9EC0-F667-4B56-359D-972CD20039E1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10 / DOMINIO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5DCCC73-4BD4-AE87-0667-46774F68DE5A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resuelvo el acceso publico y los enlaces de correo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1A5879C-26AE-E6A0-295B-83A024344107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problema ya no es una IP local incrustada: la plataforma publica una URL HTTPS estable sobre la VM cloud.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A2FED42F-BB72-4BBF-D508-E0FD37612B99}"/>
              </a:ext>
            </a:extLst>
          </p:cNvPr>
          <p:cNvSpPr/>
          <p:nvPr/>
        </p:nvSpPr>
        <p:spPr>
          <a:xfrm>
            <a:off x="914400" y="2463800"/>
            <a:ext cx="24130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2F9094C-B5EA-4D0E-AFCF-A07B6E20E5C6}"/>
              </a:ext>
            </a:extLst>
          </p:cNvPr>
          <p:cNvSpPr txBox="1"/>
          <p:nvPr/>
        </p:nvSpPr>
        <p:spPr>
          <a:xfrm>
            <a:off x="1219200" y="2717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Infraestructura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EBD63C4-9FE0-B826-1C14-DFD65B38CCF5}"/>
              </a:ext>
            </a:extLst>
          </p:cNvPr>
          <p:cNvSpPr txBox="1"/>
          <p:nvPr/>
        </p:nvSpPr>
        <p:spPr>
          <a:xfrm>
            <a:off x="1219200" y="31242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>
                <a:solidFill>
                  <a:srgbClr val="1F2937"/>
                </a:solidFill>
                <a:latin typeface="Consolas" panose="020B0609020204030204" pitchFamily="49" charset="0"/>
              </a:rPr>
              <a:t>GCP + Docker Compose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91A17B97-0060-DCF1-D36A-4D61DA7C94FE}"/>
              </a:ext>
            </a:extLst>
          </p:cNvPr>
          <p:cNvSpPr/>
          <p:nvPr/>
        </p:nvSpPr>
        <p:spPr>
          <a:xfrm>
            <a:off x="4775200" y="2463800"/>
            <a:ext cx="24130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BCAE38A-E9B9-C367-4FB0-9D291BB46725}"/>
              </a:ext>
            </a:extLst>
          </p:cNvPr>
          <p:cNvSpPr txBox="1"/>
          <p:nvPr/>
        </p:nvSpPr>
        <p:spPr>
          <a:xfrm>
            <a:off x="5130800" y="2717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Borde HTTPS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D4FE66D-3B12-E967-6482-E6D8B4D660CA}"/>
              </a:ext>
            </a:extLst>
          </p:cNvPr>
          <p:cNvSpPr txBox="1"/>
          <p:nvPr/>
        </p:nvSpPr>
        <p:spPr>
          <a:xfrm>
            <a:off x="5410200" y="31242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Consolas" panose="020B0609020204030204" pitchFamily="49" charset="0"/>
              </a:rPr>
              <a:t>Caddy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F23661F-2B82-5F38-1D07-61D5D3F3D5C8}"/>
              </a:ext>
            </a:extLst>
          </p:cNvPr>
          <p:cNvSpPr/>
          <p:nvPr/>
        </p:nvSpPr>
        <p:spPr>
          <a:xfrm>
            <a:off x="8255000" y="2463800"/>
            <a:ext cx="3073400" cy="11684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97A0180-7500-75A2-C478-5D938FDD5E26}"/>
              </a:ext>
            </a:extLst>
          </p:cNvPr>
          <p:cNvSpPr txBox="1"/>
          <p:nvPr/>
        </p:nvSpPr>
        <p:spPr>
          <a:xfrm>
            <a:off x="8559800" y="2717800"/>
            <a:ext cx="228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DBA14D"/>
                </a:solidFill>
                <a:latin typeface="Segoe UI" panose="020B0502040204020203" pitchFamily="34" charset="0"/>
              </a:rPr>
              <a:t>URL publica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74E05EA-CCC9-48DA-6D32-AB0A437C2C5F}"/>
              </a:ext>
            </a:extLst>
          </p:cNvPr>
          <p:cNvSpPr txBox="1"/>
          <p:nvPr/>
        </p:nvSpPr>
        <p:spPr>
          <a:xfrm>
            <a:off x="8483600" y="3124200"/>
            <a:ext cx="2641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000">
                <a:solidFill>
                  <a:srgbClr val="F6F8FC"/>
                </a:solidFill>
                <a:latin typeface="Consolas" panose="020B0609020204030204" pitchFamily="49" charset="0"/>
              </a:rPr>
              <a:t>https://agora.34.175...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6B10B3E-18A4-45B7-ABE4-6A2D870E6727}"/>
              </a:ext>
            </a:extLst>
          </p:cNvPr>
          <p:cNvSpPr txBox="1"/>
          <p:nvPr/>
        </p:nvSpPr>
        <p:spPr>
          <a:xfrm>
            <a:off x="1168400" y="4216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portal externo y los correos usan ya el origen publico correcto de la VM.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APP_EXTERNAL_BASE_URL fija la URL canonica para enlaces y notificaciones.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siguiente paso natural seria cambiar nip.io por dominio institucional propio.</a:t>
            </a:r>
          </a:p>
        </p:txBody>
      </p:sp>
    </p:spTree>
    <p:extLst>
      <p:ext uri="{BB962C8B-B14F-4D97-AF65-F5344CB8AC3E}">
        <p14:creationId xmlns:p14="http://schemas.microsoft.com/office/powerpoint/2010/main" val="2479140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3DB7E78-8B3E-11AC-2762-22C0BCF78BAD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11 / MENSAJERIA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09E744C-5809-A687-BBE4-A99858670EF8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Bandeja y chat con actualizacion automatica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EDE0FD2-2286-1920-8DC6-28BF35E55E70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comunicacion entre centro y empresa no depende ya de recargar la pagina a mano.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D235ABE-6CE1-ED99-5A52-2C162FF8A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2028825"/>
            <a:ext cx="6604000" cy="371475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78BC451A-3875-5BF9-9443-0E4BFD8AE8B6}"/>
              </a:ext>
            </a:extLst>
          </p:cNvPr>
          <p:cNvSpPr/>
          <p:nvPr/>
        </p:nvSpPr>
        <p:spPr>
          <a:xfrm>
            <a:off x="7874000" y="2082800"/>
            <a:ext cx="3175000" cy="10668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C57963F-9EC0-4099-7B7B-4EB80102A431}"/>
              </a:ext>
            </a:extLst>
          </p:cNvPr>
          <p:cNvSpPr txBox="1"/>
          <p:nvPr/>
        </p:nvSpPr>
        <p:spPr>
          <a:xfrm>
            <a:off x="8255000" y="2336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Actualizacion automatica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3E5C9C25-024E-58A9-F6C5-CDD9E7C0AB05}"/>
              </a:ext>
            </a:extLst>
          </p:cNvPr>
          <p:cNvSpPr txBox="1"/>
          <p:nvPr/>
        </p:nvSpPr>
        <p:spPr>
          <a:xfrm>
            <a:off x="8813800" y="27178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F6F8FC"/>
                </a:solidFill>
                <a:latin typeface="Segoe UI" panose="020B0502040204020203" pitchFamily="34" charset="0"/>
              </a:rPr>
              <a:t>5 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3C8ED2A-C773-D0D2-D196-68E99818FABC}"/>
              </a:ext>
            </a:extLst>
          </p:cNvPr>
          <p:cNvSpPr txBox="1"/>
          <p:nvPr/>
        </p:nvSpPr>
        <p:spPr>
          <a:xfrm>
            <a:off x="7924800" y="3479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Refresco periodico del chat y de la bandeja.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Nueva carga cuando la ventana recupera el foco.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La empresa tambien ve cambios en su panel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El rechazo queda comunicado por correo y visible en estado.</a:t>
            </a:r>
          </a:p>
        </p:txBody>
      </p:sp>
    </p:spTree>
    <p:extLst>
      <p:ext uri="{BB962C8B-B14F-4D97-AF65-F5344CB8AC3E}">
        <p14:creationId xmlns:p14="http://schemas.microsoft.com/office/powerpoint/2010/main" val="6608710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CEBF6AB-5197-355B-1FA4-C2D234A4110F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12 / AGORA DESKTOP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A32CA94-D527-C72B-8325-6DCAEB806FD0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Consola tecnica local y cloud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2235965-61F5-523C-968F-6345D6A076C2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parte tecnica ya no depende de varios terminales sueltos ni de una pagina web separada: queda centralizada en una sola app.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458D1CA-BD6B-4DEE-EC2D-DBAC79354B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2342377"/>
            <a:ext cx="5461000" cy="299874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DFB509E2-596F-AAC5-7A2E-4DE33DB60014}"/>
              </a:ext>
            </a:extLst>
          </p:cNvPr>
          <p:cNvSpPr txBox="1"/>
          <p:nvPr/>
        </p:nvSpPr>
        <p:spPr>
          <a:xfrm>
            <a:off x="6858000" y="20574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Modo local para backend, SQLite y demo offline.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Modo cloud para estado, smoke, logs y reinicios remotos.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MFA en operaciones sensibles del flujo local.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Diagnostico, logs y backups desde una sola interfaz.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Empaquetado Windows listo para la defensa.</a:t>
            </a:r>
          </a:p>
        </p:txBody>
      </p:sp>
    </p:spTree>
    <p:extLst>
      <p:ext uri="{BB962C8B-B14F-4D97-AF65-F5344CB8AC3E}">
        <p14:creationId xmlns:p14="http://schemas.microsoft.com/office/powerpoint/2010/main" val="3112546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8FD96AE-D367-0414-763C-D30FE2713BBF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13 / VALIDACION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CACD615-673E-68DD-6605-F0C87DC5F3BC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Comprobaciones ejecutadas antes de la revision final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8E0C63F5-D5D9-6EC9-1D0F-97E31CC5C01F}"/>
              </a:ext>
            </a:extLst>
          </p:cNvPr>
          <p:cNvSpPr/>
          <p:nvPr/>
        </p:nvSpPr>
        <p:spPr>
          <a:xfrm>
            <a:off x="8890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E3DDE59-0A1C-2DF0-F70F-323A93ED1DCF}"/>
              </a:ext>
            </a:extLst>
          </p:cNvPr>
          <p:cNvSpPr txBox="1"/>
          <p:nvPr/>
        </p:nvSpPr>
        <p:spPr>
          <a:xfrm>
            <a:off x="11176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101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E378B01-6BA6-86A4-4F17-E9FEA64A95E6}"/>
              </a:ext>
            </a:extLst>
          </p:cNvPr>
          <p:cNvSpPr txBox="1"/>
          <p:nvPr/>
        </p:nvSpPr>
        <p:spPr>
          <a:xfrm>
            <a:off x="11176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backend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8EE1CCE0-2338-4500-C634-21A04B3AF65A}"/>
              </a:ext>
            </a:extLst>
          </p:cNvPr>
          <p:cNvSpPr/>
          <p:nvPr/>
        </p:nvSpPr>
        <p:spPr>
          <a:xfrm>
            <a:off x="37084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F23986E-CC36-D0E2-A5CB-48C70AC53935}"/>
              </a:ext>
            </a:extLst>
          </p:cNvPr>
          <p:cNvSpPr txBox="1"/>
          <p:nvPr/>
        </p:nvSpPr>
        <p:spPr>
          <a:xfrm>
            <a:off x="39370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567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ECC1234-7648-5BF2-17C8-CFA69A67254D}"/>
              </a:ext>
            </a:extLst>
          </p:cNvPr>
          <p:cNvSpPr txBox="1"/>
          <p:nvPr/>
        </p:nvSpPr>
        <p:spPr>
          <a:xfrm>
            <a:off x="39370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aserciones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3AB075FD-EADE-71FA-8BC1-E0A3D54430C3}"/>
              </a:ext>
            </a:extLst>
          </p:cNvPr>
          <p:cNvSpPr/>
          <p:nvPr/>
        </p:nvSpPr>
        <p:spPr>
          <a:xfrm>
            <a:off x="65278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39C3D89-7AF7-DA66-C54C-10F62C7AA264}"/>
              </a:ext>
            </a:extLst>
          </p:cNvPr>
          <p:cNvSpPr txBox="1"/>
          <p:nvPr/>
        </p:nvSpPr>
        <p:spPr>
          <a:xfrm>
            <a:off x="67564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14/14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C7C1ADE-DAA9-F727-DA5D-FB4A5DBDBE8F}"/>
              </a:ext>
            </a:extLst>
          </p:cNvPr>
          <p:cNvSpPr txBox="1"/>
          <p:nvPr/>
        </p:nvSpPr>
        <p:spPr>
          <a:xfrm>
            <a:off x="67564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frontend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24337F6-C3C6-F30A-6583-BFFAD9BCD1D7}"/>
              </a:ext>
            </a:extLst>
          </p:cNvPr>
          <p:cNvSpPr/>
          <p:nvPr/>
        </p:nvSpPr>
        <p:spPr>
          <a:xfrm>
            <a:off x="93472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CCF68A8-F6F2-70CC-5887-C54A1EAEAE18}"/>
              </a:ext>
            </a:extLst>
          </p:cNvPr>
          <p:cNvSpPr txBox="1"/>
          <p:nvPr/>
        </p:nvSpPr>
        <p:spPr>
          <a:xfrm>
            <a:off x="95758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6/6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832274A-EBF8-9206-36A4-2913CDE82274}"/>
              </a:ext>
            </a:extLst>
          </p:cNvPr>
          <p:cNvSpPr txBox="1"/>
          <p:nvPr/>
        </p:nvSpPr>
        <p:spPr>
          <a:xfrm>
            <a:off x="95758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E2E Playwright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79D19F7-80E7-224C-A8F0-5FA014DB7486}"/>
              </a:ext>
            </a:extLst>
          </p:cNvPr>
          <p:cNvSpPr txBox="1"/>
          <p:nvPr/>
        </p:nvSpPr>
        <p:spPr>
          <a:xfrm>
            <a:off x="1193800" y="39878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Build integrada de /app y /externo publicada en Symfony.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Verificados correo, rechazo, URLs publicas, chat y consola tecnica de escritorio.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Tambien se ha validado el empaquetado Windows con PHP embebido y SQLite.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E3042E1-1D68-59B5-C091-3A18487C2D4F}"/>
              </a:ext>
            </a:extLst>
          </p:cNvPr>
          <p:cNvSpPr txBox="1"/>
          <p:nvPr/>
        </p:nvSpPr>
        <p:spPr>
          <a:xfrm>
            <a:off x="1193800" y="5562600"/>
            <a:ext cx="927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Queda una deprecacion tecnica de PHPUnit, no bloqueante para la demo ni para la funcionalidad.</a:t>
            </a:r>
          </a:p>
        </p:txBody>
      </p:sp>
    </p:spTree>
    <p:extLst>
      <p:ext uri="{BB962C8B-B14F-4D97-AF65-F5344CB8AC3E}">
        <p14:creationId xmlns:p14="http://schemas.microsoft.com/office/powerpoint/2010/main" val="24019759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38F03E6-8663-E337-8584-3E34D8AF0123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14 / ACCESO DE EVALUACION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7669304-2C55-A4E6-F092-CCF7B482F334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puede probarla la profesora desde fuera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FFB00EA-D6CD-F919-F770-4771792CD503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Con la VM levantada no necesita instalar dependencias en su equipo.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775C0131-DC1E-0995-3E0A-AF28EEBD93FF}"/>
              </a:ext>
            </a:extLst>
          </p:cNvPr>
          <p:cNvSpPr/>
          <p:nvPr/>
        </p:nvSpPr>
        <p:spPr>
          <a:xfrm>
            <a:off x="863600" y="2006600"/>
            <a:ext cx="104648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31B2301-D864-05E7-D62E-A28673A18ACB}"/>
              </a:ext>
            </a:extLst>
          </p:cNvPr>
          <p:cNvSpPr txBox="1"/>
          <p:nvPr/>
        </p:nvSpPr>
        <p:spPr>
          <a:xfrm>
            <a:off x="1244600" y="2362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 b="1">
                <a:solidFill>
                  <a:srgbClr val="4975B0"/>
                </a:solidFill>
                <a:latin typeface="Consolas" panose="020B0609020204030204" pitchFamily="49" charset="0"/>
              </a:rPr>
              <a:t>https://agora.34.175.224.87.nip.io/app   |   https://agora.34.175.224.87.nip.io/externo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9A2E840-415C-A105-E2E4-F36E50BEC8C1}"/>
              </a:ext>
            </a:extLst>
          </p:cNvPr>
          <p:cNvSpPr txBox="1"/>
          <p:nvPr/>
        </p:nvSpPr>
        <p:spPr>
          <a:xfrm>
            <a:off x="1295400" y="2794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La misma base sirve panel interno, portal externo y documentacion; la operacion tecnica se hace desde Agora Desktop.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B96C461D-0C13-B400-DE65-C8C17E1EDAEF}"/>
              </a:ext>
            </a:extLst>
          </p:cNvPr>
          <p:cNvSpPr/>
          <p:nvPr/>
        </p:nvSpPr>
        <p:spPr>
          <a:xfrm>
            <a:off x="1092200" y="3835400"/>
            <a:ext cx="4064000" cy="14986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1C24002-41E3-D09E-6180-F7D4F214AD45}"/>
              </a:ext>
            </a:extLst>
          </p:cNvPr>
          <p:cNvSpPr txBox="1"/>
          <p:nvPr/>
        </p:nvSpPr>
        <p:spPr>
          <a:xfrm>
            <a:off x="1498600" y="4165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Usuario de prueba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52D2E50-3C75-1DDF-25F3-8D7CB733BCCD}"/>
              </a:ext>
            </a:extLst>
          </p:cNvPr>
          <p:cNvSpPr txBox="1"/>
          <p:nvPr/>
        </p:nvSpPr>
        <p:spPr>
          <a:xfrm>
            <a:off x="1498600" y="45974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F6F8FC"/>
                </a:solidFill>
                <a:latin typeface="Consolas" panose="020B0609020204030204" pitchFamily="49" charset="0"/>
              </a:rPr>
              <a:t>profesora / Abrete01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ECD6467-C862-5541-7997-A449E19DE802}"/>
              </a:ext>
            </a:extLst>
          </p:cNvPr>
          <p:cNvSpPr txBox="1"/>
          <p:nvPr/>
        </p:nvSpPr>
        <p:spPr>
          <a:xfrm>
            <a:off x="1498600" y="4978400"/>
            <a:ext cx="279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Rol: coordinacion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4EAA11C-71BC-04F4-33B8-98949E8CD521}"/>
              </a:ext>
            </a:extLst>
          </p:cNvPr>
          <p:cNvSpPr txBox="1"/>
          <p:nvPr/>
        </p:nvSpPr>
        <p:spPr>
          <a:xfrm>
            <a:off x="5969000" y="38862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Puede revisar solicitudes, convenios, asignaciones y mensajes.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La empresa prueba el recorrido por /externo.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acceso remoto depende de que la VM siga activa.</a:t>
            </a:r>
          </a:p>
        </p:txBody>
      </p:sp>
    </p:spTree>
    <p:extLst>
      <p:ext uri="{BB962C8B-B14F-4D97-AF65-F5344CB8AC3E}">
        <p14:creationId xmlns:p14="http://schemas.microsoft.com/office/powerpoint/2010/main" val="3749847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0508CD6-6468-D198-6001-C125F543EE51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15 / MEJORAS FUTURAS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3A3F14B-A356-0585-8C75-B8A0FD06430D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endureceria despues de esta entrega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E49CF37-C0F0-5094-6378-3E4859EACAB8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nucleo ya esta cerrado; lo siguiente ya no es supervivencia de la demo, sino evolucion del producto.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A731536-B4DF-AFA1-DA9C-FC63CF39A62B}"/>
              </a:ext>
            </a:extLst>
          </p:cNvPr>
          <p:cNvSpPr/>
          <p:nvPr/>
        </p:nvSpPr>
        <p:spPr>
          <a:xfrm>
            <a:off x="711200" y="2235200"/>
            <a:ext cx="3200400" cy="2235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9C73E3B-28FC-3EEF-8394-3690362BFA4C}"/>
              </a:ext>
            </a:extLst>
          </p:cNvPr>
          <p:cNvSpPr txBox="1"/>
          <p:nvPr/>
        </p:nvSpPr>
        <p:spPr>
          <a:xfrm>
            <a:off x="965200" y="2489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1A772"/>
                </a:solidFill>
                <a:latin typeface="Segoe UI" panose="020B0502040204020203" pitchFamily="34" charset="0"/>
              </a:rPr>
              <a:t>Dominio propio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5BB407F-34E6-33CE-ECE6-E7917496A74D}"/>
              </a:ext>
            </a:extLst>
          </p:cNvPr>
          <p:cNvSpPr txBox="1"/>
          <p:nvPr/>
        </p:nvSpPr>
        <p:spPr>
          <a:xfrm>
            <a:off x="965200" y="2997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Sustituir nip.io por dominio institucional y reforzar politicas TLS.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B83EC71-8DCE-6D32-C673-B47194A22729}"/>
              </a:ext>
            </a:extLst>
          </p:cNvPr>
          <p:cNvSpPr/>
          <p:nvPr/>
        </p:nvSpPr>
        <p:spPr>
          <a:xfrm>
            <a:off x="4495800" y="2235200"/>
            <a:ext cx="3200400" cy="2235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08A1FC8-58B3-9590-68E1-40717831FB84}"/>
              </a:ext>
            </a:extLst>
          </p:cNvPr>
          <p:cNvSpPr txBox="1"/>
          <p:nvPr/>
        </p:nvSpPr>
        <p:spPr>
          <a:xfrm>
            <a:off x="4749800" y="2489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B1D2"/>
                </a:solidFill>
                <a:latin typeface="Segoe UI" panose="020B0502040204020203" pitchFamily="34" charset="0"/>
              </a:rPr>
              <a:t>Servicios gestionados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85BA0E7-B0B5-2E7A-A585-03D27E5375DF}"/>
              </a:ext>
            </a:extLst>
          </p:cNvPr>
          <p:cNvSpPr txBox="1"/>
          <p:nvPr/>
        </p:nvSpPr>
        <p:spPr>
          <a:xfrm>
            <a:off x="4749800" y="2997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Mover documentos, backups y observabilidad a piezas gestionadas.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6031C002-AC0B-8471-4EDA-05DB9C42AAB3}"/>
              </a:ext>
            </a:extLst>
          </p:cNvPr>
          <p:cNvSpPr/>
          <p:nvPr/>
        </p:nvSpPr>
        <p:spPr>
          <a:xfrm>
            <a:off x="8280400" y="2235200"/>
            <a:ext cx="3200400" cy="2235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EF38A84-BC89-66DB-3F38-42F3AC9B73D4}"/>
              </a:ext>
            </a:extLst>
          </p:cNvPr>
          <p:cNvSpPr txBox="1"/>
          <p:nvPr/>
        </p:nvSpPr>
        <p:spPr>
          <a:xfrm>
            <a:off x="8534400" y="2489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DBA14D"/>
                </a:solidFill>
                <a:latin typeface="Segoe UI" panose="020B0502040204020203" pitchFamily="34" charset="0"/>
              </a:rPr>
              <a:t>Cliente tecnico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5FD6878-A574-ECCD-F34F-68126FF04248}"/>
              </a:ext>
            </a:extLst>
          </p:cNvPr>
          <p:cNvSpPr txBox="1"/>
          <p:nvPr/>
        </p:nvSpPr>
        <p:spPr>
          <a:xfrm>
            <a:off x="8534400" y="2997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Ampliar Agora Desktop con mas automatizacion y soporte operativo sin mezclarlo con negocio.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5788005-402F-E948-3B31-51A2E3F487E4}"/>
              </a:ext>
            </a:extLst>
          </p:cNvPr>
          <p:cNvSpPr txBox="1"/>
          <p:nvPr/>
        </p:nvSpPr>
        <p:spPr>
          <a:xfrm>
            <a:off x="1117600" y="4978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Mantendria PostgreSQL en servidor y endureceria automatizacion, dominio y observabilidad.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No meteria nuevas funciones secundarias sin cerrar antes seguridad, pruebas y operacion.</a:t>
            </a:r>
          </a:p>
        </p:txBody>
      </p:sp>
    </p:spTree>
    <p:extLst>
      <p:ext uri="{BB962C8B-B14F-4D97-AF65-F5344CB8AC3E}">
        <p14:creationId xmlns:p14="http://schemas.microsoft.com/office/powerpoint/2010/main" val="17488924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3215732-2E6D-AB1D-FFB4-12A7886A87E4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16 / LIMITACIONES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D98BB5E-EC7D-5564-5D12-236DDDD63197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queda fuera de esta entrega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D676BF3-C9F4-2AB6-082C-716A5D2638F2}"/>
              </a:ext>
            </a:extLst>
          </p:cNvPr>
          <p:cNvSpPr txBox="1"/>
          <p:nvPr/>
        </p:nvSpPr>
        <p:spPr>
          <a:xfrm>
            <a:off x="990600" y="20320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Despliegue permanente completamente automatizado.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Integracion con SSO o identidad corporativa.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Firma electronica avanzada.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Almacenamiento documental en nube gestionada.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Perfilado profundo de rendimiento en produccion.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8F097D6B-2939-4359-E9E7-729A7B3B29F4}"/>
              </a:ext>
            </a:extLst>
          </p:cNvPr>
          <p:cNvSpPr/>
          <p:nvPr/>
        </p:nvSpPr>
        <p:spPr>
          <a:xfrm>
            <a:off x="6807200" y="2057400"/>
            <a:ext cx="4064000" cy="2667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AD83F5D-CFDF-120C-0FDD-91EDA33F66D7}"/>
              </a:ext>
            </a:extLst>
          </p:cNvPr>
          <p:cNvSpPr txBox="1"/>
          <p:nvPr/>
        </p:nvSpPr>
        <p:spPr>
          <a:xfrm>
            <a:off x="7213600" y="24384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Siguiente iteracion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63B6C04-9057-138B-9F0D-B95AEC196576}"/>
              </a:ext>
            </a:extLst>
          </p:cNvPr>
          <p:cNvSpPr txBox="1"/>
          <p:nvPr/>
        </p:nvSpPr>
        <p:spPr>
          <a:xfrm>
            <a:off x="7213600" y="3098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Despliegue estable, dominio propio, base de datos de servidor y seguridad endurecida.</a:t>
            </a:r>
          </a:p>
        </p:txBody>
      </p:sp>
    </p:spTree>
    <p:extLst>
      <p:ext uri="{BB962C8B-B14F-4D97-AF65-F5344CB8AC3E}">
        <p14:creationId xmlns:p14="http://schemas.microsoft.com/office/powerpoint/2010/main" val="28996760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A8EE9DF-5270-70E8-C162-AE5DD01AB92F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17 / CIERRE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D13068E-19B9-EDD4-657E-7276DAF3F2F6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Resultado defendible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B66D7E4-32FB-EDB8-A063-5BC70E531AEF}"/>
              </a:ext>
            </a:extLst>
          </p:cNvPr>
          <p:cNvSpPr txBox="1"/>
          <p:nvPr/>
        </p:nvSpPr>
        <p:spPr>
          <a:xfrm>
            <a:off x="1168400" y="2006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El proyecto transforma una gestion dispersa en una plataforma web funcional, trazable y documentada para empresas colaboradoras y practicas de FP Dual.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3C64D0F-89E4-FEB1-086C-F4917583C4F2}"/>
              </a:ext>
            </a:extLst>
          </p:cNvPr>
          <p:cNvSpPr txBox="1"/>
          <p:nvPr/>
        </p:nvSpPr>
        <p:spPr>
          <a:xfrm>
            <a:off x="1625600" y="40894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Problema real del centro.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Arquitectura completa con backend, dos frontends y operacion local.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Validacion tecnica, empaquetado y demo preparados.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E9AC572-B987-9EA5-C85B-687DEA4EEBE1}"/>
              </a:ext>
            </a:extLst>
          </p:cNvPr>
          <p:cNvSpPr txBox="1"/>
          <p:nvPr/>
        </p:nvSpPr>
        <p:spPr>
          <a:xfrm>
            <a:off x="4191000" y="594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200" b="1">
                <a:solidFill>
                  <a:srgbClr val="DBA14D"/>
                </a:solidFill>
                <a:latin typeface="Segoe UI" panose="020B0502040204020203" pitchFamily="34" charset="0"/>
              </a:rPr>
              <a:t>Demo y preguntas</a:t>
            </a:r>
          </a:p>
        </p:txBody>
      </p:sp>
    </p:spTree>
    <p:extLst>
      <p:ext uri="{BB962C8B-B14F-4D97-AF65-F5344CB8AC3E}">
        <p14:creationId xmlns:p14="http://schemas.microsoft.com/office/powerpoint/2010/main" val="30000884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1266</Words>
  <Application>Microsoft Office PowerPoint</Application>
  <PresentationFormat>Personalizado</PresentationFormat>
  <Paragraphs>172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Consolas</vt:lpstr>
      <vt:lpstr>Segoe UI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Ángel Méndez Minda</dc:creator>
  <cp:lastModifiedBy>Luis Ángel Méndez Minda</cp:lastModifiedBy>
  <cp:revision>1</cp:revision>
  <dcterms:created xsi:type="dcterms:W3CDTF">2026-05-19T14:50:29Z</dcterms:created>
  <dcterms:modified xsi:type="dcterms:W3CDTF">2026-05-19T14:50:30Z</dcterms:modified>
</cp:coreProperties>
</file>