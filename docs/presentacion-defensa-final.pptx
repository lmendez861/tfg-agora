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4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BF001C-8709-4ADC-8371-900A171C88AA}" type="datetimeFigureOut">
              <a:rPr lang="es-ES" smtClean="0"/>
              <a:t>04/06/2026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3001FF-24BA-4316-B9A8-D8767091175D}" type="slidenum">
              <a:rPr lang="es-ES" smtClean="0"/>
              <a:t>‹Nº›</a:t>
            </a:fld>
            <a:endParaRPr lang="es-ES"/>
          </a:p>
        </p:txBody>
      </p:sp>
    </p:spTree>
    <p:extLst>
      <p:ext uri="{BB962C8B-B14F-4D97-AF65-F5344CB8AC3E}">
        <p14:creationId xmlns:p14="http://schemas.microsoft.com/office/powerpoint/2010/main" val="3743991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En esta portada tengo que abrir con el problema, no con tecnologia.
La idea principal es que he construido una plataforma para gestionar empresas colaboradoras y practicas de FP Dual.
La solucion final tiene dos portales, una API central, documentacion publica y una app de escritorio tecnica.
Durante la defensa voy a enseÃ±ar el flujo funcional y despues la parte de operacion y validacion.</a:t>
            </a:r>
          </a:p>
        </p:txBody>
      </p:sp>
      <p:sp>
        <p:nvSpPr>
          <p:cNvPr id="4" name="Marcador de número de diapositiva 3"/>
          <p:cNvSpPr>
            <a:spLocks noGrp="1"/>
          </p:cNvSpPr>
          <p:nvPr>
            <p:ph type="sldNum" sz="quarter" idx="5"/>
          </p:nvPr>
        </p:nvSpPr>
        <p:spPr/>
        <p:txBody>
          <a:bodyPr/>
          <a:lstStyle/>
          <a:p>
            <a:fld id="{B93001FF-24BA-4316-B9A8-D8767091175D}" type="slidenum">
              <a:rPr lang="es-ES" smtClean="0"/>
              <a:t>1</a:t>
            </a:fld>
            <a:endParaRPr lang="es-ES"/>
          </a:p>
        </p:txBody>
      </p:sp>
    </p:spTree>
    <p:extLst>
      <p:ext uri="{BB962C8B-B14F-4D97-AF65-F5344CB8AC3E}">
        <p14:creationId xmlns:p14="http://schemas.microsoft.com/office/powerpoint/2010/main" val="215697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Aqui tengo que explicar el contexto inicial.
Antes la informacion estaba repartida entre correos, hojas de calculo y documentos en carpetas distintas.
Eso hacia dificil saber en que estado estaba cada empresa, cada convenio o cada practica.
Por eso el problema no era solo guardar datos, sino dar continuidad, trazabilidad y una vista unica al centro.</a:t>
            </a:r>
          </a:p>
        </p:txBody>
      </p:sp>
      <p:sp>
        <p:nvSpPr>
          <p:cNvPr id="4" name="Marcador de número de diapositiva 3"/>
          <p:cNvSpPr>
            <a:spLocks noGrp="1"/>
          </p:cNvSpPr>
          <p:nvPr>
            <p:ph type="sldNum" sz="quarter" idx="5"/>
          </p:nvPr>
        </p:nvSpPr>
        <p:spPr/>
        <p:txBody>
          <a:bodyPr/>
          <a:lstStyle/>
          <a:p>
            <a:fld id="{B93001FF-24BA-4316-B9A8-D8767091175D}" type="slidenum">
              <a:rPr lang="es-ES" smtClean="0"/>
              <a:t>2</a:t>
            </a:fld>
            <a:endParaRPr lang="es-ES"/>
          </a:p>
        </p:txBody>
      </p:sp>
    </p:spTree>
    <p:extLst>
      <p:ext uri="{BB962C8B-B14F-4D97-AF65-F5344CB8AC3E}">
        <p14:creationId xmlns:p14="http://schemas.microsoft.com/office/powerpoint/2010/main" val="3549670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Aqui resumo el alcance en cuatro objetivos claros.
Primero, centralizar la operativa del centro.
Segundo, abrir un canal externo para empresas sin mezclarlo con el panel interno.
Tercero, dejar trazabilidad documental y de mensajes.
Cuarto, cerrar una solucion defendible tecnicamente con pruebas, despliegue y documentacion.</a:t>
            </a:r>
          </a:p>
        </p:txBody>
      </p:sp>
      <p:sp>
        <p:nvSpPr>
          <p:cNvPr id="4" name="Marcador de número de diapositiva 3"/>
          <p:cNvSpPr>
            <a:spLocks noGrp="1"/>
          </p:cNvSpPr>
          <p:nvPr>
            <p:ph type="sldNum" sz="quarter" idx="5"/>
          </p:nvPr>
        </p:nvSpPr>
        <p:spPr/>
        <p:txBody>
          <a:bodyPr/>
          <a:lstStyle/>
          <a:p>
            <a:fld id="{B93001FF-24BA-4316-B9A8-D8767091175D}" type="slidenum">
              <a:rPr lang="es-ES" smtClean="0"/>
              <a:t>3</a:t>
            </a:fld>
            <a:endParaRPr lang="es-ES"/>
          </a:p>
        </p:txBody>
      </p:sp>
    </p:spTree>
    <p:extLst>
      <p:ext uri="{BB962C8B-B14F-4D97-AF65-F5344CB8AC3E}">
        <p14:creationId xmlns:p14="http://schemas.microsoft.com/office/powerpoint/2010/main" val="40731371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Esta diapositiva me sirve para defender la separacion de responsabilidades.
Symfony concentra negocio, seguridad y persistencia.
React se divide en portal interno y portal externo.
La documentacion publica queda separada del flujo operativo.
Agora Desktop no es una tercera interfaz de negocio, sino una consola tecnica para soporte local y cloud.</a:t>
            </a:r>
          </a:p>
        </p:txBody>
      </p:sp>
      <p:sp>
        <p:nvSpPr>
          <p:cNvPr id="4" name="Marcador de número de diapositiva 3"/>
          <p:cNvSpPr>
            <a:spLocks noGrp="1"/>
          </p:cNvSpPr>
          <p:nvPr>
            <p:ph type="sldNum" sz="quarter" idx="5"/>
          </p:nvPr>
        </p:nvSpPr>
        <p:spPr/>
        <p:txBody>
          <a:bodyPr/>
          <a:lstStyle/>
          <a:p>
            <a:fld id="{B93001FF-24BA-4316-B9A8-D8767091175D}" type="slidenum">
              <a:rPr lang="es-ES" smtClean="0"/>
              <a:t>4</a:t>
            </a:fld>
            <a:endParaRPr lang="es-ES"/>
          </a:p>
        </p:txBody>
      </p:sp>
    </p:spTree>
    <p:extLst>
      <p:ext uri="{BB962C8B-B14F-4D97-AF65-F5344CB8AC3E}">
        <p14:creationId xmlns:p14="http://schemas.microsoft.com/office/powerpoint/2010/main" val="40514460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Flujo que debo explicar en esta diapositiva:
1. La empresa entra primero por solicitud externa.
2. Cuando el centro aprueba, esa solicitud pasa al catalogo interno de empresas activas.
3. Despues completo la ficha de empresa con contactos, documentos y tutor profesional.
4. Luego formalizo el convenio entre centro y empresa.
5. La asignacion es donde vinculo estudiante, convenio, tutor academico, tutor profesional, horas, fechas y modalidad.
6. Sobre esa asignacion registro seguimientos, reuniones, evidencias y la evaluacion final.
7. La evaluacion final se guarda sobre la asignacion, no como un seguimiento suelto ni como una nota general del estudiante.</a:t>
            </a:r>
          </a:p>
        </p:txBody>
      </p:sp>
      <p:sp>
        <p:nvSpPr>
          <p:cNvPr id="4" name="Marcador de número de diapositiva 3"/>
          <p:cNvSpPr>
            <a:spLocks noGrp="1"/>
          </p:cNvSpPr>
          <p:nvPr>
            <p:ph type="sldNum" sz="quarter" idx="5"/>
          </p:nvPr>
        </p:nvSpPr>
        <p:spPr/>
        <p:txBody>
          <a:bodyPr/>
          <a:lstStyle/>
          <a:p>
            <a:fld id="{B93001FF-24BA-4316-B9A8-D8767091175D}" type="slidenum">
              <a:rPr lang="es-ES" smtClean="0"/>
              <a:t>5</a:t>
            </a:fld>
            <a:endParaRPr lang="es-ES"/>
          </a:p>
        </p:txBody>
      </p:sp>
    </p:spTree>
    <p:extLst>
      <p:ext uri="{BB962C8B-B14F-4D97-AF65-F5344CB8AC3E}">
        <p14:creationId xmlns:p14="http://schemas.microsoft.com/office/powerpoint/2010/main" val="1828890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Aqui explico que el portal interno es la herramienta de trabajo diaria del centro.
Desde este panel se revisan KPI, solicitudes, empresas, convenios, tutores, estudiantes y asignaciones.
La idea es que no sea solo un CRUD, sino un shell operativo con accesos rapidos, bandeja y exportacion CSV.
Las fichas 360 de empresa y convenio ayudan a no perder contexto.</a:t>
            </a:r>
          </a:p>
        </p:txBody>
      </p:sp>
      <p:sp>
        <p:nvSpPr>
          <p:cNvPr id="4" name="Marcador de número de diapositiva 3"/>
          <p:cNvSpPr>
            <a:spLocks noGrp="1"/>
          </p:cNvSpPr>
          <p:nvPr>
            <p:ph type="sldNum" sz="quarter" idx="5"/>
          </p:nvPr>
        </p:nvSpPr>
        <p:spPr/>
        <p:txBody>
          <a:bodyPr/>
          <a:lstStyle/>
          <a:p>
            <a:fld id="{B93001FF-24BA-4316-B9A8-D8767091175D}" type="slidenum">
              <a:rPr lang="es-ES" smtClean="0"/>
              <a:t>6</a:t>
            </a:fld>
            <a:endParaRPr lang="es-ES"/>
          </a:p>
        </p:txBody>
      </p:sp>
    </p:spTree>
    <p:extLst>
      <p:ext uri="{BB962C8B-B14F-4D97-AF65-F5344CB8AC3E}">
        <p14:creationId xmlns:p14="http://schemas.microsoft.com/office/powerpoint/2010/main" val="8633472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Aqui tengo que conectar claramente portal externo y portal interno.
La empresa no entra directamente al dominio interno.
Primero crea su acceso, envia la solicitud y verifica el correo.
Despues el centro revisa, aprueba o rechaza.
La mensajeria queda ligada a la solicitud y, cuando se aprueba, continua sobre la empresa ya activada.</a:t>
            </a:r>
          </a:p>
        </p:txBody>
      </p:sp>
      <p:sp>
        <p:nvSpPr>
          <p:cNvPr id="4" name="Marcador de número de diapositiva 3"/>
          <p:cNvSpPr>
            <a:spLocks noGrp="1"/>
          </p:cNvSpPr>
          <p:nvPr>
            <p:ph type="sldNum" sz="quarter" idx="5"/>
          </p:nvPr>
        </p:nvSpPr>
        <p:spPr/>
        <p:txBody>
          <a:bodyPr/>
          <a:lstStyle/>
          <a:p>
            <a:fld id="{B93001FF-24BA-4316-B9A8-D8767091175D}" type="slidenum">
              <a:rPr lang="es-ES" smtClean="0"/>
              <a:t>7</a:t>
            </a:fld>
            <a:endParaRPr lang="es-ES"/>
          </a:p>
        </p:txBody>
      </p:sp>
    </p:spTree>
    <p:extLst>
      <p:ext uri="{BB962C8B-B14F-4D97-AF65-F5344CB8AC3E}">
        <p14:creationId xmlns:p14="http://schemas.microsoft.com/office/powerpoint/2010/main" val="31451805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En esta slide explico que el portal externo no es una copia reducida del interno.
Tiene su propio recorrido: alta de cuenta, solicitud, verificacion, estado, acceso persistente y chat.
La empresa nunca necesita credenciales del centro.
Cuando la empresa se aprueba, la misma cuenta sigue sirviendo para ver sus convenios, asignaciones y documentos.</a:t>
            </a:r>
          </a:p>
        </p:txBody>
      </p:sp>
      <p:sp>
        <p:nvSpPr>
          <p:cNvPr id="4" name="Marcador de número de diapositiva 3"/>
          <p:cNvSpPr>
            <a:spLocks noGrp="1"/>
          </p:cNvSpPr>
          <p:nvPr>
            <p:ph type="sldNum" sz="quarter" idx="5"/>
          </p:nvPr>
        </p:nvSpPr>
        <p:spPr/>
        <p:txBody>
          <a:bodyPr/>
          <a:lstStyle/>
          <a:p>
            <a:fld id="{B93001FF-24BA-4316-B9A8-D8767091175D}" type="slidenum">
              <a:rPr lang="es-ES" smtClean="0"/>
              <a:t>8</a:t>
            </a:fld>
            <a:endParaRPr lang="es-ES"/>
          </a:p>
        </p:txBody>
      </p:sp>
    </p:spTree>
    <p:extLst>
      <p:ext uri="{BB962C8B-B14F-4D97-AF65-F5344CB8AC3E}">
        <p14:creationId xmlns:p14="http://schemas.microsoft.com/office/powerpoint/2010/main" val="2676240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Aqui cuento el proyecto por bloques de construccion, no por commits.
Primero modele el problema y el dominio.
Despues levante backend y reglas de negocio.
Luego hice el portal interno, el portal externo y el soporte documental.
La ultima capa fue la operacion tecnica: cloud, escritorio, pruebas y empaquetado.</a:t>
            </a:r>
          </a:p>
        </p:txBody>
      </p:sp>
      <p:sp>
        <p:nvSpPr>
          <p:cNvPr id="4" name="Marcador de número de diapositiva 3"/>
          <p:cNvSpPr>
            <a:spLocks noGrp="1"/>
          </p:cNvSpPr>
          <p:nvPr>
            <p:ph type="sldNum" sz="quarter" idx="5"/>
          </p:nvPr>
        </p:nvSpPr>
        <p:spPr/>
        <p:txBody>
          <a:bodyPr/>
          <a:lstStyle/>
          <a:p>
            <a:fld id="{B93001FF-24BA-4316-B9A8-D8767091175D}" type="slidenum">
              <a:rPr lang="es-ES" smtClean="0"/>
              <a:t>9</a:t>
            </a:fld>
            <a:endParaRPr lang="es-ES"/>
          </a:p>
        </p:txBody>
      </p:sp>
    </p:spTree>
    <p:extLst>
      <p:ext uri="{BB962C8B-B14F-4D97-AF65-F5344CB8AC3E}">
        <p14:creationId xmlns:p14="http://schemas.microsoft.com/office/powerpoint/2010/main" val="14825811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Aqui debo dejar claro que el correo no es decorativo.
Uso Brevo para verificacion de empresa, activacion de cuenta, recuperacion de contrasena y avisos de rechazo.
Eso permite que la profesora pruebe un flujo real desde fuera, no una simulacion local.
Tambien me sirve para justificar por que necesitaba una URL publica correcta en cloud.</a:t>
            </a:r>
          </a:p>
        </p:txBody>
      </p:sp>
      <p:sp>
        <p:nvSpPr>
          <p:cNvPr id="4" name="Marcador de número de diapositiva 3"/>
          <p:cNvSpPr>
            <a:spLocks noGrp="1"/>
          </p:cNvSpPr>
          <p:nvPr>
            <p:ph type="sldNum" sz="quarter" idx="5"/>
          </p:nvPr>
        </p:nvSpPr>
        <p:spPr/>
        <p:txBody>
          <a:bodyPr/>
          <a:lstStyle/>
          <a:p>
            <a:fld id="{B93001FF-24BA-4316-B9A8-D8767091175D}" type="slidenum">
              <a:rPr lang="es-ES" smtClean="0"/>
              <a:t>10</a:t>
            </a:fld>
            <a:endParaRPr lang="es-ES"/>
          </a:p>
        </p:txBody>
      </p:sp>
    </p:spTree>
    <p:extLst>
      <p:ext uri="{BB962C8B-B14F-4D97-AF65-F5344CB8AC3E}">
        <p14:creationId xmlns:p14="http://schemas.microsoft.com/office/powerpoint/2010/main" val="39867968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Aqui explico un problema real que tuve que resolver.
Una URL local dentro de un correo no sirve para una empresa externa.
Por eso el despliegue cloud publica una URL HTTPS y el backend genera enlaces con ese origen.
Con nip.io resuelvo la demo, aunque a futuro lo correcto seria un dominio institucional o una IP estatica.</a:t>
            </a:r>
          </a:p>
        </p:txBody>
      </p:sp>
      <p:sp>
        <p:nvSpPr>
          <p:cNvPr id="4" name="Marcador de número de diapositiva 3"/>
          <p:cNvSpPr>
            <a:spLocks noGrp="1"/>
          </p:cNvSpPr>
          <p:nvPr>
            <p:ph type="sldNum" sz="quarter" idx="5"/>
          </p:nvPr>
        </p:nvSpPr>
        <p:spPr/>
        <p:txBody>
          <a:bodyPr/>
          <a:lstStyle/>
          <a:p>
            <a:fld id="{B93001FF-24BA-4316-B9A8-D8767091175D}" type="slidenum">
              <a:rPr lang="es-ES" smtClean="0"/>
              <a:t>11</a:t>
            </a:fld>
            <a:endParaRPr lang="es-ES"/>
          </a:p>
        </p:txBody>
      </p:sp>
    </p:spTree>
    <p:extLst>
      <p:ext uri="{BB962C8B-B14F-4D97-AF65-F5344CB8AC3E}">
        <p14:creationId xmlns:p14="http://schemas.microsoft.com/office/powerpoint/2010/main" val="22760646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Esta diapositiva me sirve para justificar que la aplicacion no da sensacion de maqueta estatica.
La bandeja interna y el chat externo se refrescan solos en segundo plano y tambien al recuperar el foco del navegador.
Eso evita tener que recargar manualmente durante la demo.
Ademas, el estado de rechazo no solo llega por correo: tambien queda visible dentro del portal externo.</a:t>
            </a:r>
          </a:p>
        </p:txBody>
      </p:sp>
      <p:sp>
        <p:nvSpPr>
          <p:cNvPr id="4" name="Marcador de número de diapositiva 3"/>
          <p:cNvSpPr>
            <a:spLocks noGrp="1"/>
          </p:cNvSpPr>
          <p:nvPr>
            <p:ph type="sldNum" sz="quarter" idx="5"/>
          </p:nvPr>
        </p:nvSpPr>
        <p:spPr/>
        <p:txBody>
          <a:bodyPr/>
          <a:lstStyle/>
          <a:p>
            <a:fld id="{B93001FF-24BA-4316-B9A8-D8767091175D}" type="slidenum">
              <a:rPr lang="es-ES" smtClean="0"/>
              <a:t>12</a:t>
            </a:fld>
            <a:endParaRPr lang="es-ES"/>
          </a:p>
        </p:txBody>
      </p:sp>
    </p:spTree>
    <p:extLst>
      <p:ext uri="{BB962C8B-B14F-4D97-AF65-F5344CB8AC3E}">
        <p14:creationId xmlns:p14="http://schemas.microsoft.com/office/powerpoint/2010/main" val="1059339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Aqui explico por que hice Agora Desktop.
No queria depender de varios terminales ni de una pagina tecnica aparte.
La app me concentra modo local, modo cloud, logs, reinicios, smoke y contingencia.
Si la VM cambia de IP o falla el servicio, desde aqui veo la URL efectiva y el estado de agora.service.</a:t>
            </a:r>
          </a:p>
        </p:txBody>
      </p:sp>
      <p:sp>
        <p:nvSpPr>
          <p:cNvPr id="4" name="Marcador de número de diapositiva 3"/>
          <p:cNvSpPr>
            <a:spLocks noGrp="1"/>
          </p:cNvSpPr>
          <p:nvPr>
            <p:ph type="sldNum" sz="quarter" idx="5"/>
          </p:nvPr>
        </p:nvSpPr>
        <p:spPr/>
        <p:txBody>
          <a:bodyPr/>
          <a:lstStyle/>
          <a:p>
            <a:fld id="{B93001FF-24BA-4316-B9A8-D8767091175D}" type="slidenum">
              <a:rPr lang="es-ES" smtClean="0"/>
              <a:t>13</a:t>
            </a:fld>
            <a:endParaRPr lang="es-ES"/>
          </a:p>
        </p:txBody>
      </p:sp>
    </p:spTree>
    <p:extLst>
      <p:ext uri="{BB962C8B-B14F-4D97-AF65-F5344CB8AC3E}">
        <p14:creationId xmlns:p14="http://schemas.microsoft.com/office/powerpoint/2010/main" val="6407347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Aqui explico dos decisiones tecnicas que pueden preguntar.
Primero, el arranque de la VM:
Docker por si solo reinicia contenedores, pero yo queria asegurar el arranque completo del stack.
Por eso instalo agora.service con systemd. Ese servicio ejecuta deploy/gcp/startup.sh.
startup.sh comprueba .env.gcp, recalcula la URL nip.io si cambia la IP publica y ejecuta docker compose up -d --remove-orphans.
El compose levanta proxy, app y base de datos.
Segundo, roles:
Ahora mismo para la defensa uso un usuario amplio para no fragmentar la demo.
Pero el backend ya tiene roles definidos en backend/config/packages/security.yaml.
ROLE_ADMIN hereda todo, ROLE_COORDINATOR gestiona el flujo academico, ROLE_DOCUMENT_MANAGER gestiona documentos, ROLE_MONITOR sirve para la parte tecnica y ROLE_COMPANY_PORTAL queda separado para empresas.
La mejora futura seria cerrar la parte fina en React: ocultar botones segun rol y crear un perfil de solo lectura.</a:t>
            </a:r>
          </a:p>
        </p:txBody>
      </p:sp>
      <p:sp>
        <p:nvSpPr>
          <p:cNvPr id="4" name="Marcador de número de diapositiva 3"/>
          <p:cNvSpPr>
            <a:spLocks noGrp="1"/>
          </p:cNvSpPr>
          <p:nvPr>
            <p:ph type="sldNum" sz="quarter" idx="5"/>
          </p:nvPr>
        </p:nvSpPr>
        <p:spPr/>
        <p:txBody>
          <a:bodyPr/>
          <a:lstStyle/>
          <a:p>
            <a:fld id="{B93001FF-24BA-4316-B9A8-D8767091175D}" type="slidenum">
              <a:rPr lang="es-ES" smtClean="0"/>
              <a:t>14</a:t>
            </a:fld>
            <a:endParaRPr lang="es-ES"/>
          </a:p>
        </p:txBody>
      </p:sp>
    </p:spTree>
    <p:extLst>
      <p:ext uri="{BB962C8B-B14F-4D97-AF65-F5344CB8AC3E}">
        <p14:creationId xmlns:p14="http://schemas.microsoft.com/office/powerpoint/2010/main" val="26378704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Aqui no me interesa presumir de numeros sin contexto.
Lo importante es explicar que he validado backend, frontend, E2E, correo, mensajeria, documentos, cloud y escritorio.
Las cifras sirven como apoyo para demostrar que no me he quedado en una prueba manual superficial.
La deprecacion de PHPUnit existe, pero no afecta a la funcionalidad ni a la defensa.</a:t>
            </a:r>
          </a:p>
        </p:txBody>
      </p:sp>
      <p:sp>
        <p:nvSpPr>
          <p:cNvPr id="4" name="Marcador de número de diapositiva 3"/>
          <p:cNvSpPr>
            <a:spLocks noGrp="1"/>
          </p:cNvSpPr>
          <p:nvPr>
            <p:ph type="sldNum" sz="quarter" idx="5"/>
          </p:nvPr>
        </p:nvSpPr>
        <p:spPr/>
        <p:txBody>
          <a:bodyPr/>
          <a:lstStyle/>
          <a:p>
            <a:fld id="{B93001FF-24BA-4316-B9A8-D8767091175D}" type="slidenum">
              <a:rPr lang="es-ES" smtClean="0"/>
              <a:t>15</a:t>
            </a:fld>
            <a:endParaRPr lang="es-ES"/>
          </a:p>
        </p:txBody>
      </p:sp>
    </p:spTree>
    <p:extLst>
      <p:ext uri="{BB962C8B-B14F-4D97-AF65-F5344CB8AC3E}">
        <p14:creationId xmlns:p14="http://schemas.microsoft.com/office/powerpoint/2010/main" val="30213424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Esta slide es muy practica: explica como se puede probar el sistema desde fuera.
Debo remarcar que la referencia buena es la URL cloud efectiva.
Si cambia la IP publica, Agora Desktop me dice la nueva URL.
Con la cuenta profesora se puede revisar el flujo interno sin usar la cuenta de administrador principal.</a:t>
            </a:r>
          </a:p>
        </p:txBody>
      </p:sp>
      <p:sp>
        <p:nvSpPr>
          <p:cNvPr id="4" name="Marcador de número de diapositiva 3"/>
          <p:cNvSpPr>
            <a:spLocks noGrp="1"/>
          </p:cNvSpPr>
          <p:nvPr>
            <p:ph type="sldNum" sz="quarter" idx="5"/>
          </p:nvPr>
        </p:nvSpPr>
        <p:spPr/>
        <p:txBody>
          <a:bodyPr/>
          <a:lstStyle/>
          <a:p>
            <a:fld id="{B93001FF-24BA-4316-B9A8-D8767091175D}" type="slidenum">
              <a:rPr lang="es-ES" smtClean="0"/>
              <a:t>16</a:t>
            </a:fld>
            <a:endParaRPr lang="es-ES"/>
          </a:p>
        </p:txBody>
      </p:sp>
    </p:spTree>
    <p:extLst>
      <p:ext uri="{BB962C8B-B14F-4D97-AF65-F5344CB8AC3E}">
        <p14:creationId xmlns:p14="http://schemas.microsoft.com/office/powerpoint/2010/main" val="14842175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Aqui tengo que defender bien el alcance.
Lo principal ya esta cerrado: portales, documentos, mensajeria, correo, cloud y escritorio.
Lo que dejo para despues no son huecos del nucleo, sino mejoras de endurecimiento y evolucion.
Eso demuestra criterio: he preferido cerrar bien el producto base antes que abarcar mas cosas a medias.</a:t>
            </a:r>
          </a:p>
        </p:txBody>
      </p:sp>
      <p:sp>
        <p:nvSpPr>
          <p:cNvPr id="4" name="Marcador de número de diapositiva 3"/>
          <p:cNvSpPr>
            <a:spLocks noGrp="1"/>
          </p:cNvSpPr>
          <p:nvPr>
            <p:ph type="sldNum" sz="quarter" idx="5"/>
          </p:nvPr>
        </p:nvSpPr>
        <p:spPr/>
        <p:txBody>
          <a:bodyPr/>
          <a:lstStyle/>
          <a:p>
            <a:fld id="{B93001FF-24BA-4316-B9A8-D8767091175D}" type="slidenum">
              <a:rPr lang="es-ES" smtClean="0"/>
              <a:t>17</a:t>
            </a:fld>
            <a:endParaRPr lang="es-ES"/>
          </a:p>
        </p:txBody>
      </p:sp>
    </p:spTree>
    <p:extLst>
      <p:ext uri="{BB962C8B-B14F-4D97-AF65-F5344CB8AC3E}">
        <p14:creationId xmlns:p14="http://schemas.microsoft.com/office/powerpoint/2010/main" val="36056824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No debo esconder las limitaciones.
Lo que falta no invalida el TFG, pero si marca una hoja de ruta realista:
SSO, firma avanzada, dominio propio, observabilidad y servicios gestionados.
Tambien puedo mencionar que Symfony sigue una version que convendria actualizar tras la entrega para mantenimiento a medio plazo.</a:t>
            </a:r>
          </a:p>
        </p:txBody>
      </p:sp>
      <p:sp>
        <p:nvSpPr>
          <p:cNvPr id="4" name="Marcador de número de diapositiva 3"/>
          <p:cNvSpPr>
            <a:spLocks noGrp="1"/>
          </p:cNvSpPr>
          <p:nvPr>
            <p:ph type="sldNum" sz="quarter" idx="5"/>
          </p:nvPr>
        </p:nvSpPr>
        <p:spPr/>
        <p:txBody>
          <a:bodyPr/>
          <a:lstStyle/>
          <a:p>
            <a:fld id="{B93001FF-24BA-4316-B9A8-D8767091175D}" type="slidenum">
              <a:rPr lang="es-ES" smtClean="0"/>
              <a:t>18</a:t>
            </a:fld>
            <a:endParaRPr lang="es-ES"/>
          </a:p>
        </p:txBody>
      </p:sp>
    </p:spTree>
    <p:extLst>
      <p:ext uri="{BB962C8B-B14F-4D97-AF65-F5344CB8AC3E}">
        <p14:creationId xmlns:p14="http://schemas.microsoft.com/office/powerpoint/2010/main" val="13037025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Aqui cierro con una idea simple.
El valor del proyecto no esta en una tecnologia concreta, sino en haber convertido una necesidad real del centro en una solucion completa, funcional y defendible.
Despues de esta slide paso a demo o a preguntas, segun el tiempo.</a:t>
            </a:r>
          </a:p>
        </p:txBody>
      </p:sp>
      <p:sp>
        <p:nvSpPr>
          <p:cNvPr id="4" name="Marcador de número de diapositiva 3"/>
          <p:cNvSpPr>
            <a:spLocks noGrp="1"/>
          </p:cNvSpPr>
          <p:nvPr>
            <p:ph type="sldNum" sz="quarter" idx="5"/>
          </p:nvPr>
        </p:nvSpPr>
        <p:spPr/>
        <p:txBody>
          <a:bodyPr/>
          <a:lstStyle/>
          <a:p>
            <a:fld id="{B93001FF-24BA-4316-B9A8-D8767091175D}" type="slidenum">
              <a:rPr lang="es-ES" smtClean="0"/>
              <a:t>19</a:t>
            </a:fld>
            <a:endParaRPr lang="es-ES"/>
          </a:p>
        </p:txBody>
      </p:sp>
    </p:spTree>
    <p:extLst>
      <p:ext uri="{BB962C8B-B14F-4D97-AF65-F5344CB8AC3E}">
        <p14:creationId xmlns:p14="http://schemas.microsoft.com/office/powerpoint/2010/main" val="2211849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BF71DD-8A1A-3A5C-427E-F42D1B5597E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BFADDF58-6B19-3973-E9CA-309017CC0E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34C85AC0-8B5B-D328-C631-062B2A19CD38}"/>
              </a:ext>
            </a:extLst>
          </p:cNvPr>
          <p:cNvSpPr>
            <a:spLocks noGrp="1"/>
          </p:cNvSpPr>
          <p:nvPr>
            <p:ph type="dt" sz="half" idx="10"/>
          </p:nvPr>
        </p:nvSpPr>
        <p:spPr/>
        <p:txBody>
          <a:bodyPr/>
          <a:lstStyle/>
          <a:p>
            <a:fld id="{E2E78F0F-3CEE-4885-8154-F908A2044D66}" type="datetimeFigureOut">
              <a:rPr lang="es-ES" smtClean="0"/>
              <a:t>04/06/2026</a:t>
            </a:fld>
            <a:endParaRPr lang="es-ES"/>
          </a:p>
        </p:txBody>
      </p:sp>
      <p:sp>
        <p:nvSpPr>
          <p:cNvPr id="5" name="Marcador de pie de página 4">
            <a:extLst>
              <a:ext uri="{FF2B5EF4-FFF2-40B4-BE49-F238E27FC236}">
                <a16:creationId xmlns:a16="http://schemas.microsoft.com/office/drawing/2014/main" id="{B2AAB737-A507-EDBB-C397-1439D07293A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FA276E1-F939-4447-B2B8-98A12AE7E336}"/>
              </a:ext>
            </a:extLst>
          </p:cNvPr>
          <p:cNvSpPr>
            <a:spLocks noGrp="1"/>
          </p:cNvSpPr>
          <p:nvPr>
            <p:ph type="sldNum" sz="quarter" idx="12"/>
          </p:nvPr>
        </p:nvSpPr>
        <p:spPr/>
        <p:txBody>
          <a:bodyPr/>
          <a:lstStyle/>
          <a:p>
            <a:fld id="{46952519-79A0-4158-88E8-8A74092916AE}" type="slidenum">
              <a:rPr lang="es-ES" smtClean="0"/>
              <a:t>‹Nº›</a:t>
            </a:fld>
            <a:endParaRPr lang="es-ES"/>
          </a:p>
        </p:txBody>
      </p:sp>
    </p:spTree>
    <p:extLst>
      <p:ext uri="{BB962C8B-B14F-4D97-AF65-F5344CB8AC3E}">
        <p14:creationId xmlns:p14="http://schemas.microsoft.com/office/powerpoint/2010/main" val="3700646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43EFF3-2208-B0F4-F888-B4BFB0EB634F}"/>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03E54055-C46C-7830-17EC-638EDDF01D8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A0298D9-986A-400B-52EA-7C3160091503}"/>
              </a:ext>
            </a:extLst>
          </p:cNvPr>
          <p:cNvSpPr>
            <a:spLocks noGrp="1"/>
          </p:cNvSpPr>
          <p:nvPr>
            <p:ph type="dt" sz="half" idx="10"/>
          </p:nvPr>
        </p:nvSpPr>
        <p:spPr/>
        <p:txBody>
          <a:bodyPr/>
          <a:lstStyle/>
          <a:p>
            <a:fld id="{E2E78F0F-3CEE-4885-8154-F908A2044D66}" type="datetimeFigureOut">
              <a:rPr lang="es-ES" smtClean="0"/>
              <a:t>04/06/2026</a:t>
            </a:fld>
            <a:endParaRPr lang="es-ES"/>
          </a:p>
        </p:txBody>
      </p:sp>
      <p:sp>
        <p:nvSpPr>
          <p:cNvPr id="5" name="Marcador de pie de página 4">
            <a:extLst>
              <a:ext uri="{FF2B5EF4-FFF2-40B4-BE49-F238E27FC236}">
                <a16:creationId xmlns:a16="http://schemas.microsoft.com/office/drawing/2014/main" id="{CB7582AF-E854-BF35-6ED9-13FDE1E55E3E}"/>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5EEE6B73-214F-4C3E-DD6B-A9B8041D0CD0}"/>
              </a:ext>
            </a:extLst>
          </p:cNvPr>
          <p:cNvSpPr>
            <a:spLocks noGrp="1"/>
          </p:cNvSpPr>
          <p:nvPr>
            <p:ph type="sldNum" sz="quarter" idx="12"/>
          </p:nvPr>
        </p:nvSpPr>
        <p:spPr/>
        <p:txBody>
          <a:bodyPr/>
          <a:lstStyle/>
          <a:p>
            <a:fld id="{46952519-79A0-4158-88E8-8A74092916AE}" type="slidenum">
              <a:rPr lang="es-ES" smtClean="0"/>
              <a:t>‹Nº›</a:t>
            </a:fld>
            <a:endParaRPr lang="es-ES"/>
          </a:p>
        </p:txBody>
      </p:sp>
    </p:spTree>
    <p:extLst>
      <p:ext uri="{BB962C8B-B14F-4D97-AF65-F5344CB8AC3E}">
        <p14:creationId xmlns:p14="http://schemas.microsoft.com/office/powerpoint/2010/main" val="2648825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600662-4170-C665-DB06-459359CC2E0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34166AF3-60A3-05C2-A67F-6AFFDC1D0DD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79B32DD2-B709-32DA-D2BD-C8E3BA72D344}"/>
              </a:ext>
            </a:extLst>
          </p:cNvPr>
          <p:cNvSpPr>
            <a:spLocks noGrp="1"/>
          </p:cNvSpPr>
          <p:nvPr>
            <p:ph type="dt" sz="half" idx="10"/>
          </p:nvPr>
        </p:nvSpPr>
        <p:spPr/>
        <p:txBody>
          <a:bodyPr/>
          <a:lstStyle/>
          <a:p>
            <a:fld id="{E2E78F0F-3CEE-4885-8154-F908A2044D66}" type="datetimeFigureOut">
              <a:rPr lang="es-ES" smtClean="0"/>
              <a:t>04/06/2026</a:t>
            </a:fld>
            <a:endParaRPr lang="es-ES"/>
          </a:p>
        </p:txBody>
      </p:sp>
      <p:sp>
        <p:nvSpPr>
          <p:cNvPr id="5" name="Marcador de pie de página 4">
            <a:extLst>
              <a:ext uri="{FF2B5EF4-FFF2-40B4-BE49-F238E27FC236}">
                <a16:creationId xmlns:a16="http://schemas.microsoft.com/office/drawing/2014/main" id="{6AAD1399-A6BC-9A87-FD24-194BE9AA3A5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9E0E06C-E650-4ACD-18CA-DA6363ECDAED}"/>
              </a:ext>
            </a:extLst>
          </p:cNvPr>
          <p:cNvSpPr>
            <a:spLocks noGrp="1"/>
          </p:cNvSpPr>
          <p:nvPr>
            <p:ph type="sldNum" sz="quarter" idx="12"/>
          </p:nvPr>
        </p:nvSpPr>
        <p:spPr/>
        <p:txBody>
          <a:bodyPr/>
          <a:lstStyle/>
          <a:p>
            <a:fld id="{46952519-79A0-4158-88E8-8A74092916AE}" type="slidenum">
              <a:rPr lang="es-ES" smtClean="0"/>
              <a:t>‹Nº›</a:t>
            </a:fld>
            <a:endParaRPr lang="es-ES"/>
          </a:p>
        </p:txBody>
      </p:sp>
    </p:spTree>
    <p:extLst>
      <p:ext uri="{BB962C8B-B14F-4D97-AF65-F5344CB8AC3E}">
        <p14:creationId xmlns:p14="http://schemas.microsoft.com/office/powerpoint/2010/main" val="3597848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91E38A-B22F-FE8F-9196-E213105FAE2C}"/>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C6EBF453-E43C-0A02-4091-6C7015F3B9C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D84394B1-538A-B357-5C7D-854245D3790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053AF158-81A4-ABF2-07DD-AF32BFFEA339}"/>
              </a:ext>
            </a:extLst>
          </p:cNvPr>
          <p:cNvSpPr>
            <a:spLocks noGrp="1"/>
          </p:cNvSpPr>
          <p:nvPr>
            <p:ph type="dt" sz="half" idx="10"/>
          </p:nvPr>
        </p:nvSpPr>
        <p:spPr/>
        <p:txBody>
          <a:bodyPr/>
          <a:lstStyle/>
          <a:p>
            <a:fld id="{E2E78F0F-3CEE-4885-8154-F908A2044D66}" type="datetimeFigureOut">
              <a:rPr lang="es-ES" smtClean="0"/>
              <a:t>04/06/2026</a:t>
            </a:fld>
            <a:endParaRPr lang="es-ES"/>
          </a:p>
        </p:txBody>
      </p:sp>
      <p:sp>
        <p:nvSpPr>
          <p:cNvPr id="6" name="Marcador de pie de página 5">
            <a:extLst>
              <a:ext uri="{FF2B5EF4-FFF2-40B4-BE49-F238E27FC236}">
                <a16:creationId xmlns:a16="http://schemas.microsoft.com/office/drawing/2014/main" id="{3EF9A877-E9AB-59C6-23B3-6C02D30B100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7142DA6-7B1D-6C8A-937D-4C6456E20ADD}"/>
              </a:ext>
            </a:extLst>
          </p:cNvPr>
          <p:cNvSpPr>
            <a:spLocks noGrp="1"/>
          </p:cNvSpPr>
          <p:nvPr>
            <p:ph type="sldNum" sz="quarter" idx="12"/>
          </p:nvPr>
        </p:nvSpPr>
        <p:spPr/>
        <p:txBody>
          <a:bodyPr/>
          <a:lstStyle/>
          <a:p>
            <a:fld id="{46952519-79A0-4158-88E8-8A74092916AE}" type="slidenum">
              <a:rPr lang="es-ES" smtClean="0"/>
              <a:t>‹Nº›</a:t>
            </a:fld>
            <a:endParaRPr lang="es-ES"/>
          </a:p>
        </p:txBody>
      </p:sp>
    </p:spTree>
    <p:extLst>
      <p:ext uri="{BB962C8B-B14F-4D97-AF65-F5344CB8AC3E}">
        <p14:creationId xmlns:p14="http://schemas.microsoft.com/office/powerpoint/2010/main" val="40975422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028658-5B67-54CA-9D16-337A6BF0447A}"/>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C465C81D-1ED4-C042-4601-4340ECB3F0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93A6344-F4A7-D7EF-9C4F-E25595ED966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81F4BA7A-034E-68E1-7CFA-280FA4E742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C91CA2C-3974-A4FA-A2C2-491671D417D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ECBCD274-D751-F6B5-415C-4DB4215F4E64}"/>
              </a:ext>
            </a:extLst>
          </p:cNvPr>
          <p:cNvSpPr>
            <a:spLocks noGrp="1"/>
          </p:cNvSpPr>
          <p:nvPr>
            <p:ph type="dt" sz="half" idx="10"/>
          </p:nvPr>
        </p:nvSpPr>
        <p:spPr/>
        <p:txBody>
          <a:bodyPr/>
          <a:lstStyle/>
          <a:p>
            <a:fld id="{E2E78F0F-3CEE-4885-8154-F908A2044D66}" type="datetimeFigureOut">
              <a:rPr lang="es-ES" smtClean="0"/>
              <a:t>04/06/2026</a:t>
            </a:fld>
            <a:endParaRPr lang="es-ES"/>
          </a:p>
        </p:txBody>
      </p:sp>
      <p:sp>
        <p:nvSpPr>
          <p:cNvPr id="8" name="Marcador de pie de página 7">
            <a:extLst>
              <a:ext uri="{FF2B5EF4-FFF2-40B4-BE49-F238E27FC236}">
                <a16:creationId xmlns:a16="http://schemas.microsoft.com/office/drawing/2014/main" id="{23F6C764-59B3-F354-F39C-0B698E06CDD6}"/>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CE782C0D-E263-D0BA-CF46-A153B3B34B4E}"/>
              </a:ext>
            </a:extLst>
          </p:cNvPr>
          <p:cNvSpPr>
            <a:spLocks noGrp="1"/>
          </p:cNvSpPr>
          <p:nvPr>
            <p:ph type="sldNum" sz="quarter" idx="12"/>
          </p:nvPr>
        </p:nvSpPr>
        <p:spPr/>
        <p:txBody>
          <a:bodyPr/>
          <a:lstStyle/>
          <a:p>
            <a:fld id="{46952519-79A0-4158-88E8-8A74092916AE}" type="slidenum">
              <a:rPr lang="es-ES" smtClean="0"/>
              <a:t>‹Nº›</a:t>
            </a:fld>
            <a:endParaRPr lang="es-ES"/>
          </a:p>
        </p:txBody>
      </p:sp>
    </p:spTree>
    <p:extLst>
      <p:ext uri="{BB962C8B-B14F-4D97-AF65-F5344CB8AC3E}">
        <p14:creationId xmlns:p14="http://schemas.microsoft.com/office/powerpoint/2010/main" val="2707746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83BD55-2E13-228A-0225-943327F6E16A}"/>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9CAB8DB0-2F1F-1FE4-64A1-D074513EE62C}"/>
              </a:ext>
            </a:extLst>
          </p:cNvPr>
          <p:cNvSpPr>
            <a:spLocks noGrp="1"/>
          </p:cNvSpPr>
          <p:nvPr>
            <p:ph type="dt" sz="half" idx="10"/>
          </p:nvPr>
        </p:nvSpPr>
        <p:spPr/>
        <p:txBody>
          <a:bodyPr/>
          <a:lstStyle/>
          <a:p>
            <a:fld id="{E2E78F0F-3CEE-4885-8154-F908A2044D66}" type="datetimeFigureOut">
              <a:rPr lang="es-ES" smtClean="0"/>
              <a:t>04/06/2026</a:t>
            </a:fld>
            <a:endParaRPr lang="es-ES"/>
          </a:p>
        </p:txBody>
      </p:sp>
      <p:sp>
        <p:nvSpPr>
          <p:cNvPr id="4" name="Marcador de pie de página 3">
            <a:extLst>
              <a:ext uri="{FF2B5EF4-FFF2-40B4-BE49-F238E27FC236}">
                <a16:creationId xmlns:a16="http://schemas.microsoft.com/office/drawing/2014/main" id="{CFC9F4EA-37BC-C944-26B4-6A337A988C0A}"/>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778121AD-8A6E-31E7-7272-C41D8C9050CF}"/>
              </a:ext>
            </a:extLst>
          </p:cNvPr>
          <p:cNvSpPr>
            <a:spLocks noGrp="1"/>
          </p:cNvSpPr>
          <p:nvPr>
            <p:ph type="sldNum" sz="quarter" idx="12"/>
          </p:nvPr>
        </p:nvSpPr>
        <p:spPr/>
        <p:txBody>
          <a:bodyPr/>
          <a:lstStyle/>
          <a:p>
            <a:fld id="{46952519-79A0-4158-88E8-8A74092916AE}" type="slidenum">
              <a:rPr lang="es-ES" smtClean="0"/>
              <a:t>‹Nº›</a:t>
            </a:fld>
            <a:endParaRPr lang="es-ES"/>
          </a:p>
        </p:txBody>
      </p:sp>
    </p:spTree>
    <p:extLst>
      <p:ext uri="{BB962C8B-B14F-4D97-AF65-F5344CB8AC3E}">
        <p14:creationId xmlns:p14="http://schemas.microsoft.com/office/powerpoint/2010/main" val="257178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8A47969-3E1B-ED92-16CC-CE89B8509379}"/>
              </a:ext>
            </a:extLst>
          </p:cNvPr>
          <p:cNvSpPr>
            <a:spLocks noGrp="1"/>
          </p:cNvSpPr>
          <p:nvPr>
            <p:ph type="dt" sz="half" idx="10"/>
          </p:nvPr>
        </p:nvSpPr>
        <p:spPr/>
        <p:txBody>
          <a:bodyPr/>
          <a:lstStyle/>
          <a:p>
            <a:fld id="{E2E78F0F-3CEE-4885-8154-F908A2044D66}" type="datetimeFigureOut">
              <a:rPr lang="es-ES" smtClean="0"/>
              <a:t>04/06/2026</a:t>
            </a:fld>
            <a:endParaRPr lang="es-ES"/>
          </a:p>
        </p:txBody>
      </p:sp>
      <p:sp>
        <p:nvSpPr>
          <p:cNvPr id="3" name="Marcador de pie de página 2">
            <a:extLst>
              <a:ext uri="{FF2B5EF4-FFF2-40B4-BE49-F238E27FC236}">
                <a16:creationId xmlns:a16="http://schemas.microsoft.com/office/drawing/2014/main" id="{3BB28542-D8FC-A36E-EF27-65A8B9AE7E41}"/>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A2717270-5F7C-D34B-6960-141579127B50}"/>
              </a:ext>
            </a:extLst>
          </p:cNvPr>
          <p:cNvSpPr>
            <a:spLocks noGrp="1"/>
          </p:cNvSpPr>
          <p:nvPr>
            <p:ph type="sldNum" sz="quarter" idx="12"/>
          </p:nvPr>
        </p:nvSpPr>
        <p:spPr/>
        <p:txBody>
          <a:bodyPr/>
          <a:lstStyle/>
          <a:p>
            <a:fld id="{46952519-79A0-4158-88E8-8A74092916AE}" type="slidenum">
              <a:rPr lang="es-ES" smtClean="0"/>
              <a:t>‹Nº›</a:t>
            </a:fld>
            <a:endParaRPr lang="es-ES"/>
          </a:p>
        </p:txBody>
      </p:sp>
    </p:spTree>
    <p:extLst>
      <p:ext uri="{BB962C8B-B14F-4D97-AF65-F5344CB8AC3E}">
        <p14:creationId xmlns:p14="http://schemas.microsoft.com/office/powerpoint/2010/main" val="3366193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41281F-CD36-D659-86DE-106EE7ED6CC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C224142D-642C-072C-D919-0568B512F8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410E3231-6562-4A3D-1446-E510FEB098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58E5A2C-8BE0-6D00-FC39-989C48DC0809}"/>
              </a:ext>
            </a:extLst>
          </p:cNvPr>
          <p:cNvSpPr>
            <a:spLocks noGrp="1"/>
          </p:cNvSpPr>
          <p:nvPr>
            <p:ph type="dt" sz="half" idx="10"/>
          </p:nvPr>
        </p:nvSpPr>
        <p:spPr/>
        <p:txBody>
          <a:bodyPr/>
          <a:lstStyle/>
          <a:p>
            <a:fld id="{E2E78F0F-3CEE-4885-8154-F908A2044D66}" type="datetimeFigureOut">
              <a:rPr lang="es-ES" smtClean="0"/>
              <a:t>04/06/2026</a:t>
            </a:fld>
            <a:endParaRPr lang="es-ES"/>
          </a:p>
        </p:txBody>
      </p:sp>
      <p:sp>
        <p:nvSpPr>
          <p:cNvPr id="6" name="Marcador de pie de página 5">
            <a:extLst>
              <a:ext uri="{FF2B5EF4-FFF2-40B4-BE49-F238E27FC236}">
                <a16:creationId xmlns:a16="http://schemas.microsoft.com/office/drawing/2014/main" id="{08CC6C97-AE09-1F9D-6F87-BF9F63F88C87}"/>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0F77902-79A8-E248-30B6-A2643EE7E64C}"/>
              </a:ext>
            </a:extLst>
          </p:cNvPr>
          <p:cNvSpPr>
            <a:spLocks noGrp="1"/>
          </p:cNvSpPr>
          <p:nvPr>
            <p:ph type="sldNum" sz="quarter" idx="12"/>
          </p:nvPr>
        </p:nvSpPr>
        <p:spPr/>
        <p:txBody>
          <a:bodyPr/>
          <a:lstStyle/>
          <a:p>
            <a:fld id="{46952519-79A0-4158-88E8-8A74092916AE}" type="slidenum">
              <a:rPr lang="es-ES" smtClean="0"/>
              <a:t>‹Nº›</a:t>
            </a:fld>
            <a:endParaRPr lang="es-ES"/>
          </a:p>
        </p:txBody>
      </p:sp>
    </p:spTree>
    <p:extLst>
      <p:ext uri="{BB962C8B-B14F-4D97-AF65-F5344CB8AC3E}">
        <p14:creationId xmlns:p14="http://schemas.microsoft.com/office/powerpoint/2010/main" val="3290236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C506FB-5CF0-C432-039B-B97BB2DF1F8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89C27F13-5815-6B9E-9445-F23A1CA949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348BC20F-73A3-FAAD-F67E-B97383B3A8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4B25C72-DEF8-D9F8-AC95-584D94CF2399}"/>
              </a:ext>
            </a:extLst>
          </p:cNvPr>
          <p:cNvSpPr>
            <a:spLocks noGrp="1"/>
          </p:cNvSpPr>
          <p:nvPr>
            <p:ph type="dt" sz="half" idx="10"/>
          </p:nvPr>
        </p:nvSpPr>
        <p:spPr/>
        <p:txBody>
          <a:bodyPr/>
          <a:lstStyle/>
          <a:p>
            <a:fld id="{E2E78F0F-3CEE-4885-8154-F908A2044D66}" type="datetimeFigureOut">
              <a:rPr lang="es-ES" smtClean="0"/>
              <a:t>04/06/2026</a:t>
            </a:fld>
            <a:endParaRPr lang="es-ES"/>
          </a:p>
        </p:txBody>
      </p:sp>
      <p:sp>
        <p:nvSpPr>
          <p:cNvPr id="6" name="Marcador de pie de página 5">
            <a:extLst>
              <a:ext uri="{FF2B5EF4-FFF2-40B4-BE49-F238E27FC236}">
                <a16:creationId xmlns:a16="http://schemas.microsoft.com/office/drawing/2014/main" id="{80AAEA25-F95A-2D0A-C685-AD30116B1904}"/>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1673DFFB-DCB5-059A-0FE4-56B857D72841}"/>
              </a:ext>
            </a:extLst>
          </p:cNvPr>
          <p:cNvSpPr>
            <a:spLocks noGrp="1"/>
          </p:cNvSpPr>
          <p:nvPr>
            <p:ph type="sldNum" sz="quarter" idx="12"/>
          </p:nvPr>
        </p:nvSpPr>
        <p:spPr/>
        <p:txBody>
          <a:bodyPr/>
          <a:lstStyle/>
          <a:p>
            <a:fld id="{46952519-79A0-4158-88E8-8A74092916AE}" type="slidenum">
              <a:rPr lang="es-ES" smtClean="0"/>
              <a:t>‹Nº›</a:t>
            </a:fld>
            <a:endParaRPr lang="es-ES"/>
          </a:p>
        </p:txBody>
      </p:sp>
    </p:spTree>
    <p:extLst>
      <p:ext uri="{BB962C8B-B14F-4D97-AF65-F5344CB8AC3E}">
        <p14:creationId xmlns:p14="http://schemas.microsoft.com/office/powerpoint/2010/main" val="1654087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87722E-DE3D-93DD-305E-988CCB27F62B}"/>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52E4C930-243D-C30B-4FD9-28EE9B87F482}"/>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0D8DB55F-BE8D-72C9-A021-31475D03CCF4}"/>
              </a:ext>
            </a:extLst>
          </p:cNvPr>
          <p:cNvSpPr>
            <a:spLocks noGrp="1"/>
          </p:cNvSpPr>
          <p:nvPr>
            <p:ph type="dt" sz="half" idx="10"/>
          </p:nvPr>
        </p:nvSpPr>
        <p:spPr/>
        <p:txBody>
          <a:bodyPr/>
          <a:lstStyle/>
          <a:p>
            <a:fld id="{E2E78F0F-3CEE-4885-8154-F908A2044D66}" type="datetimeFigureOut">
              <a:rPr lang="es-ES" smtClean="0"/>
              <a:t>04/06/2026</a:t>
            </a:fld>
            <a:endParaRPr lang="es-ES"/>
          </a:p>
        </p:txBody>
      </p:sp>
      <p:sp>
        <p:nvSpPr>
          <p:cNvPr id="5" name="Marcador de pie de página 4">
            <a:extLst>
              <a:ext uri="{FF2B5EF4-FFF2-40B4-BE49-F238E27FC236}">
                <a16:creationId xmlns:a16="http://schemas.microsoft.com/office/drawing/2014/main" id="{B88FAE5B-20B2-508A-C009-FE1D0EEDAC9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B0D45D1-ADB4-98BC-E695-0749FF3367C3}"/>
              </a:ext>
            </a:extLst>
          </p:cNvPr>
          <p:cNvSpPr>
            <a:spLocks noGrp="1"/>
          </p:cNvSpPr>
          <p:nvPr>
            <p:ph type="sldNum" sz="quarter" idx="12"/>
          </p:nvPr>
        </p:nvSpPr>
        <p:spPr/>
        <p:txBody>
          <a:bodyPr/>
          <a:lstStyle/>
          <a:p>
            <a:fld id="{46952519-79A0-4158-88E8-8A74092916AE}" type="slidenum">
              <a:rPr lang="es-ES" smtClean="0"/>
              <a:t>‹Nº›</a:t>
            </a:fld>
            <a:endParaRPr lang="es-ES"/>
          </a:p>
        </p:txBody>
      </p:sp>
    </p:spTree>
    <p:extLst>
      <p:ext uri="{BB962C8B-B14F-4D97-AF65-F5344CB8AC3E}">
        <p14:creationId xmlns:p14="http://schemas.microsoft.com/office/powerpoint/2010/main" val="4211537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ECC615D-0F68-C301-800C-618D72BA3B8C}"/>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B169D8D1-1646-AF6B-BA39-BCC2DE2C355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875E4F4-5197-2569-4397-EBED4D9A3416}"/>
              </a:ext>
            </a:extLst>
          </p:cNvPr>
          <p:cNvSpPr>
            <a:spLocks noGrp="1"/>
          </p:cNvSpPr>
          <p:nvPr>
            <p:ph type="dt" sz="half" idx="10"/>
          </p:nvPr>
        </p:nvSpPr>
        <p:spPr/>
        <p:txBody>
          <a:bodyPr/>
          <a:lstStyle/>
          <a:p>
            <a:fld id="{E2E78F0F-3CEE-4885-8154-F908A2044D66}" type="datetimeFigureOut">
              <a:rPr lang="es-ES" smtClean="0"/>
              <a:t>04/06/2026</a:t>
            </a:fld>
            <a:endParaRPr lang="es-ES"/>
          </a:p>
        </p:txBody>
      </p:sp>
      <p:sp>
        <p:nvSpPr>
          <p:cNvPr id="5" name="Marcador de pie de página 4">
            <a:extLst>
              <a:ext uri="{FF2B5EF4-FFF2-40B4-BE49-F238E27FC236}">
                <a16:creationId xmlns:a16="http://schemas.microsoft.com/office/drawing/2014/main" id="{7943F178-470D-7AF8-678A-CD4E34483A4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D162692-C23F-D191-7BB0-0C6B4F3E4D6B}"/>
              </a:ext>
            </a:extLst>
          </p:cNvPr>
          <p:cNvSpPr>
            <a:spLocks noGrp="1"/>
          </p:cNvSpPr>
          <p:nvPr>
            <p:ph type="sldNum" sz="quarter" idx="12"/>
          </p:nvPr>
        </p:nvSpPr>
        <p:spPr/>
        <p:txBody>
          <a:bodyPr/>
          <a:lstStyle/>
          <a:p>
            <a:fld id="{46952519-79A0-4158-88E8-8A74092916AE}" type="slidenum">
              <a:rPr lang="es-ES" smtClean="0"/>
              <a:t>‹Nº›</a:t>
            </a:fld>
            <a:endParaRPr lang="es-ES"/>
          </a:p>
        </p:txBody>
      </p:sp>
    </p:spTree>
    <p:extLst>
      <p:ext uri="{BB962C8B-B14F-4D97-AF65-F5344CB8AC3E}">
        <p14:creationId xmlns:p14="http://schemas.microsoft.com/office/powerpoint/2010/main" val="1983635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8310B3C-28D4-62C9-F1BE-20E888886D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3B3B629-4395-EC08-80FC-6A6764A854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BC119E05-ADFF-C607-FA6E-6FD98CFD12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E78F0F-3CEE-4885-8154-F908A2044D66}" type="datetimeFigureOut">
              <a:rPr lang="es-ES" smtClean="0"/>
              <a:t>04/06/2026</a:t>
            </a:fld>
            <a:endParaRPr lang="es-ES"/>
          </a:p>
        </p:txBody>
      </p:sp>
      <p:sp>
        <p:nvSpPr>
          <p:cNvPr id="5" name="Marcador de pie de página 4">
            <a:extLst>
              <a:ext uri="{FF2B5EF4-FFF2-40B4-BE49-F238E27FC236}">
                <a16:creationId xmlns:a16="http://schemas.microsoft.com/office/drawing/2014/main" id="{B224DE56-7325-AD5A-0436-C8500CBF81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71E2069E-B394-5813-CC53-7A97F6409F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6952519-79A0-4158-88E8-8A74092916AE}" type="slidenum">
              <a:rPr lang="es-ES" smtClean="0"/>
              <a:t>‹Nº›</a:t>
            </a:fld>
            <a:endParaRPr lang="es-ES"/>
          </a:p>
        </p:txBody>
      </p:sp>
    </p:spTree>
    <p:extLst>
      <p:ext uri="{BB962C8B-B14F-4D97-AF65-F5344CB8AC3E}">
        <p14:creationId xmlns:p14="http://schemas.microsoft.com/office/powerpoint/2010/main" val="11010644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218"/>
        </a:solidFill>
        <a:effectLst/>
      </p:bgPr>
    </p:bg>
    <p:spTree>
      <p:nvGrpSpPr>
        <p:cNvPr id="1" name=""/>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8737DDCC-1875-8BE5-E51F-8A4C0CEA6EA5}"/>
              </a:ext>
            </a:extLst>
          </p:cNvPr>
          <p:cNvSpPr/>
          <p:nvPr/>
        </p:nvSpPr>
        <p:spPr>
          <a:xfrm>
            <a:off x="0" y="0"/>
            <a:ext cx="12192000" cy="6858000"/>
          </a:xfrm>
          <a:prstGeom prst="roundRect">
            <a:avLst/>
          </a:prstGeom>
          <a:solidFill>
            <a:srgbClr val="0B0E14"/>
          </a:solidFill>
          <a:ln w="12700">
            <a:solidFill>
              <a:srgbClr val="0B0E1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uadroTexto 2">
            <a:extLst>
              <a:ext uri="{FF2B5EF4-FFF2-40B4-BE49-F238E27FC236}">
                <a16:creationId xmlns:a16="http://schemas.microsoft.com/office/drawing/2014/main" id="{6DD45364-6171-ADD6-2A3E-345700050954}"/>
              </a:ext>
            </a:extLst>
          </p:cNvPr>
          <p:cNvSpPr txBox="1"/>
          <p:nvPr/>
        </p:nvSpPr>
        <p:spPr>
          <a:xfrm>
            <a:off x="736600" y="685800"/>
            <a:ext cx="9144000" cy="369332"/>
          </a:xfrm>
          <a:prstGeom prst="rect">
            <a:avLst/>
          </a:prstGeom>
          <a:noFill/>
        </p:spPr>
        <p:txBody>
          <a:bodyPr vert="horz" wrap="square" lIns="0" tIns="0" rIns="0" bIns="0" rtlCol="0">
            <a:noAutofit/>
          </a:bodyPr>
          <a:lstStyle/>
          <a:p>
            <a:r>
              <a:rPr lang="es-ES" sz="1600" b="1">
                <a:solidFill>
                  <a:srgbClr val="DBA14D"/>
                </a:solidFill>
                <a:latin typeface="Segoe UI" panose="020B0502040204020203" pitchFamily="34" charset="0"/>
              </a:rPr>
              <a:t>Trabajo Final de Grado</a:t>
            </a:r>
          </a:p>
        </p:txBody>
      </p:sp>
      <p:sp>
        <p:nvSpPr>
          <p:cNvPr id="4" name="CuadroTexto 3">
            <a:extLst>
              <a:ext uri="{FF2B5EF4-FFF2-40B4-BE49-F238E27FC236}">
                <a16:creationId xmlns:a16="http://schemas.microsoft.com/office/drawing/2014/main" id="{07654982-0FBC-8954-CBFE-78E53DFA2B22}"/>
              </a:ext>
            </a:extLst>
          </p:cNvPr>
          <p:cNvSpPr txBox="1"/>
          <p:nvPr/>
        </p:nvSpPr>
        <p:spPr>
          <a:xfrm>
            <a:off x="736600" y="1320800"/>
            <a:ext cx="9652000" cy="369332"/>
          </a:xfrm>
          <a:prstGeom prst="rect">
            <a:avLst/>
          </a:prstGeom>
          <a:noFill/>
        </p:spPr>
        <p:txBody>
          <a:bodyPr vert="horz" wrap="square" lIns="0" tIns="0" rIns="0" bIns="0" rtlCol="0">
            <a:noAutofit/>
          </a:bodyPr>
          <a:lstStyle/>
          <a:p>
            <a:r>
              <a:rPr lang="es-ES" sz="4200" b="1">
                <a:solidFill>
                  <a:srgbClr val="F6F8FC"/>
                </a:solidFill>
                <a:latin typeface="Segoe UI" panose="020B0502040204020203" pitchFamily="34" charset="0"/>
              </a:rPr>
              <a:t>Gestion de Empresas Colaboradoras para FP Dual</a:t>
            </a:r>
          </a:p>
        </p:txBody>
      </p:sp>
      <p:sp>
        <p:nvSpPr>
          <p:cNvPr id="5" name="CuadroTexto 4">
            <a:extLst>
              <a:ext uri="{FF2B5EF4-FFF2-40B4-BE49-F238E27FC236}">
                <a16:creationId xmlns:a16="http://schemas.microsoft.com/office/drawing/2014/main" id="{C61F902F-DB39-AF54-27DD-953366FED8A9}"/>
              </a:ext>
            </a:extLst>
          </p:cNvPr>
          <p:cNvSpPr txBox="1"/>
          <p:nvPr/>
        </p:nvSpPr>
        <p:spPr>
          <a:xfrm>
            <a:off x="787400" y="3124200"/>
            <a:ext cx="8064500" cy="369332"/>
          </a:xfrm>
          <a:prstGeom prst="rect">
            <a:avLst/>
          </a:prstGeom>
          <a:noFill/>
        </p:spPr>
        <p:txBody>
          <a:bodyPr vert="horz" wrap="square" lIns="0" tIns="0" rIns="0" bIns="0" rtlCol="0">
            <a:noAutofit/>
          </a:bodyPr>
          <a:lstStyle/>
          <a:p>
            <a:r>
              <a:rPr lang="es-ES">
                <a:solidFill>
                  <a:srgbClr val="C2CBD8"/>
                </a:solidFill>
                <a:latin typeface="Segoe UI" panose="020B0502040204020203" pitchFamily="34" charset="0"/>
              </a:rPr>
              <a:t>Plataforma web para centralizar empresas, convenios, practicas, solicitudes externas, seguimiento documental y comunicacion empresa-centro.</a:t>
            </a:r>
          </a:p>
        </p:txBody>
      </p:sp>
      <p:sp>
        <p:nvSpPr>
          <p:cNvPr id="6" name="CuadroTexto 5">
            <a:extLst>
              <a:ext uri="{FF2B5EF4-FFF2-40B4-BE49-F238E27FC236}">
                <a16:creationId xmlns:a16="http://schemas.microsoft.com/office/drawing/2014/main" id="{70F2886B-368E-3156-B869-08353B9C0C0D}"/>
              </a:ext>
            </a:extLst>
          </p:cNvPr>
          <p:cNvSpPr txBox="1"/>
          <p:nvPr/>
        </p:nvSpPr>
        <p:spPr>
          <a:xfrm>
            <a:off x="787400" y="5232400"/>
            <a:ext cx="5588000" cy="369332"/>
          </a:xfrm>
          <a:prstGeom prst="rect">
            <a:avLst/>
          </a:prstGeom>
          <a:noFill/>
        </p:spPr>
        <p:txBody>
          <a:bodyPr vert="horz" wrap="square" lIns="0" tIns="0" rIns="0" bIns="0" rtlCol="0">
            <a:noAutofit/>
          </a:bodyPr>
          <a:lstStyle/>
          <a:p>
            <a:r>
              <a:rPr lang="es-ES" sz="1600">
                <a:solidFill>
                  <a:srgbClr val="C2CBD8"/>
                </a:solidFill>
                <a:latin typeface="Segoe UI" panose="020B0502040204020203" pitchFamily="34" charset="0"/>
              </a:rPr>
              <a:t>Autor: Luis Angel</a:t>
            </a:r>
          </a:p>
          <a:p>
            <a:r>
              <a:rPr lang="es-ES" sz="1600">
                <a:solidFill>
                  <a:srgbClr val="C2CBD8"/>
                </a:solidFill>
                <a:latin typeface="Segoe UI" panose="020B0502040204020203" pitchFamily="34" charset="0"/>
              </a:rPr>
              <a:t>Tutora: Elena</a:t>
            </a:r>
          </a:p>
        </p:txBody>
      </p:sp>
      <p:pic>
        <p:nvPicPr>
          <p:cNvPr id="8" name="Imagen 7">
            <a:extLst>
              <a:ext uri="{FF2B5EF4-FFF2-40B4-BE49-F238E27FC236}">
                <a16:creationId xmlns:a16="http://schemas.microsoft.com/office/drawing/2014/main" id="{D499C65C-77DE-3433-C918-7C8C67DF15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93000" y="1968500"/>
            <a:ext cx="4064000" cy="2286000"/>
          </a:xfrm>
          <a:prstGeom prst="rect">
            <a:avLst/>
          </a:prstGeom>
          <a:ln w="12700">
            <a:solidFill>
              <a:schemeClr val="tx1"/>
            </a:solidFill>
          </a:ln>
        </p:spPr>
      </p:pic>
    </p:spTree>
    <p:extLst>
      <p:ext uri="{BB962C8B-B14F-4D97-AF65-F5344CB8AC3E}">
        <p14:creationId xmlns:p14="http://schemas.microsoft.com/office/powerpoint/2010/main" val="2893945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218"/>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D31483E-2C85-8C65-4A19-D96AB1324755}"/>
              </a:ext>
            </a:extLst>
          </p:cNvPr>
          <p:cNvSpPr txBox="1"/>
          <p:nvPr/>
        </p:nvSpPr>
        <p:spPr>
          <a:xfrm>
            <a:off x="558800" y="330200"/>
            <a:ext cx="10414000" cy="369332"/>
          </a:xfrm>
          <a:prstGeom prst="rect">
            <a:avLst/>
          </a:prstGeom>
          <a:noFill/>
        </p:spPr>
        <p:txBody>
          <a:bodyPr vert="horz" wrap="square" lIns="0" tIns="0" rIns="0" bIns="0" rtlCol="0">
            <a:noAutofit/>
          </a:bodyPr>
          <a:lstStyle/>
          <a:p>
            <a:r>
              <a:rPr lang="es-ES" sz="1200" b="1">
                <a:solidFill>
                  <a:srgbClr val="DBA14D"/>
                </a:solidFill>
                <a:latin typeface="Segoe UI" panose="020B0502040204020203" pitchFamily="34" charset="0"/>
              </a:rPr>
              <a:t>01 / PROBLEMA</a:t>
            </a:r>
          </a:p>
        </p:txBody>
      </p:sp>
      <p:sp>
        <p:nvSpPr>
          <p:cNvPr id="3" name="CuadroTexto 2">
            <a:extLst>
              <a:ext uri="{FF2B5EF4-FFF2-40B4-BE49-F238E27FC236}">
                <a16:creationId xmlns:a16="http://schemas.microsoft.com/office/drawing/2014/main" id="{7CAD892E-8DAE-09A7-DFA6-B044161B5F27}"/>
              </a:ext>
            </a:extLst>
          </p:cNvPr>
          <p:cNvSpPr txBox="1"/>
          <p:nvPr/>
        </p:nvSpPr>
        <p:spPr>
          <a:xfrm>
            <a:off x="558800" y="685800"/>
            <a:ext cx="9906000" cy="369332"/>
          </a:xfrm>
          <a:prstGeom prst="rect">
            <a:avLst/>
          </a:prstGeom>
          <a:noFill/>
        </p:spPr>
        <p:txBody>
          <a:bodyPr vert="horz" wrap="square" lIns="0" tIns="0" rIns="0" bIns="0" rtlCol="0">
            <a:noAutofit/>
          </a:bodyPr>
          <a:lstStyle/>
          <a:p>
            <a:r>
              <a:rPr lang="es-ES" sz="3000" b="1">
                <a:solidFill>
                  <a:srgbClr val="F6F8FC"/>
                </a:solidFill>
                <a:latin typeface="Segoe UI" panose="020B0502040204020203" pitchFamily="34" charset="0"/>
              </a:rPr>
              <a:t>Punto de partida</a:t>
            </a:r>
          </a:p>
        </p:txBody>
      </p:sp>
      <p:sp>
        <p:nvSpPr>
          <p:cNvPr id="4" name="CuadroTexto 3">
            <a:extLst>
              <a:ext uri="{FF2B5EF4-FFF2-40B4-BE49-F238E27FC236}">
                <a16:creationId xmlns:a16="http://schemas.microsoft.com/office/drawing/2014/main" id="{7AF4C546-F5E9-829C-3B23-F0B10CF5FADD}"/>
              </a:ext>
            </a:extLst>
          </p:cNvPr>
          <p:cNvSpPr txBox="1"/>
          <p:nvPr/>
        </p:nvSpPr>
        <p:spPr>
          <a:xfrm>
            <a:off x="558800" y="1422400"/>
            <a:ext cx="9144000" cy="369332"/>
          </a:xfrm>
          <a:prstGeom prst="rect">
            <a:avLst/>
          </a:prstGeom>
          <a:noFill/>
        </p:spPr>
        <p:txBody>
          <a:bodyPr vert="horz" wrap="square" lIns="0" tIns="0" rIns="0" bIns="0" rtlCol="0">
            <a:noAutofit/>
          </a:bodyPr>
          <a:lstStyle/>
          <a:p>
            <a:r>
              <a:rPr lang="es-ES" sz="1500">
                <a:solidFill>
                  <a:srgbClr val="C2CBD8"/>
                </a:solidFill>
                <a:latin typeface="Segoe UI" panose="020B0502040204020203" pitchFamily="34" charset="0"/>
              </a:rPr>
              <a:t>La gestion anterior estaba repartida entre hojas de calculo, correos y documentos sin una vista unificada.</a:t>
            </a:r>
          </a:p>
        </p:txBody>
      </p:sp>
      <p:sp>
        <p:nvSpPr>
          <p:cNvPr id="5" name="CuadroTexto 4">
            <a:extLst>
              <a:ext uri="{FF2B5EF4-FFF2-40B4-BE49-F238E27FC236}">
                <a16:creationId xmlns:a16="http://schemas.microsoft.com/office/drawing/2014/main" id="{F85DAE1D-40AA-AE71-64C5-646CD238269C}"/>
              </a:ext>
            </a:extLst>
          </p:cNvPr>
          <p:cNvSpPr txBox="1"/>
          <p:nvPr/>
        </p:nvSpPr>
        <p:spPr>
          <a:xfrm>
            <a:off x="889000" y="2349500"/>
            <a:ext cx="5207000" cy="369332"/>
          </a:xfrm>
          <a:prstGeom prst="rect">
            <a:avLst/>
          </a:prstGeom>
          <a:noFill/>
        </p:spPr>
        <p:txBody>
          <a:bodyPr vert="horz" wrap="square" lIns="0" tIns="0" rIns="0" bIns="0" rtlCol="0">
            <a:noAutofit/>
          </a:bodyPr>
          <a:lstStyle/>
          <a:p>
            <a:pPr marL="457200" indent="-457200">
              <a:spcAft>
                <a:spcPts val="1000"/>
              </a:spcAft>
              <a:buFont typeface="+mj-lt"/>
              <a:buChar char="•"/>
            </a:pPr>
            <a:r>
              <a:rPr lang="es-ES" sz="2000">
                <a:solidFill>
                  <a:srgbClr val="C2CBD8"/>
                </a:solidFill>
                <a:latin typeface="Segoe UI" panose="020B0502040204020203" pitchFamily="34" charset="0"/>
              </a:rPr>
              <a:t>Informacion dispersa entre varias fuentes.</a:t>
            </a:r>
          </a:p>
          <a:p>
            <a:pPr marL="457200" indent="-457200">
              <a:spcAft>
                <a:spcPts val="1000"/>
              </a:spcAft>
              <a:buFont typeface="+mj-lt"/>
              <a:buChar char="•"/>
            </a:pPr>
            <a:r>
              <a:rPr lang="es-ES" sz="2000">
                <a:solidFill>
                  <a:srgbClr val="C2CBD8"/>
                </a:solidFill>
                <a:latin typeface="Segoe UI" panose="020B0502040204020203" pitchFamily="34" charset="0"/>
              </a:rPr>
              <a:t>Dificultad para conocer el estado real de convenios, solicitudes y asignaciones.</a:t>
            </a:r>
          </a:p>
          <a:p>
            <a:pPr marL="457200" indent="-457200">
              <a:spcAft>
                <a:spcPts val="1000"/>
              </a:spcAft>
              <a:buFont typeface="+mj-lt"/>
              <a:buChar char="•"/>
            </a:pPr>
            <a:r>
              <a:rPr lang="es-ES" sz="2000">
                <a:solidFill>
                  <a:srgbClr val="C2CBD8"/>
                </a:solidFill>
                <a:latin typeface="Segoe UI" panose="020B0502040204020203" pitchFamily="34" charset="0"/>
              </a:rPr>
              <a:t>Dependencia del conocimiento manual de la persona que coordina las practicas.</a:t>
            </a:r>
          </a:p>
          <a:p>
            <a:pPr marL="457200" indent="-457200">
              <a:spcAft>
                <a:spcPts val="1000"/>
              </a:spcAft>
              <a:buFont typeface="+mj-lt"/>
              <a:buChar char="•"/>
            </a:pPr>
            <a:r>
              <a:rPr lang="es-ES" sz="2000">
                <a:solidFill>
                  <a:srgbClr val="C2CBD8"/>
                </a:solidFill>
                <a:latin typeface="Segoe UI" panose="020B0502040204020203" pitchFamily="34" charset="0"/>
              </a:rPr>
              <a:t>Poca trazabilidad sobre mensajes, documentos y cambios.</a:t>
            </a:r>
          </a:p>
        </p:txBody>
      </p:sp>
      <p:sp>
        <p:nvSpPr>
          <p:cNvPr id="6" name="Rectángulo: esquinas redondeadas 5">
            <a:extLst>
              <a:ext uri="{FF2B5EF4-FFF2-40B4-BE49-F238E27FC236}">
                <a16:creationId xmlns:a16="http://schemas.microsoft.com/office/drawing/2014/main" id="{B4CDBDBC-52C3-41B9-7CE8-E3AFDC5E3BE8}"/>
              </a:ext>
            </a:extLst>
          </p:cNvPr>
          <p:cNvSpPr/>
          <p:nvPr/>
        </p:nvSpPr>
        <p:spPr>
          <a:xfrm>
            <a:off x="7112000" y="2184400"/>
            <a:ext cx="3937000" cy="2413000"/>
          </a:xfrm>
          <a:prstGeom prst="roundRect">
            <a:avLst/>
          </a:prstGeom>
          <a:solidFill>
            <a:srgbClr val="1D2430"/>
          </a:solidFill>
          <a:ln w="12700">
            <a:solidFill>
              <a:srgbClr val="424E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CuadroTexto 6">
            <a:extLst>
              <a:ext uri="{FF2B5EF4-FFF2-40B4-BE49-F238E27FC236}">
                <a16:creationId xmlns:a16="http://schemas.microsoft.com/office/drawing/2014/main" id="{66251C0E-0AA4-ACCA-7F44-5929BD879372}"/>
              </a:ext>
            </a:extLst>
          </p:cNvPr>
          <p:cNvSpPr txBox="1"/>
          <p:nvPr/>
        </p:nvSpPr>
        <p:spPr>
          <a:xfrm>
            <a:off x="7493000" y="2540000"/>
            <a:ext cx="3175000" cy="369332"/>
          </a:xfrm>
          <a:prstGeom prst="rect">
            <a:avLst/>
          </a:prstGeom>
          <a:noFill/>
        </p:spPr>
        <p:txBody>
          <a:bodyPr vert="horz" wrap="square" lIns="0" tIns="0" rIns="0" bIns="0" rtlCol="0">
            <a:noAutofit/>
          </a:bodyPr>
          <a:lstStyle/>
          <a:p>
            <a:r>
              <a:rPr lang="es-ES" sz="1700" b="1">
                <a:solidFill>
                  <a:srgbClr val="DBA14D"/>
                </a:solidFill>
                <a:latin typeface="Segoe UI" panose="020B0502040204020203" pitchFamily="34" charset="0"/>
              </a:rPr>
              <a:t>Necesidad principal</a:t>
            </a:r>
          </a:p>
        </p:txBody>
      </p:sp>
      <p:sp>
        <p:nvSpPr>
          <p:cNvPr id="8" name="CuadroTexto 7">
            <a:extLst>
              <a:ext uri="{FF2B5EF4-FFF2-40B4-BE49-F238E27FC236}">
                <a16:creationId xmlns:a16="http://schemas.microsoft.com/office/drawing/2014/main" id="{A1AEF440-B0BF-A292-FA35-AEBE6B50C396}"/>
              </a:ext>
            </a:extLst>
          </p:cNvPr>
          <p:cNvSpPr txBox="1"/>
          <p:nvPr/>
        </p:nvSpPr>
        <p:spPr>
          <a:xfrm>
            <a:off x="7493000" y="3149600"/>
            <a:ext cx="3124200" cy="369332"/>
          </a:xfrm>
          <a:prstGeom prst="rect">
            <a:avLst/>
          </a:prstGeom>
          <a:noFill/>
        </p:spPr>
        <p:txBody>
          <a:bodyPr vert="horz" wrap="square" lIns="0" tIns="0" rIns="0" bIns="0" rtlCol="0">
            <a:noAutofit/>
          </a:bodyPr>
          <a:lstStyle/>
          <a:p>
            <a:r>
              <a:rPr lang="es-ES" sz="2300" b="1">
                <a:solidFill>
                  <a:srgbClr val="F6F8FC"/>
                </a:solidFill>
                <a:latin typeface="Segoe UI" panose="020B0502040204020203" pitchFamily="34" charset="0"/>
              </a:rPr>
              <a:t>Pasar de una gestion dispersa a una plataforma unica, trazable y defendible.</a:t>
            </a:r>
          </a:p>
        </p:txBody>
      </p:sp>
    </p:spTree>
    <p:extLst>
      <p:ext uri="{BB962C8B-B14F-4D97-AF65-F5344CB8AC3E}">
        <p14:creationId xmlns:p14="http://schemas.microsoft.com/office/powerpoint/2010/main" val="2325976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218"/>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14F90E5-AF97-D785-06FB-794BA7BCE6A0}"/>
              </a:ext>
            </a:extLst>
          </p:cNvPr>
          <p:cNvSpPr txBox="1"/>
          <p:nvPr/>
        </p:nvSpPr>
        <p:spPr>
          <a:xfrm>
            <a:off x="558800" y="330200"/>
            <a:ext cx="10414000" cy="369332"/>
          </a:xfrm>
          <a:prstGeom prst="rect">
            <a:avLst/>
          </a:prstGeom>
          <a:noFill/>
        </p:spPr>
        <p:txBody>
          <a:bodyPr vert="horz" wrap="square" lIns="0" tIns="0" rIns="0" bIns="0" rtlCol="0">
            <a:noAutofit/>
          </a:bodyPr>
          <a:lstStyle/>
          <a:p>
            <a:r>
              <a:rPr lang="es-ES" sz="1200" b="1">
                <a:solidFill>
                  <a:srgbClr val="DBA14D"/>
                </a:solidFill>
                <a:latin typeface="Segoe UI" panose="020B0502040204020203" pitchFamily="34" charset="0"/>
              </a:rPr>
              <a:t>02 / OBJETIVOS</a:t>
            </a:r>
          </a:p>
        </p:txBody>
      </p:sp>
      <p:sp>
        <p:nvSpPr>
          <p:cNvPr id="3" name="CuadroTexto 2">
            <a:extLst>
              <a:ext uri="{FF2B5EF4-FFF2-40B4-BE49-F238E27FC236}">
                <a16:creationId xmlns:a16="http://schemas.microsoft.com/office/drawing/2014/main" id="{D3737A6D-B409-8285-C3AC-A2C8D68E7859}"/>
              </a:ext>
            </a:extLst>
          </p:cNvPr>
          <p:cNvSpPr txBox="1"/>
          <p:nvPr/>
        </p:nvSpPr>
        <p:spPr>
          <a:xfrm>
            <a:off x="558800" y="685800"/>
            <a:ext cx="9906000" cy="369332"/>
          </a:xfrm>
          <a:prstGeom prst="rect">
            <a:avLst/>
          </a:prstGeom>
          <a:noFill/>
        </p:spPr>
        <p:txBody>
          <a:bodyPr vert="horz" wrap="square" lIns="0" tIns="0" rIns="0" bIns="0" rtlCol="0">
            <a:noAutofit/>
          </a:bodyPr>
          <a:lstStyle/>
          <a:p>
            <a:r>
              <a:rPr lang="es-ES" sz="3000" b="1">
                <a:solidFill>
                  <a:srgbClr val="F6F8FC"/>
                </a:solidFill>
                <a:latin typeface="Segoe UI" panose="020B0502040204020203" pitchFamily="34" charset="0"/>
              </a:rPr>
              <a:t>Que tenia que resolver la aplicacion</a:t>
            </a:r>
          </a:p>
        </p:txBody>
      </p:sp>
      <p:sp>
        <p:nvSpPr>
          <p:cNvPr id="4" name="Rectángulo: esquinas redondeadas 3">
            <a:extLst>
              <a:ext uri="{FF2B5EF4-FFF2-40B4-BE49-F238E27FC236}">
                <a16:creationId xmlns:a16="http://schemas.microsoft.com/office/drawing/2014/main" id="{6980B74F-F4E2-BF40-1A89-37A56304E0C4}"/>
              </a:ext>
            </a:extLst>
          </p:cNvPr>
          <p:cNvSpPr/>
          <p:nvPr/>
        </p:nvSpPr>
        <p:spPr>
          <a:xfrm>
            <a:off x="736600" y="1955800"/>
            <a:ext cx="4635500" cy="1295400"/>
          </a:xfrm>
          <a:prstGeom prst="roundRect">
            <a:avLst/>
          </a:prstGeom>
          <a:solidFill>
            <a:srgbClr val="F7FAFC"/>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82365E2B-888E-0704-705D-62F82829B4E9}"/>
              </a:ext>
            </a:extLst>
          </p:cNvPr>
          <p:cNvSpPr txBox="1"/>
          <p:nvPr/>
        </p:nvSpPr>
        <p:spPr>
          <a:xfrm>
            <a:off x="1016000" y="2184400"/>
            <a:ext cx="3810000" cy="369332"/>
          </a:xfrm>
          <a:prstGeom prst="rect">
            <a:avLst/>
          </a:prstGeom>
          <a:noFill/>
        </p:spPr>
        <p:txBody>
          <a:bodyPr vert="horz" wrap="square" lIns="0" tIns="0" rIns="0" bIns="0" rtlCol="0">
            <a:noAutofit/>
          </a:bodyPr>
          <a:lstStyle/>
          <a:p>
            <a:r>
              <a:rPr lang="es-ES" sz="2100" b="1">
                <a:solidFill>
                  <a:srgbClr val="4975B0"/>
                </a:solidFill>
                <a:latin typeface="Segoe UI" panose="020B0502040204020203" pitchFamily="34" charset="0"/>
              </a:rPr>
              <a:t>Centralizar</a:t>
            </a:r>
          </a:p>
        </p:txBody>
      </p:sp>
      <p:sp>
        <p:nvSpPr>
          <p:cNvPr id="6" name="CuadroTexto 5">
            <a:extLst>
              <a:ext uri="{FF2B5EF4-FFF2-40B4-BE49-F238E27FC236}">
                <a16:creationId xmlns:a16="http://schemas.microsoft.com/office/drawing/2014/main" id="{F66D24EC-DA66-5009-499F-7C912E913683}"/>
              </a:ext>
            </a:extLst>
          </p:cNvPr>
          <p:cNvSpPr txBox="1"/>
          <p:nvPr/>
        </p:nvSpPr>
        <p:spPr>
          <a:xfrm>
            <a:off x="1016000" y="2616200"/>
            <a:ext cx="3937000" cy="369332"/>
          </a:xfrm>
          <a:prstGeom prst="rect">
            <a:avLst/>
          </a:prstGeom>
          <a:noFill/>
        </p:spPr>
        <p:txBody>
          <a:bodyPr vert="horz" wrap="square" lIns="0" tIns="0" rIns="0" bIns="0" rtlCol="0">
            <a:noAutofit/>
          </a:bodyPr>
          <a:lstStyle/>
          <a:p>
            <a:r>
              <a:rPr lang="es-ES" sz="1400">
                <a:solidFill>
                  <a:srgbClr val="1F2937"/>
                </a:solidFill>
                <a:latin typeface="Segoe UI" panose="020B0502040204020203" pitchFamily="34" charset="0"/>
              </a:rPr>
              <a:t>Empresas, convenios, estudiantes, tutores y asignaciones.</a:t>
            </a:r>
          </a:p>
        </p:txBody>
      </p:sp>
      <p:sp>
        <p:nvSpPr>
          <p:cNvPr id="7" name="Rectángulo: esquinas redondeadas 6">
            <a:extLst>
              <a:ext uri="{FF2B5EF4-FFF2-40B4-BE49-F238E27FC236}">
                <a16:creationId xmlns:a16="http://schemas.microsoft.com/office/drawing/2014/main" id="{8D933886-9395-F781-30F8-EC30D9E56799}"/>
              </a:ext>
            </a:extLst>
          </p:cNvPr>
          <p:cNvSpPr/>
          <p:nvPr/>
        </p:nvSpPr>
        <p:spPr>
          <a:xfrm>
            <a:off x="6134100" y="1955800"/>
            <a:ext cx="4635500" cy="1295400"/>
          </a:xfrm>
          <a:prstGeom prst="roundRect">
            <a:avLst/>
          </a:prstGeom>
          <a:solidFill>
            <a:srgbClr val="F7FAFC"/>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a:extLst>
              <a:ext uri="{FF2B5EF4-FFF2-40B4-BE49-F238E27FC236}">
                <a16:creationId xmlns:a16="http://schemas.microsoft.com/office/drawing/2014/main" id="{E2D7C7C7-0F88-1836-AC98-EF4265C5DAB9}"/>
              </a:ext>
            </a:extLst>
          </p:cNvPr>
          <p:cNvSpPr txBox="1"/>
          <p:nvPr/>
        </p:nvSpPr>
        <p:spPr>
          <a:xfrm>
            <a:off x="6413500" y="2184400"/>
            <a:ext cx="3810000" cy="369332"/>
          </a:xfrm>
          <a:prstGeom prst="rect">
            <a:avLst/>
          </a:prstGeom>
          <a:noFill/>
        </p:spPr>
        <p:txBody>
          <a:bodyPr vert="horz" wrap="square" lIns="0" tIns="0" rIns="0" bIns="0" rtlCol="0">
            <a:noAutofit/>
          </a:bodyPr>
          <a:lstStyle/>
          <a:p>
            <a:r>
              <a:rPr lang="es-ES" sz="2100" b="1">
                <a:solidFill>
                  <a:srgbClr val="4975B0"/>
                </a:solidFill>
                <a:latin typeface="Segoe UI" panose="020B0502040204020203" pitchFamily="34" charset="0"/>
              </a:rPr>
              <a:t>Abrir canal externo</a:t>
            </a:r>
          </a:p>
        </p:txBody>
      </p:sp>
      <p:sp>
        <p:nvSpPr>
          <p:cNvPr id="9" name="CuadroTexto 8">
            <a:extLst>
              <a:ext uri="{FF2B5EF4-FFF2-40B4-BE49-F238E27FC236}">
                <a16:creationId xmlns:a16="http://schemas.microsoft.com/office/drawing/2014/main" id="{883A05D4-9E45-18AB-A5F2-58255A340A3B}"/>
              </a:ext>
            </a:extLst>
          </p:cNvPr>
          <p:cNvSpPr txBox="1"/>
          <p:nvPr/>
        </p:nvSpPr>
        <p:spPr>
          <a:xfrm>
            <a:off x="6413500" y="2616200"/>
            <a:ext cx="3937000" cy="369332"/>
          </a:xfrm>
          <a:prstGeom prst="rect">
            <a:avLst/>
          </a:prstGeom>
          <a:noFill/>
        </p:spPr>
        <p:txBody>
          <a:bodyPr vert="horz" wrap="square" lIns="0" tIns="0" rIns="0" bIns="0" rtlCol="0">
            <a:noAutofit/>
          </a:bodyPr>
          <a:lstStyle/>
          <a:p>
            <a:r>
              <a:rPr lang="es-ES" sz="1400">
                <a:solidFill>
                  <a:srgbClr val="1F2937"/>
                </a:solidFill>
                <a:latin typeface="Segoe UI" panose="020B0502040204020203" pitchFamily="34" charset="0"/>
              </a:rPr>
              <a:t>Registro de empresas, verificacion, estado y cuenta persistente.</a:t>
            </a:r>
          </a:p>
        </p:txBody>
      </p:sp>
      <p:sp>
        <p:nvSpPr>
          <p:cNvPr id="10" name="Rectángulo: esquinas redondeadas 9">
            <a:extLst>
              <a:ext uri="{FF2B5EF4-FFF2-40B4-BE49-F238E27FC236}">
                <a16:creationId xmlns:a16="http://schemas.microsoft.com/office/drawing/2014/main" id="{507C673D-9B2B-314F-348D-B68062840297}"/>
              </a:ext>
            </a:extLst>
          </p:cNvPr>
          <p:cNvSpPr/>
          <p:nvPr/>
        </p:nvSpPr>
        <p:spPr>
          <a:xfrm>
            <a:off x="736600" y="3759200"/>
            <a:ext cx="4635500" cy="1295400"/>
          </a:xfrm>
          <a:prstGeom prst="roundRect">
            <a:avLst/>
          </a:prstGeom>
          <a:solidFill>
            <a:srgbClr val="F7FAFC"/>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CuadroTexto 10">
            <a:extLst>
              <a:ext uri="{FF2B5EF4-FFF2-40B4-BE49-F238E27FC236}">
                <a16:creationId xmlns:a16="http://schemas.microsoft.com/office/drawing/2014/main" id="{900A31FC-F96A-382D-DFE2-9FFD1107F574}"/>
              </a:ext>
            </a:extLst>
          </p:cNvPr>
          <p:cNvSpPr txBox="1"/>
          <p:nvPr/>
        </p:nvSpPr>
        <p:spPr>
          <a:xfrm>
            <a:off x="1016000" y="3987800"/>
            <a:ext cx="3810000" cy="369332"/>
          </a:xfrm>
          <a:prstGeom prst="rect">
            <a:avLst/>
          </a:prstGeom>
          <a:noFill/>
        </p:spPr>
        <p:txBody>
          <a:bodyPr vert="horz" wrap="square" lIns="0" tIns="0" rIns="0" bIns="0" rtlCol="0">
            <a:noAutofit/>
          </a:bodyPr>
          <a:lstStyle/>
          <a:p>
            <a:r>
              <a:rPr lang="es-ES" sz="2100" b="1">
                <a:solidFill>
                  <a:srgbClr val="4975B0"/>
                </a:solidFill>
                <a:latin typeface="Segoe UI" panose="020B0502040204020203" pitchFamily="34" charset="0"/>
              </a:rPr>
              <a:t>Trazabilidad</a:t>
            </a:r>
          </a:p>
        </p:txBody>
      </p:sp>
      <p:sp>
        <p:nvSpPr>
          <p:cNvPr id="12" name="CuadroTexto 11">
            <a:extLst>
              <a:ext uri="{FF2B5EF4-FFF2-40B4-BE49-F238E27FC236}">
                <a16:creationId xmlns:a16="http://schemas.microsoft.com/office/drawing/2014/main" id="{13B49E3F-6B25-E002-3F2A-FAADAD6D8AA3}"/>
              </a:ext>
            </a:extLst>
          </p:cNvPr>
          <p:cNvSpPr txBox="1"/>
          <p:nvPr/>
        </p:nvSpPr>
        <p:spPr>
          <a:xfrm>
            <a:off x="1016000" y="4419600"/>
            <a:ext cx="3937000" cy="369332"/>
          </a:xfrm>
          <a:prstGeom prst="rect">
            <a:avLst/>
          </a:prstGeom>
          <a:noFill/>
        </p:spPr>
        <p:txBody>
          <a:bodyPr vert="horz" wrap="square" lIns="0" tIns="0" rIns="0" bIns="0" rtlCol="0">
            <a:noAutofit/>
          </a:bodyPr>
          <a:lstStyle/>
          <a:p>
            <a:r>
              <a:rPr lang="es-ES" sz="1400">
                <a:solidFill>
                  <a:srgbClr val="1F2937"/>
                </a:solidFill>
                <a:latin typeface="Segoe UI" panose="020B0502040204020203" pitchFamily="34" charset="0"/>
              </a:rPr>
              <a:t>Mensajeria, documentos versionados, evidencias y evaluacion final.</a:t>
            </a:r>
          </a:p>
        </p:txBody>
      </p:sp>
      <p:sp>
        <p:nvSpPr>
          <p:cNvPr id="13" name="Rectángulo: esquinas redondeadas 12">
            <a:extLst>
              <a:ext uri="{FF2B5EF4-FFF2-40B4-BE49-F238E27FC236}">
                <a16:creationId xmlns:a16="http://schemas.microsoft.com/office/drawing/2014/main" id="{9AC32662-7AB5-FB37-4F3F-89E93363AF70}"/>
              </a:ext>
            </a:extLst>
          </p:cNvPr>
          <p:cNvSpPr/>
          <p:nvPr/>
        </p:nvSpPr>
        <p:spPr>
          <a:xfrm>
            <a:off x="6134100" y="3759200"/>
            <a:ext cx="4635500" cy="1295400"/>
          </a:xfrm>
          <a:prstGeom prst="roundRect">
            <a:avLst/>
          </a:prstGeom>
          <a:solidFill>
            <a:srgbClr val="F7FAFC"/>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50D9F6E2-3856-CC44-AA38-5267404D5EBB}"/>
              </a:ext>
            </a:extLst>
          </p:cNvPr>
          <p:cNvSpPr txBox="1"/>
          <p:nvPr/>
        </p:nvSpPr>
        <p:spPr>
          <a:xfrm>
            <a:off x="6413500" y="3987800"/>
            <a:ext cx="3810000" cy="369332"/>
          </a:xfrm>
          <a:prstGeom prst="rect">
            <a:avLst/>
          </a:prstGeom>
          <a:noFill/>
        </p:spPr>
        <p:txBody>
          <a:bodyPr vert="horz" wrap="square" lIns="0" tIns="0" rIns="0" bIns="0" rtlCol="0">
            <a:noAutofit/>
          </a:bodyPr>
          <a:lstStyle/>
          <a:p>
            <a:r>
              <a:rPr lang="es-ES" sz="2100" b="1">
                <a:solidFill>
                  <a:srgbClr val="4975B0"/>
                </a:solidFill>
                <a:latin typeface="Segoe UI" panose="020B0502040204020203" pitchFamily="34" charset="0"/>
              </a:rPr>
              <a:t>Defensa tecnica</a:t>
            </a:r>
          </a:p>
        </p:txBody>
      </p:sp>
      <p:sp>
        <p:nvSpPr>
          <p:cNvPr id="15" name="CuadroTexto 14">
            <a:extLst>
              <a:ext uri="{FF2B5EF4-FFF2-40B4-BE49-F238E27FC236}">
                <a16:creationId xmlns:a16="http://schemas.microsoft.com/office/drawing/2014/main" id="{D5E9140C-DE22-64CF-46DF-E381CB60EFC1}"/>
              </a:ext>
            </a:extLst>
          </p:cNvPr>
          <p:cNvSpPr txBox="1"/>
          <p:nvPr/>
        </p:nvSpPr>
        <p:spPr>
          <a:xfrm>
            <a:off x="6413500" y="4419600"/>
            <a:ext cx="3937000" cy="369332"/>
          </a:xfrm>
          <a:prstGeom prst="rect">
            <a:avLst/>
          </a:prstGeom>
          <a:noFill/>
        </p:spPr>
        <p:txBody>
          <a:bodyPr vert="horz" wrap="square" lIns="0" tIns="0" rIns="0" bIns="0" rtlCol="0">
            <a:noAutofit/>
          </a:bodyPr>
          <a:lstStyle/>
          <a:p>
            <a:r>
              <a:rPr lang="es-ES" sz="1400">
                <a:solidFill>
                  <a:srgbClr val="1F2937"/>
                </a:solidFill>
                <a:latin typeface="Segoe UI" panose="020B0502040204020203" pitchFamily="34" charset="0"/>
              </a:rPr>
              <a:t>Arquitectura separada, pruebas, demo y documentacion final.</a:t>
            </a:r>
          </a:p>
        </p:txBody>
      </p:sp>
    </p:spTree>
    <p:extLst>
      <p:ext uri="{BB962C8B-B14F-4D97-AF65-F5344CB8AC3E}">
        <p14:creationId xmlns:p14="http://schemas.microsoft.com/office/powerpoint/2010/main" val="22538445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218"/>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41A8E3B-3836-4146-9CBB-685DC5F05FB0}"/>
              </a:ext>
            </a:extLst>
          </p:cNvPr>
          <p:cNvSpPr txBox="1"/>
          <p:nvPr/>
        </p:nvSpPr>
        <p:spPr>
          <a:xfrm>
            <a:off x="558800" y="330200"/>
            <a:ext cx="10414000" cy="369332"/>
          </a:xfrm>
          <a:prstGeom prst="rect">
            <a:avLst/>
          </a:prstGeom>
          <a:noFill/>
        </p:spPr>
        <p:txBody>
          <a:bodyPr vert="horz" wrap="square" lIns="0" tIns="0" rIns="0" bIns="0" rtlCol="0">
            <a:noAutofit/>
          </a:bodyPr>
          <a:lstStyle/>
          <a:p>
            <a:r>
              <a:rPr lang="es-ES" sz="1200" b="1">
                <a:solidFill>
                  <a:srgbClr val="DBA14D"/>
                </a:solidFill>
                <a:latin typeface="Segoe UI" panose="020B0502040204020203" pitchFamily="34" charset="0"/>
              </a:rPr>
              <a:t>03 / ARQUITECTURA</a:t>
            </a:r>
          </a:p>
        </p:txBody>
      </p:sp>
      <p:sp>
        <p:nvSpPr>
          <p:cNvPr id="3" name="CuadroTexto 2">
            <a:extLst>
              <a:ext uri="{FF2B5EF4-FFF2-40B4-BE49-F238E27FC236}">
                <a16:creationId xmlns:a16="http://schemas.microsoft.com/office/drawing/2014/main" id="{22A4A2EE-242B-4D72-4812-E08B01826E68}"/>
              </a:ext>
            </a:extLst>
          </p:cNvPr>
          <p:cNvSpPr txBox="1"/>
          <p:nvPr/>
        </p:nvSpPr>
        <p:spPr>
          <a:xfrm>
            <a:off x="558800" y="685800"/>
            <a:ext cx="9906000" cy="369332"/>
          </a:xfrm>
          <a:prstGeom prst="rect">
            <a:avLst/>
          </a:prstGeom>
          <a:noFill/>
        </p:spPr>
        <p:txBody>
          <a:bodyPr vert="horz" wrap="square" lIns="0" tIns="0" rIns="0" bIns="0" rtlCol="0">
            <a:noAutofit/>
          </a:bodyPr>
          <a:lstStyle/>
          <a:p>
            <a:r>
              <a:rPr lang="es-ES" sz="3000" b="1">
                <a:solidFill>
                  <a:srgbClr val="F6F8FC"/>
                </a:solidFill>
                <a:latin typeface="Segoe UI" panose="020B0502040204020203" pitchFamily="34" charset="0"/>
              </a:rPr>
              <a:t>Topologia operativa y de despliegue</a:t>
            </a:r>
          </a:p>
        </p:txBody>
      </p:sp>
      <p:sp>
        <p:nvSpPr>
          <p:cNvPr id="4" name="CuadroTexto 3">
            <a:extLst>
              <a:ext uri="{FF2B5EF4-FFF2-40B4-BE49-F238E27FC236}">
                <a16:creationId xmlns:a16="http://schemas.microsoft.com/office/drawing/2014/main" id="{66E3AED2-2066-A7CB-A160-F81410B68E3F}"/>
              </a:ext>
            </a:extLst>
          </p:cNvPr>
          <p:cNvSpPr txBox="1"/>
          <p:nvPr/>
        </p:nvSpPr>
        <p:spPr>
          <a:xfrm>
            <a:off x="558800" y="1422400"/>
            <a:ext cx="9144000" cy="369332"/>
          </a:xfrm>
          <a:prstGeom prst="rect">
            <a:avLst/>
          </a:prstGeom>
          <a:noFill/>
        </p:spPr>
        <p:txBody>
          <a:bodyPr vert="horz" wrap="square" lIns="0" tIns="0" rIns="0" bIns="0" rtlCol="0">
            <a:noAutofit/>
          </a:bodyPr>
          <a:lstStyle/>
          <a:p>
            <a:r>
              <a:rPr lang="es-ES" sz="1500">
                <a:solidFill>
                  <a:srgbClr val="C2CBD8"/>
                </a:solidFill>
                <a:latin typeface="Segoe UI" panose="020B0502040204020203" pitchFamily="34" charset="0"/>
              </a:rPr>
              <a:t>La URL publica termina en una VM con HTTPS, persistencia real y una consola tecnica de escritorio separada del flujo funcional.</a:t>
            </a:r>
          </a:p>
        </p:txBody>
      </p:sp>
      <p:pic>
        <p:nvPicPr>
          <p:cNvPr id="6" name="Imagen 5">
            <a:extLst>
              <a:ext uri="{FF2B5EF4-FFF2-40B4-BE49-F238E27FC236}">
                <a16:creationId xmlns:a16="http://schemas.microsoft.com/office/drawing/2014/main" id="{452032AF-DD56-96CA-0694-5A94E77CAD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3078" y="1854200"/>
            <a:ext cx="6183443" cy="4191000"/>
          </a:xfrm>
          <a:prstGeom prst="rect">
            <a:avLst/>
          </a:prstGeom>
          <a:ln w="12700">
            <a:solidFill>
              <a:schemeClr val="tx1"/>
            </a:solidFill>
          </a:ln>
        </p:spPr>
      </p:pic>
      <p:sp>
        <p:nvSpPr>
          <p:cNvPr id="7" name="CuadroTexto 6">
            <a:extLst>
              <a:ext uri="{FF2B5EF4-FFF2-40B4-BE49-F238E27FC236}">
                <a16:creationId xmlns:a16="http://schemas.microsoft.com/office/drawing/2014/main" id="{96C02AA3-EA5F-1FD3-5E2F-474AC7504862}"/>
              </a:ext>
            </a:extLst>
          </p:cNvPr>
          <p:cNvSpPr txBox="1"/>
          <p:nvPr/>
        </p:nvSpPr>
        <p:spPr>
          <a:xfrm>
            <a:off x="7937500" y="2209800"/>
            <a:ext cx="3302000" cy="369332"/>
          </a:xfrm>
          <a:prstGeom prst="rect">
            <a:avLst/>
          </a:prstGeom>
          <a:noFill/>
        </p:spPr>
        <p:txBody>
          <a:bodyPr vert="horz" wrap="square" lIns="0" tIns="0" rIns="0" bIns="0" rtlCol="0">
            <a:noAutofit/>
          </a:bodyPr>
          <a:lstStyle/>
          <a:p>
            <a:pPr marL="342900" indent="-342900">
              <a:spcAft>
                <a:spcPts val="1000"/>
              </a:spcAft>
              <a:buFont typeface="+mj-lt"/>
              <a:buChar char="•"/>
            </a:pPr>
            <a:r>
              <a:rPr lang="es-ES">
                <a:solidFill>
                  <a:srgbClr val="C2CBD8"/>
                </a:solidFill>
                <a:latin typeface="Segoe UI" panose="020B0502040204020203" pitchFamily="34" charset="0"/>
              </a:rPr>
              <a:t>Caddy expone HTTPS y enruta a la aplicacion.</a:t>
            </a:r>
          </a:p>
          <a:p>
            <a:pPr marL="342900" indent="-342900">
              <a:spcAft>
                <a:spcPts val="1000"/>
              </a:spcAft>
              <a:buFont typeface="+mj-lt"/>
              <a:buChar char="•"/>
            </a:pPr>
            <a:r>
              <a:rPr lang="es-ES">
                <a:solidFill>
                  <a:srgbClr val="C2CBD8"/>
                </a:solidFill>
                <a:latin typeface="Segoe UI" panose="020B0502040204020203" pitchFamily="34" charset="0"/>
              </a:rPr>
              <a:t>Symfony concentra seguridad, negocio y APIs.</a:t>
            </a:r>
          </a:p>
          <a:p>
            <a:pPr marL="342900" indent="-342900">
              <a:spcAft>
                <a:spcPts val="1000"/>
              </a:spcAft>
              <a:buFont typeface="+mj-lt"/>
              <a:buChar char="•"/>
            </a:pPr>
            <a:r>
              <a:rPr lang="es-ES">
                <a:solidFill>
                  <a:srgbClr val="C2CBD8"/>
                </a:solidFill>
                <a:latin typeface="Segoe UI" panose="020B0502040204020203" pitchFamily="34" charset="0"/>
              </a:rPr>
              <a:t>PostgreSQL y documentos persisten fuera del contenedor.</a:t>
            </a:r>
          </a:p>
          <a:p>
            <a:pPr marL="342900" indent="-342900">
              <a:spcAft>
                <a:spcPts val="1000"/>
              </a:spcAft>
              <a:buFont typeface="+mj-lt"/>
              <a:buChar char="•"/>
            </a:pPr>
            <a:r>
              <a:rPr lang="es-ES">
                <a:solidFill>
                  <a:srgbClr val="C2CBD8"/>
                </a:solidFill>
                <a:latin typeface="Segoe UI" panose="020B0502040204020203" pitchFamily="34" charset="0"/>
              </a:rPr>
              <a:t>Agora Desktop trabaja en local o en cloud.</a:t>
            </a:r>
          </a:p>
          <a:p>
            <a:pPr marL="342900" indent="-342900">
              <a:spcAft>
                <a:spcPts val="1000"/>
              </a:spcAft>
              <a:buFont typeface="+mj-lt"/>
              <a:buChar char="•"/>
            </a:pPr>
            <a:r>
              <a:rPr lang="es-ES">
                <a:solidFill>
                  <a:srgbClr val="C2CBD8"/>
                </a:solidFill>
                <a:latin typeface="Segoe UI" panose="020B0502040204020203" pitchFamily="34" charset="0"/>
              </a:rPr>
              <a:t>La operacion tecnica queda fuera del flujo web principal.</a:t>
            </a:r>
          </a:p>
        </p:txBody>
      </p:sp>
    </p:spTree>
    <p:extLst>
      <p:ext uri="{BB962C8B-B14F-4D97-AF65-F5344CB8AC3E}">
        <p14:creationId xmlns:p14="http://schemas.microsoft.com/office/powerpoint/2010/main" val="158311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218"/>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951A4B9-C4CD-D3C0-9F74-CEB32CDB269C}"/>
              </a:ext>
            </a:extLst>
          </p:cNvPr>
          <p:cNvSpPr txBox="1"/>
          <p:nvPr/>
        </p:nvSpPr>
        <p:spPr>
          <a:xfrm>
            <a:off x="558800" y="330200"/>
            <a:ext cx="10414000" cy="369332"/>
          </a:xfrm>
          <a:prstGeom prst="rect">
            <a:avLst/>
          </a:prstGeom>
          <a:noFill/>
        </p:spPr>
        <p:txBody>
          <a:bodyPr vert="horz" wrap="square" lIns="0" tIns="0" rIns="0" bIns="0" rtlCol="0">
            <a:noAutofit/>
          </a:bodyPr>
          <a:lstStyle/>
          <a:p>
            <a:r>
              <a:rPr lang="es-ES" sz="1200" b="1">
                <a:solidFill>
                  <a:srgbClr val="DBA14D"/>
                </a:solidFill>
                <a:latin typeface="Segoe UI" panose="020B0502040204020203" pitchFamily="34" charset="0"/>
              </a:rPr>
              <a:t>04 / MODELO DE DATOS</a:t>
            </a:r>
          </a:p>
        </p:txBody>
      </p:sp>
      <p:sp>
        <p:nvSpPr>
          <p:cNvPr id="3" name="CuadroTexto 2">
            <a:extLst>
              <a:ext uri="{FF2B5EF4-FFF2-40B4-BE49-F238E27FC236}">
                <a16:creationId xmlns:a16="http://schemas.microsoft.com/office/drawing/2014/main" id="{0C38EFF9-469D-1C90-4E66-F169BBF08B83}"/>
              </a:ext>
            </a:extLst>
          </p:cNvPr>
          <p:cNvSpPr txBox="1"/>
          <p:nvPr/>
        </p:nvSpPr>
        <p:spPr>
          <a:xfrm>
            <a:off x="558800" y="685800"/>
            <a:ext cx="9906000" cy="369332"/>
          </a:xfrm>
          <a:prstGeom prst="rect">
            <a:avLst/>
          </a:prstGeom>
          <a:noFill/>
        </p:spPr>
        <p:txBody>
          <a:bodyPr vert="horz" wrap="square" lIns="0" tIns="0" rIns="0" bIns="0" rtlCol="0">
            <a:noAutofit/>
          </a:bodyPr>
          <a:lstStyle/>
          <a:p>
            <a:r>
              <a:rPr lang="es-ES" sz="3000" b="1">
                <a:solidFill>
                  <a:srgbClr val="F6F8FC"/>
                </a:solidFill>
                <a:latin typeface="Segoe UI" panose="020B0502040204020203" pitchFamily="34" charset="0"/>
              </a:rPr>
              <a:t>De la cuenta de empresa a la asignacion</a:t>
            </a:r>
          </a:p>
        </p:txBody>
      </p:sp>
      <p:pic>
        <p:nvPicPr>
          <p:cNvPr id="5" name="Imagen 4">
            <a:extLst>
              <a:ext uri="{FF2B5EF4-FFF2-40B4-BE49-F238E27FC236}">
                <a16:creationId xmlns:a16="http://schemas.microsoft.com/office/drawing/2014/main" id="{1CA1F5BB-AE33-29DE-8201-C11F103F38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4200" y="1784350"/>
            <a:ext cx="5969000" cy="4178300"/>
          </a:xfrm>
          <a:prstGeom prst="rect">
            <a:avLst/>
          </a:prstGeom>
          <a:ln w="12700">
            <a:solidFill>
              <a:schemeClr val="tx1"/>
            </a:solidFill>
          </a:ln>
        </p:spPr>
      </p:pic>
      <p:sp>
        <p:nvSpPr>
          <p:cNvPr id="6" name="CuadroTexto 5">
            <a:extLst>
              <a:ext uri="{FF2B5EF4-FFF2-40B4-BE49-F238E27FC236}">
                <a16:creationId xmlns:a16="http://schemas.microsoft.com/office/drawing/2014/main" id="{E987F68F-046C-3FF7-AF42-F639F369C6FE}"/>
              </a:ext>
            </a:extLst>
          </p:cNvPr>
          <p:cNvSpPr txBox="1"/>
          <p:nvPr/>
        </p:nvSpPr>
        <p:spPr>
          <a:xfrm>
            <a:off x="7239000" y="2006600"/>
            <a:ext cx="3937000" cy="369332"/>
          </a:xfrm>
          <a:prstGeom prst="rect">
            <a:avLst/>
          </a:prstGeom>
          <a:noFill/>
        </p:spPr>
        <p:txBody>
          <a:bodyPr vert="horz" wrap="square" lIns="0" tIns="0" rIns="0" bIns="0" rtlCol="0">
            <a:noAutofit/>
          </a:bodyPr>
          <a:lstStyle/>
          <a:p>
            <a:r>
              <a:rPr lang="es-ES" sz="2000" b="1">
                <a:solidFill>
                  <a:srgbClr val="DBA14D"/>
                </a:solidFill>
                <a:latin typeface="Segoe UI" panose="020B0502040204020203" pitchFamily="34" charset="0"/>
              </a:rPr>
              <a:t>Regla de negocio defendible</a:t>
            </a:r>
          </a:p>
        </p:txBody>
      </p:sp>
      <p:sp>
        <p:nvSpPr>
          <p:cNvPr id="7" name="CuadroTexto 6">
            <a:extLst>
              <a:ext uri="{FF2B5EF4-FFF2-40B4-BE49-F238E27FC236}">
                <a16:creationId xmlns:a16="http://schemas.microsoft.com/office/drawing/2014/main" id="{176C2567-1D20-F23F-04BE-B6EC5B5AB4BF}"/>
              </a:ext>
            </a:extLst>
          </p:cNvPr>
          <p:cNvSpPr txBox="1"/>
          <p:nvPr/>
        </p:nvSpPr>
        <p:spPr>
          <a:xfrm>
            <a:off x="7493000" y="2667000"/>
            <a:ext cx="3619500" cy="369332"/>
          </a:xfrm>
          <a:prstGeom prst="rect">
            <a:avLst/>
          </a:prstGeom>
          <a:noFill/>
        </p:spPr>
        <p:txBody>
          <a:bodyPr vert="horz" wrap="square" lIns="0" tIns="0" rIns="0" bIns="0" rtlCol="0">
            <a:noAutofit/>
          </a:bodyPr>
          <a:lstStyle/>
          <a:p>
            <a:pPr marL="457200" indent="-457200">
              <a:spcAft>
                <a:spcPts val="1000"/>
              </a:spcAft>
              <a:buFont typeface="+mj-lt"/>
              <a:buChar char="•"/>
            </a:pPr>
            <a:r>
              <a:rPr lang="es-ES" sz="1900">
                <a:solidFill>
                  <a:srgbClr val="C2CBD8"/>
                </a:solidFill>
                <a:latin typeface="Segoe UI" panose="020B0502040204020203" pitchFamily="34" charset="0"/>
              </a:rPr>
              <a:t>La cuenta portal sobrevive al preregistro inicial.</a:t>
            </a:r>
          </a:p>
          <a:p>
            <a:pPr marL="457200" indent="-457200">
              <a:spcAft>
                <a:spcPts val="1000"/>
              </a:spcAft>
              <a:buFont typeface="+mj-lt"/>
              <a:buChar char="•"/>
            </a:pPr>
            <a:r>
              <a:rPr lang="es-ES" sz="1900">
                <a:solidFill>
                  <a:srgbClr val="C2CBD8"/>
                </a:solidFill>
                <a:latin typeface="Segoe UI" panose="020B0502040204020203" pitchFamily="34" charset="0"/>
              </a:rPr>
              <a:t>La solicitud concentra verificacion, estado y mensajes.</a:t>
            </a:r>
          </a:p>
          <a:p>
            <a:pPr marL="457200" indent="-457200">
              <a:spcAft>
                <a:spcPts val="1000"/>
              </a:spcAft>
              <a:buFont typeface="+mj-lt"/>
              <a:buChar char="•"/>
            </a:pPr>
            <a:r>
              <a:rPr lang="es-ES" sz="1900">
                <a:solidFill>
                  <a:srgbClr val="C2CBD8"/>
                </a:solidFill>
                <a:latin typeface="Segoe UI" panose="020B0502040204020203" pitchFamily="34" charset="0"/>
              </a:rPr>
              <a:t>La empresa aprobada hereda convenios, documentos y tutores.</a:t>
            </a:r>
          </a:p>
          <a:p>
            <a:pPr marL="457200" indent="-457200">
              <a:spcAft>
                <a:spcPts val="1000"/>
              </a:spcAft>
              <a:buFont typeface="+mj-lt"/>
              <a:buChar char="•"/>
            </a:pPr>
            <a:r>
              <a:rPr lang="es-ES" sz="1900">
                <a:solidFill>
                  <a:srgbClr val="C2CBD8"/>
                </a:solidFill>
                <a:latin typeface="Segoe UI" panose="020B0502040204020203" pitchFamily="34" charset="0"/>
              </a:rPr>
              <a:t>Asignacion, seguimiento y evaluacion cierran el ciclo.</a:t>
            </a:r>
          </a:p>
        </p:txBody>
      </p:sp>
    </p:spTree>
    <p:extLst>
      <p:ext uri="{BB962C8B-B14F-4D97-AF65-F5344CB8AC3E}">
        <p14:creationId xmlns:p14="http://schemas.microsoft.com/office/powerpoint/2010/main" val="3849511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218"/>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A445AED-67B3-A8F9-7FD6-E9145A71D731}"/>
              </a:ext>
            </a:extLst>
          </p:cNvPr>
          <p:cNvSpPr txBox="1"/>
          <p:nvPr/>
        </p:nvSpPr>
        <p:spPr>
          <a:xfrm>
            <a:off x="558800" y="330200"/>
            <a:ext cx="10414000" cy="369332"/>
          </a:xfrm>
          <a:prstGeom prst="rect">
            <a:avLst/>
          </a:prstGeom>
          <a:noFill/>
        </p:spPr>
        <p:txBody>
          <a:bodyPr vert="horz" wrap="square" lIns="0" tIns="0" rIns="0" bIns="0" rtlCol="0">
            <a:noAutofit/>
          </a:bodyPr>
          <a:lstStyle/>
          <a:p>
            <a:r>
              <a:rPr lang="es-ES" sz="1200" b="1">
                <a:solidFill>
                  <a:srgbClr val="DBA14D"/>
                </a:solidFill>
                <a:latin typeface="Segoe UI" panose="020B0502040204020203" pitchFamily="34" charset="0"/>
              </a:rPr>
              <a:t>05 / PANEL INTERNO</a:t>
            </a:r>
          </a:p>
        </p:txBody>
      </p:sp>
      <p:sp>
        <p:nvSpPr>
          <p:cNvPr id="3" name="CuadroTexto 2">
            <a:extLst>
              <a:ext uri="{FF2B5EF4-FFF2-40B4-BE49-F238E27FC236}">
                <a16:creationId xmlns:a16="http://schemas.microsoft.com/office/drawing/2014/main" id="{8E96945A-ED17-86CE-7FBA-04651F68202F}"/>
              </a:ext>
            </a:extLst>
          </p:cNvPr>
          <p:cNvSpPr txBox="1"/>
          <p:nvPr/>
        </p:nvSpPr>
        <p:spPr>
          <a:xfrm>
            <a:off x="558800" y="685800"/>
            <a:ext cx="9906000" cy="369332"/>
          </a:xfrm>
          <a:prstGeom prst="rect">
            <a:avLst/>
          </a:prstGeom>
          <a:noFill/>
        </p:spPr>
        <p:txBody>
          <a:bodyPr vert="horz" wrap="square" lIns="0" tIns="0" rIns="0" bIns="0" rtlCol="0">
            <a:noAutofit/>
          </a:bodyPr>
          <a:lstStyle/>
          <a:p>
            <a:r>
              <a:rPr lang="es-ES" sz="3000" b="1">
                <a:solidFill>
                  <a:srgbClr val="F6F8FC"/>
                </a:solidFill>
                <a:latin typeface="Segoe UI" panose="020B0502040204020203" pitchFamily="34" charset="0"/>
              </a:rPr>
              <a:t>Gestion diaria del centro</a:t>
            </a:r>
          </a:p>
        </p:txBody>
      </p:sp>
      <p:sp>
        <p:nvSpPr>
          <p:cNvPr id="4" name="CuadroTexto 3">
            <a:extLst>
              <a:ext uri="{FF2B5EF4-FFF2-40B4-BE49-F238E27FC236}">
                <a16:creationId xmlns:a16="http://schemas.microsoft.com/office/drawing/2014/main" id="{0DEC7380-4D0A-30F8-2946-4C2FED85D370}"/>
              </a:ext>
            </a:extLst>
          </p:cNvPr>
          <p:cNvSpPr txBox="1"/>
          <p:nvPr/>
        </p:nvSpPr>
        <p:spPr>
          <a:xfrm>
            <a:off x="558800" y="1422400"/>
            <a:ext cx="9144000" cy="369332"/>
          </a:xfrm>
          <a:prstGeom prst="rect">
            <a:avLst/>
          </a:prstGeom>
          <a:noFill/>
        </p:spPr>
        <p:txBody>
          <a:bodyPr vert="horz" wrap="square" lIns="0" tIns="0" rIns="0" bIns="0" rtlCol="0">
            <a:noAutofit/>
          </a:bodyPr>
          <a:lstStyle/>
          <a:p>
            <a:r>
              <a:rPr lang="es-ES" sz="1500">
                <a:solidFill>
                  <a:srgbClr val="C2CBD8"/>
                </a:solidFill>
                <a:latin typeface="Segoe UI" panose="020B0502040204020203" pitchFamily="34" charset="0"/>
              </a:rPr>
              <a:t>Dashboard, CRUD operativo, solicitudes, bandeja, documentos, seguimientos y exportacion.</a:t>
            </a:r>
          </a:p>
        </p:txBody>
      </p:sp>
      <p:pic>
        <p:nvPicPr>
          <p:cNvPr id="6" name="Imagen 5">
            <a:extLst>
              <a:ext uri="{FF2B5EF4-FFF2-40B4-BE49-F238E27FC236}">
                <a16:creationId xmlns:a16="http://schemas.microsoft.com/office/drawing/2014/main" id="{F06992D4-AF73-5463-6CB7-ACC98815C4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400" y="1905000"/>
            <a:ext cx="7112000" cy="4000500"/>
          </a:xfrm>
          <a:prstGeom prst="rect">
            <a:avLst/>
          </a:prstGeom>
          <a:ln w="12700">
            <a:solidFill>
              <a:schemeClr val="tx1"/>
            </a:solidFill>
          </a:ln>
        </p:spPr>
      </p:pic>
      <p:sp>
        <p:nvSpPr>
          <p:cNvPr id="7" name="Rectángulo: esquinas redondeadas 6">
            <a:extLst>
              <a:ext uri="{FF2B5EF4-FFF2-40B4-BE49-F238E27FC236}">
                <a16:creationId xmlns:a16="http://schemas.microsoft.com/office/drawing/2014/main" id="{768CC9F6-8DCF-AF83-D6D3-445678F1B718}"/>
              </a:ext>
            </a:extLst>
          </p:cNvPr>
          <p:cNvSpPr/>
          <p:nvPr/>
        </p:nvSpPr>
        <p:spPr>
          <a:xfrm>
            <a:off x="8407400" y="2095500"/>
            <a:ext cx="2413000" cy="1193800"/>
          </a:xfrm>
          <a:prstGeom prst="roundRect">
            <a:avLst/>
          </a:prstGeom>
          <a:solidFill>
            <a:srgbClr val="F7FAFC"/>
          </a:solidFill>
          <a:ln w="12700">
            <a:solidFill>
              <a:srgbClr val="DCE2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a:extLst>
              <a:ext uri="{FF2B5EF4-FFF2-40B4-BE49-F238E27FC236}">
                <a16:creationId xmlns:a16="http://schemas.microsoft.com/office/drawing/2014/main" id="{AECF27DF-1150-0F45-F135-8EE40DC08CA6}"/>
              </a:ext>
            </a:extLst>
          </p:cNvPr>
          <p:cNvSpPr txBox="1"/>
          <p:nvPr/>
        </p:nvSpPr>
        <p:spPr>
          <a:xfrm>
            <a:off x="8636000" y="2260600"/>
            <a:ext cx="1905000" cy="369332"/>
          </a:xfrm>
          <a:prstGeom prst="rect">
            <a:avLst/>
          </a:prstGeom>
          <a:noFill/>
        </p:spPr>
        <p:txBody>
          <a:bodyPr vert="horz" wrap="square" lIns="0" tIns="0" rIns="0" bIns="0" rtlCol="0">
            <a:noAutofit/>
          </a:bodyPr>
          <a:lstStyle/>
          <a:p>
            <a:r>
              <a:rPr lang="es-ES" sz="2600" b="1">
                <a:solidFill>
                  <a:srgbClr val="41A772"/>
                </a:solidFill>
                <a:latin typeface="Segoe UI" panose="020B0502040204020203" pitchFamily="34" charset="0"/>
              </a:rPr>
              <a:t>3</a:t>
            </a:r>
          </a:p>
        </p:txBody>
      </p:sp>
      <p:sp>
        <p:nvSpPr>
          <p:cNvPr id="9" name="CuadroTexto 8">
            <a:extLst>
              <a:ext uri="{FF2B5EF4-FFF2-40B4-BE49-F238E27FC236}">
                <a16:creationId xmlns:a16="http://schemas.microsoft.com/office/drawing/2014/main" id="{F1BE29AE-EFBE-EAB3-5134-F06DFB28978C}"/>
              </a:ext>
            </a:extLst>
          </p:cNvPr>
          <p:cNvSpPr txBox="1"/>
          <p:nvPr/>
        </p:nvSpPr>
        <p:spPr>
          <a:xfrm>
            <a:off x="8636000" y="2755900"/>
            <a:ext cx="1905000" cy="381000"/>
          </a:xfrm>
          <a:prstGeom prst="rect">
            <a:avLst/>
          </a:prstGeom>
          <a:noFill/>
        </p:spPr>
        <p:txBody>
          <a:bodyPr vert="horz" wrap="square" lIns="0" tIns="0" rIns="0" bIns="0" rtlCol="0">
            <a:noAutofit/>
          </a:bodyPr>
          <a:lstStyle/>
          <a:p>
            <a:r>
              <a:rPr lang="es-ES" sz="1300">
                <a:solidFill>
                  <a:srgbClr val="1F2937"/>
                </a:solidFill>
                <a:latin typeface="Segoe UI" panose="020B0502040204020203" pitchFamily="34" charset="0"/>
              </a:rPr>
              <a:t>empresas demo</a:t>
            </a:r>
          </a:p>
        </p:txBody>
      </p:sp>
      <p:sp>
        <p:nvSpPr>
          <p:cNvPr id="10" name="Rectángulo: esquinas redondeadas 9">
            <a:extLst>
              <a:ext uri="{FF2B5EF4-FFF2-40B4-BE49-F238E27FC236}">
                <a16:creationId xmlns:a16="http://schemas.microsoft.com/office/drawing/2014/main" id="{9C14D19E-EE1E-20E7-C397-AD0F795191B7}"/>
              </a:ext>
            </a:extLst>
          </p:cNvPr>
          <p:cNvSpPr/>
          <p:nvPr/>
        </p:nvSpPr>
        <p:spPr>
          <a:xfrm>
            <a:off x="8407400" y="3530600"/>
            <a:ext cx="2413000" cy="1193800"/>
          </a:xfrm>
          <a:prstGeom prst="roundRect">
            <a:avLst/>
          </a:prstGeom>
          <a:solidFill>
            <a:srgbClr val="F7FAFC"/>
          </a:solidFill>
          <a:ln w="12700">
            <a:solidFill>
              <a:srgbClr val="DCE2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CuadroTexto 10">
            <a:extLst>
              <a:ext uri="{FF2B5EF4-FFF2-40B4-BE49-F238E27FC236}">
                <a16:creationId xmlns:a16="http://schemas.microsoft.com/office/drawing/2014/main" id="{513535E6-F34F-3854-4055-86FAF5EF055C}"/>
              </a:ext>
            </a:extLst>
          </p:cNvPr>
          <p:cNvSpPr txBox="1"/>
          <p:nvPr/>
        </p:nvSpPr>
        <p:spPr>
          <a:xfrm>
            <a:off x="8636000" y="3695700"/>
            <a:ext cx="1905000" cy="369332"/>
          </a:xfrm>
          <a:prstGeom prst="rect">
            <a:avLst/>
          </a:prstGeom>
          <a:noFill/>
        </p:spPr>
        <p:txBody>
          <a:bodyPr vert="horz" wrap="square" lIns="0" tIns="0" rIns="0" bIns="0" rtlCol="0">
            <a:noAutofit/>
          </a:bodyPr>
          <a:lstStyle/>
          <a:p>
            <a:r>
              <a:rPr lang="es-ES" sz="2600" b="1">
                <a:solidFill>
                  <a:srgbClr val="DBA14D"/>
                </a:solidFill>
                <a:latin typeface="Segoe UI" panose="020B0502040204020203" pitchFamily="34" charset="0"/>
              </a:rPr>
              <a:t>3</a:t>
            </a:r>
          </a:p>
        </p:txBody>
      </p:sp>
      <p:sp>
        <p:nvSpPr>
          <p:cNvPr id="12" name="CuadroTexto 11">
            <a:extLst>
              <a:ext uri="{FF2B5EF4-FFF2-40B4-BE49-F238E27FC236}">
                <a16:creationId xmlns:a16="http://schemas.microsoft.com/office/drawing/2014/main" id="{0A723147-D410-4E94-FF50-F04035AF8556}"/>
              </a:ext>
            </a:extLst>
          </p:cNvPr>
          <p:cNvSpPr txBox="1"/>
          <p:nvPr/>
        </p:nvSpPr>
        <p:spPr>
          <a:xfrm>
            <a:off x="8636000" y="4191000"/>
            <a:ext cx="1905000" cy="381000"/>
          </a:xfrm>
          <a:prstGeom prst="rect">
            <a:avLst/>
          </a:prstGeom>
          <a:noFill/>
        </p:spPr>
        <p:txBody>
          <a:bodyPr vert="horz" wrap="square" lIns="0" tIns="0" rIns="0" bIns="0" rtlCol="0">
            <a:noAutofit/>
          </a:bodyPr>
          <a:lstStyle/>
          <a:p>
            <a:r>
              <a:rPr lang="es-ES" sz="1300">
                <a:solidFill>
                  <a:srgbClr val="1F2937"/>
                </a:solidFill>
                <a:latin typeface="Segoe UI" panose="020B0502040204020203" pitchFamily="34" charset="0"/>
              </a:rPr>
              <a:t>convenios demo</a:t>
            </a:r>
          </a:p>
        </p:txBody>
      </p:sp>
      <p:sp>
        <p:nvSpPr>
          <p:cNvPr id="13" name="Rectángulo: esquinas redondeadas 12">
            <a:extLst>
              <a:ext uri="{FF2B5EF4-FFF2-40B4-BE49-F238E27FC236}">
                <a16:creationId xmlns:a16="http://schemas.microsoft.com/office/drawing/2014/main" id="{E200B8FA-C58A-4916-6D4B-0C2429398A3F}"/>
              </a:ext>
            </a:extLst>
          </p:cNvPr>
          <p:cNvSpPr/>
          <p:nvPr/>
        </p:nvSpPr>
        <p:spPr>
          <a:xfrm>
            <a:off x="8407400" y="4965700"/>
            <a:ext cx="2413000" cy="1193800"/>
          </a:xfrm>
          <a:prstGeom prst="roundRect">
            <a:avLst/>
          </a:prstGeom>
          <a:solidFill>
            <a:srgbClr val="F7FAFC"/>
          </a:solidFill>
          <a:ln w="12700">
            <a:solidFill>
              <a:srgbClr val="DCE2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B1C8D309-9332-0592-4461-70E39E5F8E69}"/>
              </a:ext>
            </a:extLst>
          </p:cNvPr>
          <p:cNvSpPr txBox="1"/>
          <p:nvPr/>
        </p:nvSpPr>
        <p:spPr>
          <a:xfrm>
            <a:off x="8636000" y="5130800"/>
            <a:ext cx="1905000" cy="369332"/>
          </a:xfrm>
          <a:prstGeom prst="rect">
            <a:avLst/>
          </a:prstGeom>
          <a:noFill/>
        </p:spPr>
        <p:txBody>
          <a:bodyPr vert="horz" wrap="square" lIns="0" tIns="0" rIns="0" bIns="0" rtlCol="0">
            <a:noAutofit/>
          </a:bodyPr>
          <a:lstStyle/>
          <a:p>
            <a:r>
              <a:rPr lang="es-ES" sz="2600" b="1">
                <a:solidFill>
                  <a:srgbClr val="49B1D2"/>
                </a:solidFill>
                <a:latin typeface="Segoe UI" panose="020B0502040204020203" pitchFamily="34" charset="0"/>
              </a:rPr>
              <a:t>CSV</a:t>
            </a:r>
          </a:p>
        </p:txBody>
      </p:sp>
      <p:sp>
        <p:nvSpPr>
          <p:cNvPr id="15" name="CuadroTexto 14">
            <a:extLst>
              <a:ext uri="{FF2B5EF4-FFF2-40B4-BE49-F238E27FC236}">
                <a16:creationId xmlns:a16="http://schemas.microsoft.com/office/drawing/2014/main" id="{F63C3D38-6CD7-B851-DA21-972F6C4262D5}"/>
              </a:ext>
            </a:extLst>
          </p:cNvPr>
          <p:cNvSpPr txBox="1"/>
          <p:nvPr/>
        </p:nvSpPr>
        <p:spPr>
          <a:xfrm>
            <a:off x="8636000" y="5626100"/>
            <a:ext cx="1905000" cy="381000"/>
          </a:xfrm>
          <a:prstGeom prst="rect">
            <a:avLst/>
          </a:prstGeom>
          <a:noFill/>
        </p:spPr>
        <p:txBody>
          <a:bodyPr vert="horz" wrap="square" lIns="0" tIns="0" rIns="0" bIns="0" rtlCol="0">
            <a:noAutofit/>
          </a:bodyPr>
          <a:lstStyle/>
          <a:p>
            <a:r>
              <a:rPr lang="es-ES" sz="1300">
                <a:solidFill>
                  <a:srgbClr val="1F2937"/>
                </a:solidFill>
                <a:latin typeface="Segoe UI" panose="020B0502040204020203" pitchFamily="34" charset="0"/>
              </a:rPr>
              <a:t>exportacion operativa</a:t>
            </a:r>
          </a:p>
        </p:txBody>
      </p:sp>
    </p:spTree>
    <p:extLst>
      <p:ext uri="{BB962C8B-B14F-4D97-AF65-F5344CB8AC3E}">
        <p14:creationId xmlns:p14="http://schemas.microsoft.com/office/powerpoint/2010/main" val="22856063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218"/>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F6EDED2-C176-D54A-4744-4687B6033032}"/>
              </a:ext>
            </a:extLst>
          </p:cNvPr>
          <p:cNvSpPr txBox="1"/>
          <p:nvPr/>
        </p:nvSpPr>
        <p:spPr>
          <a:xfrm>
            <a:off x="558800" y="330200"/>
            <a:ext cx="10414000" cy="369332"/>
          </a:xfrm>
          <a:prstGeom prst="rect">
            <a:avLst/>
          </a:prstGeom>
          <a:noFill/>
        </p:spPr>
        <p:txBody>
          <a:bodyPr vert="horz" wrap="square" lIns="0" tIns="0" rIns="0" bIns="0" rtlCol="0">
            <a:noAutofit/>
          </a:bodyPr>
          <a:lstStyle/>
          <a:p>
            <a:r>
              <a:rPr lang="es-ES" sz="1200" b="1">
                <a:solidFill>
                  <a:srgbClr val="DBA14D"/>
                </a:solidFill>
                <a:latin typeface="Segoe UI" panose="020B0502040204020203" pitchFamily="34" charset="0"/>
              </a:rPr>
              <a:t>06 / FLUJO EMPRESA-CENTRO</a:t>
            </a:r>
          </a:p>
        </p:txBody>
      </p:sp>
      <p:sp>
        <p:nvSpPr>
          <p:cNvPr id="3" name="CuadroTexto 2">
            <a:extLst>
              <a:ext uri="{FF2B5EF4-FFF2-40B4-BE49-F238E27FC236}">
                <a16:creationId xmlns:a16="http://schemas.microsoft.com/office/drawing/2014/main" id="{DE06F856-1977-278D-4D9D-1E43F42B3E63}"/>
              </a:ext>
            </a:extLst>
          </p:cNvPr>
          <p:cNvSpPr txBox="1"/>
          <p:nvPr/>
        </p:nvSpPr>
        <p:spPr>
          <a:xfrm>
            <a:off x="558800" y="685800"/>
            <a:ext cx="9906000" cy="369332"/>
          </a:xfrm>
          <a:prstGeom prst="rect">
            <a:avLst/>
          </a:prstGeom>
          <a:noFill/>
        </p:spPr>
        <p:txBody>
          <a:bodyPr vert="horz" wrap="square" lIns="0" tIns="0" rIns="0" bIns="0" rtlCol="0">
            <a:noAutofit/>
          </a:bodyPr>
          <a:lstStyle/>
          <a:p>
            <a:r>
              <a:rPr lang="es-ES" sz="3000" b="1">
                <a:solidFill>
                  <a:srgbClr val="F6F8FC"/>
                </a:solidFill>
                <a:latin typeface="Segoe UI" panose="020B0502040204020203" pitchFamily="34" charset="0"/>
              </a:rPr>
              <a:t>Solicitudes, aprobacion y bandeja unificada</a:t>
            </a:r>
          </a:p>
        </p:txBody>
      </p:sp>
      <p:pic>
        <p:nvPicPr>
          <p:cNvPr id="5" name="Imagen 4">
            <a:extLst>
              <a:ext uri="{FF2B5EF4-FFF2-40B4-BE49-F238E27FC236}">
                <a16:creationId xmlns:a16="http://schemas.microsoft.com/office/drawing/2014/main" id="{8D25A269-DC2D-733A-299D-BD80DAD898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911747"/>
            <a:ext cx="6794500" cy="3821906"/>
          </a:xfrm>
          <a:prstGeom prst="rect">
            <a:avLst/>
          </a:prstGeom>
          <a:ln w="12700">
            <a:solidFill>
              <a:schemeClr val="tx1"/>
            </a:solidFill>
          </a:ln>
        </p:spPr>
      </p:pic>
      <p:sp>
        <p:nvSpPr>
          <p:cNvPr id="6" name="CuadroTexto 5">
            <a:extLst>
              <a:ext uri="{FF2B5EF4-FFF2-40B4-BE49-F238E27FC236}">
                <a16:creationId xmlns:a16="http://schemas.microsoft.com/office/drawing/2014/main" id="{35AFBA7F-E6A0-E468-4A1D-26781C28597C}"/>
              </a:ext>
            </a:extLst>
          </p:cNvPr>
          <p:cNvSpPr txBox="1"/>
          <p:nvPr/>
        </p:nvSpPr>
        <p:spPr>
          <a:xfrm>
            <a:off x="7937500" y="2108200"/>
            <a:ext cx="3429000" cy="369332"/>
          </a:xfrm>
          <a:prstGeom prst="rect">
            <a:avLst/>
          </a:prstGeom>
          <a:noFill/>
        </p:spPr>
        <p:txBody>
          <a:bodyPr vert="horz" wrap="square" lIns="0" tIns="0" rIns="0" bIns="0" rtlCol="0">
            <a:noAutofit/>
          </a:bodyPr>
          <a:lstStyle/>
          <a:p>
            <a:pPr marL="342900" indent="-342900">
              <a:spcAft>
                <a:spcPts val="1000"/>
              </a:spcAft>
              <a:buFont typeface="+mj-lt"/>
              <a:buChar char="•"/>
            </a:pPr>
            <a:r>
              <a:rPr lang="es-ES">
                <a:solidFill>
                  <a:srgbClr val="C2CBD8"/>
                </a:solidFill>
                <a:latin typeface="Segoe UI" panose="020B0502040204020203" pitchFamily="34" charset="0"/>
              </a:rPr>
              <a:t>La empresa solicita colaborar desde el portal externo.</a:t>
            </a:r>
          </a:p>
          <a:p>
            <a:pPr marL="342900" indent="-342900">
              <a:spcAft>
                <a:spcPts val="1000"/>
              </a:spcAft>
              <a:buFont typeface="+mj-lt"/>
              <a:buChar char="•"/>
            </a:pPr>
            <a:r>
              <a:rPr lang="es-ES">
                <a:solidFill>
                  <a:srgbClr val="C2CBD8"/>
                </a:solidFill>
                <a:latin typeface="Segoe UI" panose="020B0502040204020203" pitchFamily="34" charset="0"/>
              </a:rPr>
              <a:t>El correo queda verificado antes de la revision.</a:t>
            </a:r>
          </a:p>
          <a:p>
            <a:pPr marL="342900" indent="-342900">
              <a:spcAft>
                <a:spcPts val="1000"/>
              </a:spcAft>
              <a:buFont typeface="+mj-lt"/>
              <a:buChar char="•"/>
            </a:pPr>
            <a:r>
              <a:rPr lang="es-ES">
                <a:solidFill>
                  <a:srgbClr val="C2CBD8"/>
                </a:solidFill>
                <a:latin typeface="Segoe UI" panose="020B0502040204020203" pitchFamily="34" charset="0"/>
              </a:rPr>
              <a:t>El centro aprueba o rechaza desde el panel interno.</a:t>
            </a:r>
          </a:p>
          <a:p>
            <a:pPr marL="342900" indent="-342900">
              <a:spcAft>
                <a:spcPts val="1000"/>
              </a:spcAft>
              <a:buFont typeface="+mj-lt"/>
              <a:buChar char="•"/>
            </a:pPr>
            <a:r>
              <a:rPr lang="es-ES">
                <a:solidFill>
                  <a:srgbClr val="C2CBD8"/>
                </a:solidFill>
                <a:latin typeface="Segoe UI" panose="020B0502040204020203" pitchFamily="34" charset="0"/>
              </a:rPr>
              <a:t>La conversacion queda ligada a la solicitud y a la empresa.</a:t>
            </a:r>
          </a:p>
        </p:txBody>
      </p:sp>
    </p:spTree>
    <p:extLst>
      <p:ext uri="{BB962C8B-B14F-4D97-AF65-F5344CB8AC3E}">
        <p14:creationId xmlns:p14="http://schemas.microsoft.com/office/powerpoint/2010/main" val="4115379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218"/>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47F6931E-2B26-D49A-AFE6-CC53F8148F71}"/>
              </a:ext>
            </a:extLst>
          </p:cNvPr>
          <p:cNvSpPr txBox="1"/>
          <p:nvPr/>
        </p:nvSpPr>
        <p:spPr>
          <a:xfrm>
            <a:off x="558800" y="330200"/>
            <a:ext cx="10414000" cy="369332"/>
          </a:xfrm>
          <a:prstGeom prst="rect">
            <a:avLst/>
          </a:prstGeom>
          <a:noFill/>
        </p:spPr>
        <p:txBody>
          <a:bodyPr vert="horz" wrap="square" lIns="0" tIns="0" rIns="0" bIns="0" rtlCol="0">
            <a:noAutofit/>
          </a:bodyPr>
          <a:lstStyle/>
          <a:p>
            <a:r>
              <a:rPr lang="es-ES" sz="1200" b="1">
                <a:solidFill>
                  <a:srgbClr val="DBA14D"/>
                </a:solidFill>
                <a:latin typeface="Segoe UI" panose="020B0502040204020203" pitchFamily="34" charset="0"/>
              </a:rPr>
              <a:t>07 / PORTAL EXTERNO</a:t>
            </a:r>
          </a:p>
        </p:txBody>
      </p:sp>
      <p:sp>
        <p:nvSpPr>
          <p:cNvPr id="3" name="CuadroTexto 2">
            <a:extLst>
              <a:ext uri="{FF2B5EF4-FFF2-40B4-BE49-F238E27FC236}">
                <a16:creationId xmlns:a16="http://schemas.microsoft.com/office/drawing/2014/main" id="{1128270E-7F07-312D-1B5C-DCBDCD60AF70}"/>
              </a:ext>
            </a:extLst>
          </p:cNvPr>
          <p:cNvSpPr txBox="1"/>
          <p:nvPr/>
        </p:nvSpPr>
        <p:spPr>
          <a:xfrm>
            <a:off x="558800" y="685800"/>
            <a:ext cx="9906000" cy="369332"/>
          </a:xfrm>
          <a:prstGeom prst="rect">
            <a:avLst/>
          </a:prstGeom>
          <a:noFill/>
        </p:spPr>
        <p:txBody>
          <a:bodyPr vert="horz" wrap="square" lIns="0" tIns="0" rIns="0" bIns="0" rtlCol="0">
            <a:noAutofit/>
          </a:bodyPr>
          <a:lstStyle/>
          <a:p>
            <a:r>
              <a:rPr lang="es-ES" sz="3000" b="1">
                <a:solidFill>
                  <a:srgbClr val="F6F8FC"/>
                </a:solidFill>
                <a:latin typeface="Segoe UI" panose="020B0502040204020203" pitchFamily="34" charset="0"/>
              </a:rPr>
              <a:t>Experiencia de la empresa</a:t>
            </a:r>
          </a:p>
        </p:txBody>
      </p:sp>
      <p:sp>
        <p:nvSpPr>
          <p:cNvPr id="4" name="CuadroTexto 3">
            <a:extLst>
              <a:ext uri="{FF2B5EF4-FFF2-40B4-BE49-F238E27FC236}">
                <a16:creationId xmlns:a16="http://schemas.microsoft.com/office/drawing/2014/main" id="{D1CF334C-A94F-E4C6-B928-50E04EA0E2EF}"/>
              </a:ext>
            </a:extLst>
          </p:cNvPr>
          <p:cNvSpPr txBox="1"/>
          <p:nvPr/>
        </p:nvSpPr>
        <p:spPr>
          <a:xfrm>
            <a:off x="558800" y="1422400"/>
            <a:ext cx="9144000" cy="369332"/>
          </a:xfrm>
          <a:prstGeom prst="rect">
            <a:avLst/>
          </a:prstGeom>
          <a:noFill/>
        </p:spPr>
        <p:txBody>
          <a:bodyPr vert="horz" wrap="square" lIns="0" tIns="0" rIns="0" bIns="0" rtlCol="0">
            <a:noAutofit/>
          </a:bodyPr>
          <a:lstStyle/>
          <a:p>
            <a:r>
              <a:rPr lang="es-ES" sz="1500">
                <a:solidFill>
                  <a:srgbClr val="C2CBD8"/>
                </a:solidFill>
                <a:latin typeface="Segoe UI" panose="020B0502040204020203" pitchFamily="34" charset="0"/>
              </a:rPr>
              <a:t>Alta, seguimiento de estado, activacion de cuenta, recuperacion de contrasena y area privada.</a:t>
            </a:r>
          </a:p>
        </p:txBody>
      </p:sp>
      <p:pic>
        <p:nvPicPr>
          <p:cNvPr id="6" name="Imagen 5">
            <a:extLst>
              <a:ext uri="{FF2B5EF4-FFF2-40B4-BE49-F238E27FC236}">
                <a16:creationId xmlns:a16="http://schemas.microsoft.com/office/drawing/2014/main" id="{5F307C9B-F1AA-88F7-3968-78814345B8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155" y="1854200"/>
            <a:ext cx="7224889" cy="4064000"/>
          </a:xfrm>
          <a:prstGeom prst="rect">
            <a:avLst/>
          </a:prstGeom>
          <a:ln w="12700">
            <a:solidFill>
              <a:schemeClr val="tx1"/>
            </a:solidFill>
          </a:ln>
        </p:spPr>
      </p:pic>
      <p:sp>
        <p:nvSpPr>
          <p:cNvPr id="7" name="Rectángulo: esquinas redondeadas 6">
            <a:extLst>
              <a:ext uri="{FF2B5EF4-FFF2-40B4-BE49-F238E27FC236}">
                <a16:creationId xmlns:a16="http://schemas.microsoft.com/office/drawing/2014/main" id="{FDA56359-6581-D044-D5E4-7E91EEE018E6}"/>
              </a:ext>
            </a:extLst>
          </p:cNvPr>
          <p:cNvSpPr/>
          <p:nvPr/>
        </p:nvSpPr>
        <p:spPr>
          <a:xfrm>
            <a:off x="8763000" y="2082800"/>
            <a:ext cx="2286000" cy="914400"/>
          </a:xfrm>
          <a:prstGeom prst="roundRect">
            <a:avLst/>
          </a:prstGeom>
          <a:solidFill>
            <a:srgbClr val="F7FAFC"/>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a:extLst>
              <a:ext uri="{FF2B5EF4-FFF2-40B4-BE49-F238E27FC236}">
                <a16:creationId xmlns:a16="http://schemas.microsoft.com/office/drawing/2014/main" id="{A67D654B-1E8B-6A8D-019F-541401D1782A}"/>
              </a:ext>
            </a:extLst>
          </p:cNvPr>
          <p:cNvSpPr txBox="1"/>
          <p:nvPr/>
        </p:nvSpPr>
        <p:spPr>
          <a:xfrm>
            <a:off x="9042400" y="2336800"/>
            <a:ext cx="1778000" cy="369332"/>
          </a:xfrm>
          <a:prstGeom prst="rect">
            <a:avLst/>
          </a:prstGeom>
          <a:noFill/>
        </p:spPr>
        <p:txBody>
          <a:bodyPr vert="horz" wrap="square" lIns="0" tIns="0" rIns="0" bIns="0" rtlCol="0">
            <a:noAutofit/>
          </a:bodyPr>
          <a:lstStyle/>
          <a:p>
            <a:r>
              <a:rPr lang="es-ES" b="1">
                <a:solidFill>
                  <a:srgbClr val="4975B0"/>
                </a:solidFill>
                <a:latin typeface="Segoe UI" panose="020B0502040204020203" pitchFamily="34" charset="0"/>
              </a:rPr>
              <a:t>Sin acceso interno</a:t>
            </a:r>
          </a:p>
        </p:txBody>
      </p:sp>
      <p:sp>
        <p:nvSpPr>
          <p:cNvPr id="9" name="CuadroTexto 8">
            <a:extLst>
              <a:ext uri="{FF2B5EF4-FFF2-40B4-BE49-F238E27FC236}">
                <a16:creationId xmlns:a16="http://schemas.microsoft.com/office/drawing/2014/main" id="{96ED29F5-2589-963A-3989-03BBC9B0C438}"/>
              </a:ext>
            </a:extLst>
          </p:cNvPr>
          <p:cNvSpPr txBox="1"/>
          <p:nvPr/>
        </p:nvSpPr>
        <p:spPr>
          <a:xfrm>
            <a:off x="8763000" y="3276600"/>
            <a:ext cx="2413000" cy="369332"/>
          </a:xfrm>
          <a:prstGeom prst="rect">
            <a:avLst/>
          </a:prstGeom>
          <a:noFill/>
        </p:spPr>
        <p:txBody>
          <a:bodyPr vert="horz" wrap="square" lIns="0" tIns="0" rIns="0" bIns="0" rtlCol="0">
            <a:noAutofit/>
          </a:bodyPr>
          <a:lstStyle/>
          <a:p>
            <a:r>
              <a:rPr lang="es-ES" sz="1500">
                <a:solidFill>
                  <a:srgbClr val="C2CBD8"/>
                </a:solidFill>
                <a:latin typeface="Segoe UI" panose="020B0502040204020203" pitchFamily="34" charset="0"/>
              </a:rPr>
              <a:t>El portal externo tiene su propio recorrido y no mezcla credenciales de empresa con el panel del centro.</a:t>
            </a:r>
          </a:p>
        </p:txBody>
      </p:sp>
    </p:spTree>
    <p:extLst>
      <p:ext uri="{BB962C8B-B14F-4D97-AF65-F5344CB8AC3E}">
        <p14:creationId xmlns:p14="http://schemas.microsoft.com/office/powerpoint/2010/main" val="421157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218"/>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AEB3CDB-CC08-C12C-C8DD-17EA9590CD91}"/>
              </a:ext>
            </a:extLst>
          </p:cNvPr>
          <p:cNvSpPr txBox="1"/>
          <p:nvPr/>
        </p:nvSpPr>
        <p:spPr>
          <a:xfrm>
            <a:off x="558800" y="330200"/>
            <a:ext cx="10414000" cy="369332"/>
          </a:xfrm>
          <a:prstGeom prst="rect">
            <a:avLst/>
          </a:prstGeom>
          <a:noFill/>
        </p:spPr>
        <p:txBody>
          <a:bodyPr vert="horz" wrap="square" lIns="0" tIns="0" rIns="0" bIns="0" rtlCol="0">
            <a:noAutofit/>
          </a:bodyPr>
          <a:lstStyle/>
          <a:p>
            <a:r>
              <a:rPr lang="es-ES" sz="1200" b="1">
                <a:solidFill>
                  <a:srgbClr val="DBA14D"/>
                </a:solidFill>
                <a:latin typeface="Segoe UI" panose="020B0502040204020203" pitchFamily="34" charset="0"/>
              </a:rPr>
              <a:t>08 / DESARROLLO</a:t>
            </a:r>
          </a:p>
        </p:txBody>
      </p:sp>
      <p:sp>
        <p:nvSpPr>
          <p:cNvPr id="3" name="CuadroTexto 2">
            <a:extLst>
              <a:ext uri="{FF2B5EF4-FFF2-40B4-BE49-F238E27FC236}">
                <a16:creationId xmlns:a16="http://schemas.microsoft.com/office/drawing/2014/main" id="{0B2ED243-4430-5C2A-D633-D797AF402BA9}"/>
              </a:ext>
            </a:extLst>
          </p:cNvPr>
          <p:cNvSpPr txBox="1"/>
          <p:nvPr/>
        </p:nvSpPr>
        <p:spPr>
          <a:xfrm>
            <a:off x="558800" y="685800"/>
            <a:ext cx="9906000" cy="369332"/>
          </a:xfrm>
          <a:prstGeom prst="rect">
            <a:avLst/>
          </a:prstGeom>
          <a:noFill/>
        </p:spPr>
        <p:txBody>
          <a:bodyPr vert="horz" wrap="square" lIns="0" tIns="0" rIns="0" bIns="0" rtlCol="0">
            <a:noAutofit/>
          </a:bodyPr>
          <a:lstStyle/>
          <a:p>
            <a:r>
              <a:rPr lang="es-ES" sz="3000" b="1">
                <a:solidFill>
                  <a:srgbClr val="F6F8FC"/>
                </a:solidFill>
                <a:latin typeface="Segoe UI" panose="020B0502040204020203" pitchFamily="34" charset="0"/>
              </a:rPr>
              <a:t>Como lo he desarrollado y que partes tiene</a:t>
            </a:r>
          </a:p>
        </p:txBody>
      </p:sp>
      <p:sp>
        <p:nvSpPr>
          <p:cNvPr id="4" name="CuadroTexto 3">
            <a:extLst>
              <a:ext uri="{FF2B5EF4-FFF2-40B4-BE49-F238E27FC236}">
                <a16:creationId xmlns:a16="http://schemas.microsoft.com/office/drawing/2014/main" id="{1C0ABB57-10DA-73ED-5FF0-30523782C6A7}"/>
              </a:ext>
            </a:extLst>
          </p:cNvPr>
          <p:cNvSpPr txBox="1"/>
          <p:nvPr/>
        </p:nvSpPr>
        <p:spPr>
          <a:xfrm>
            <a:off x="558800" y="1422400"/>
            <a:ext cx="9144000" cy="369332"/>
          </a:xfrm>
          <a:prstGeom prst="rect">
            <a:avLst/>
          </a:prstGeom>
          <a:noFill/>
        </p:spPr>
        <p:txBody>
          <a:bodyPr vert="horz" wrap="square" lIns="0" tIns="0" rIns="0" bIns="0" rtlCol="0">
            <a:noAutofit/>
          </a:bodyPr>
          <a:lstStyle/>
          <a:p>
            <a:r>
              <a:rPr lang="es-ES" sz="1500">
                <a:solidFill>
                  <a:srgbClr val="C2CBD8"/>
                </a:solidFill>
                <a:latin typeface="Segoe UI" panose="020B0502040204020203" pitchFamily="34" charset="0"/>
              </a:rPr>
              <a:t>La presentacion se apoya en bloques funcionales y decisiones de arquitectura, no en fragmentos de codigo.</a:t>
            </a:r>
          </a:p>
        </p:txBody>
      </p:sp>
      <p:sp>
        <p:nvSpPr>
          <p:cNvPr id="5" name="Rectángulo: esquinas redondeadas 4">
            <a:extLst>
              <a:ext uri="{FF2B5EF4-FFF2-40B4-BE49-F238E27FC236}">
                <a16:creationId xmlns:a16="http://schemas.microsoft.com/office/drawing/2014/main" id="{74E7650D-1789-405C-8216-9788A10FBD30}"/>
              </a:ext>
            </a:extLst>
          </p:cNvPr>
          <p:cNvSpPr/>
          <p:nvPr/>
        </p:nvSpPr>
        <p:spPr>
          <a:xfrm>
            <a:off x="762000" y="1955800"/>
            <a:ext cx="4572000" cy="1041400"/>
          </a:xfrm>
          <a:prstGeom prst="roundRect">
            <a:avLst/>
          </a:prstGeom>
          <a:solidFill>
            <a:srgbClr val="F7FAFC"/>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2DA73CB8-6621-DAD4-70CF-004880DF472C}"/>
              </a:ext>
            </a:extLst>
          </p:cNvPr>
          <p:cNvSpPr txBox="1"/>
          <p:nvPr/>
        </p:nvSpPr>
        <p:spPr>
          <a:xfrm>
            <a:off x="990600" y="2133600"/>
            <a:ext cx="3810000" cy="369332"/>
          </a:xfrm>
          <a:prstGeom prst="rect">
            <a:avLst/>
          </a:prstGeom>
          <a:noFill/>
        </p:spPr>
        <p:txBody>
          <a:bodyPr vert="horz" wrap="square" lIns="0" tIns="0" rIns="0" bIns="0" rtlCol="0">
            <a:noAutofit/>
          </a:bodyPr>
          <a:lstStyle/>
          <a:p>
            <a:r>
              <a:rPr lang="es-ES" b="1">
                <a:solidFill>
                  <a:srgbClr val="4975B0"/>
                </a:solidFill>
                <a:latin typeface="Segoe UI" panose="020B0502040204020203" pitchFamily="34" charset="0"/>
              </a:rPr>
              <a:t>Analisis del problema</a:t>
            </a:r>
          </a:p>
        </p:txBody>
      </p:sp>
      <p:sp>
        <p:nvSpPr>
          <p:cNvPr id="7" name="CuadroTexto 6">
            <a:extLst>
              <a:ext uri="{FF2B5EF4-FFF2-40B4-BE49-F238E27FC236}">
                <a16:creationId xmlns:a16="http://schemas.microsoft.com/office/drawing/2014/main" id="{C502EF6A-5E36-E119-72D8-F8FB69B3D3DE}"/>
              </a:ext>
            </a:extLst>
          </p:cNvPr>
          <p:cNvSpPr txBox="1"/>
          <p:nvPr/>
        </p:nvSpPr>
        <p:spPr>
          <a:xfrm>
            <a:off x="990600" y="2489200"/>
            <a:ext cx="4064000" cy="369332"/>
          </a:xfrm>
          <a:prstGeom prst="rect">
            <a:avLst/>
          </a:prstGeom>
          <a:noFill/>
        </p:spPr>
        <p:txBody>
          <a:bodyPr vert="horz" wrap="square" lIns="0" tIns="0" rIns="0" bIns="0" rtlCol="0">
            <a:noAutofit/>
          </a:bodyPr>
          <a:lstStyle/>
          <a:p>
            <a:r>
              <a:rPr lang="es-ES" sz="1300">
                <a:solidFill>
                  <a:srgbClr val="1F2937"/>
                </a:solidFill>
                <a:latin typeface="Segoe UI" panose="020B0502040204020203" pitchFamily="34" charset="0"/>
              </a:rPr>
              <a:t>Necesidad real del centro y alcance viable para el TFG.</a:t>
            </a:r>
          </a:p>
        </p:txBody>
      </p:sp>
      <p:sp>
        <p:nvSpPr>
          <p:cNvPr id="8" name="Rectángulo: esquinas redondeadas 7">
            <a:extLst>
              <a:ext uri="{FF2B5EF4-FFF2-40B4-BE49-F238E27FC236}">
                <a16:creationId xmlns:a16="http://schemas.microsoft.com/office/drawing/2014/main" id="{E3AE79F3-606E-A255-116A-9714F58F444B}"/>
              </a:ext>
            </a:extLst>
          </p:cNvPr>
          <p:cNvSpPr/>
          <p:nvPr/>
        </p:nvSpPr>
        <p:spPr>
          <a:xfrm>
            <a:off x="6096000" y="1955800"/>
            <a:ext cx="4572000" cy="1041400"/>
          </a:xfrm>
          <a:prstGeom prst="roundRect">
            <a:avLst/>
          </a:prstGeom>
          <a:solidFill>
            <a:srgbClr val="F7FAFC"/>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F4EA034F-2E3C-E2C6-462F-9A491E05496B}"/>
              </a:ext>
            </a:extLst>
          </p:cNvPr>
          <p:cNvSpPr txBox="1"/>
          <p:nvPr/>
        </p:nvSpPr>
        <p:spPr>
          <a:xfrm>
            <a:off x="6324600" y="2133600"/>
            <a:ext cx="3810000" cy="369332"/>
          </a:xfrm>
          <a:prstGeom prst="rect">
            <a:avLst/>
          </a:prstGeom>
          <a:noFill/>
        </p:spPr>
        <p:txBody>
          <a:bodyPr vert="horz" wrap="square" lIns="0" tIns="0" rIns="0" bIns="0" rtlCol="0">
            <a:noAutofit/>
          </a:bodyPr>
          <a:lstStyle/>
          <a:p>
            <a:r>
              <a:rPr lang="es-ES" b="1">
                <a:solidFill>
                  <a:srgbClr val="4975B0"/>
                </a:solidFill>
                <a:latin typeface="Segoe UI" panose="020B0502040204020203" pitchFamily="34" charset="0"/>
              </a:rPr>
              <a:t>Modelo y reglas</a:t>
            </a:r>
          </a:p>
        </p:txBody>
      </p:sp>
      <p:sp>
        <p:nvSpPr>
          <p:cNvPr id="10" name="CuadroTexto 9">
            <a:extLst>
              <a:ext uri="{FF2B5EF4-FFF2-40B4-BE49-F238E27FC236}">
                <a16:creationId xmlns:a16="http://schemas.microsoft.com/office/drawing/2014/main" id="{CF27E8AA-E838-869D-A3EA-9BC78AD01BB6}"/>
              </a:ext>
            </a:extLst>
          </p:cNvPr>
          <p:cNvSpPr txBox="1"/>
          <p:nvPr/>
        </p:nvSpPr>
        <p:spPr>
          <a:xfrm>
            <a:off x="6324600" y="2489200"/>
            <a:ext cx="4064000" cy="369332"/>
          </a:xfrm>
          <a:prstGeom prst="rect">
            <a:avLst/>
          </a:prstGeom>
          <a:noFill/>
        </p:spPr>
        <p:txBody>
          <a:bodyPr vert="horz" wrap="square" lIns="0" tIns="0" rIns="0" bIns="0" rtlCol="0">
            <a:noAutofit/>
          </a:bodyPr>
          <a:lstStyle/>
          <a:p>
            <a:r>
              <a:rPr lang="es-ES" sz="1300">
                <a:solidFill>
                  <a:srgbClr val="1F2937"/>
                </a:solidFill>
                <a:latin typeface="Segoe UI" panose="020B0502040204020203" pitchFamily="34" charset="0"/>
              </a:rPr>
              <a:t>Empresa, convenio, asignacion, seguimiento y evaluacion.</a:t>
            </a:r>
          </a:p>
        </p:txBody>
      </p:sp>
      <p:sp>
        <p:nvSpPr>
          <p:cNvPr id="11" name="Rectángulo: esquinas redondeadas 10">
            <a:extLst>
              <a:ext uri="{FF2B5EF4-FFF2-40B4-BE49-F238E27FC236}">
                <a16:creationId xmlns:a16="http://schemas.microsoft.com/office/drawing/2014/main" id="{1E84D195-6702-7DE4-146B-23D5E279A2EC}"/>
              </a:ext>
            </a:extLst>
          </p:cNvPr>
          <p:cNvSpPr/>
          <p:nvPr/>
        </p:nvSpPr>
        <p:spPr>
          <a:xfrm>
            <a:off x="762000" y="3276600"/>
            <a:ext cx="4572000" cy="1041400"/>
          </a:xfrm>
          <a:prstGeom prst="roundRect">
            <a:avLst/>
          </a:prstGeom>
          <a:solidFill>
            <a:srgbClr val="F7FAFC"/>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0841BA9E-B461-01DA-D9DD-E054EE9039E3}"/>
              </a:ext>
            </a:extLst>
          </p:cNvPr>
          <p:cNvSpPr txBox="1"/>
          <p:nvPr/>
        </p:nvSpPr>
        <p:spPr>
          <a:xfrm>
            <a:off x="990600" y="3454400"/>
            <a:ext cx="3810000" cy="369332"/>
          </a:xfrm>
          <a:prstGeom prst="rect">
            <a:avLst/>
          </a:prstGeom>
          <a:noFill/>
        </p:spPr>
        <p:txBody>
          <a:bodyPr vert="horz" wrap="square" lIns="0" tIns="0" rIns="0" bIns="0" rtlCol="0">
            <a:noAutofit/>
          </a:bodyPr>
          <a:lstStyle/>
          <a:p>
            <a:r>
              <a:rPr lang="es-ES" b="1">
                <a:solidFill>
                  <a:srgbClr val="4975B0"/>
                </a:solidFill>
                <a:latin typeface="Segoe UI" panose="020B0502040204020203" pitchFamily="34" charset="0"/>
              </a:rPr>
              <a:t>Backend Symfony</a:t>
            </a:r>
          </a:p>
        </p:txBody>
      </p:sp>
      <p:sp>
        <p:nvSpPr>
          <p:cNvPr id="13" name="CuadroTexto 12">
            <a:extLst>
              <a:ext uri="{FF2B5EF4-FFF2-40B4-BE49-F238E27FC236}">
                <a16:creationId xmlns:a16="http://schemas.microsoft.com/office/drawing/2014/main" id="{6E99977C-0D3D-1718-2A07-78C1AB056AE7}"/>
              </a:ext>
            </a:extLst>
          </p:cNvPr>
          <p:cNvSpPr txBox="1"/>
          <p:nvPr/>
        </p:nvSpPr>
        <p:spPr>
          <a:xfrm>
            <a:off x="990600" y="3810000"/>
            <a:ext cx="4064000" cy="369332"/>
          </a:xfrm>
          <a:prstGeom prst="rect">
            <a:avLst/>
          </a:prstGeom>
          <a:noFill/>
        </p:spPr>
        <p:txBody>
          <a:bodyPr vert="horz" wrap="square" lIns="0" tIns="0" rIns="0" bIns="0" rtlCol="0">
            <a:noAutofit/>
          </a:bodyPr>
          <a:lstStyle/>
          <a:p>
            <a:r>
              <a:rPr lang="es-ES" sz="1300">
                <a:solidFill>
                  <a:srgbClr val="1F2937"/>
                </a:solidFill>
                <a:latin typeface="Segoe UI" panose="020B0502040204020203" pitchFamily="34" charset="0"/>
              </a:rPr>
              <a:t>API, seguridad, correo, tokens, auditoria y persistencia.</a:t>
            </a:r>
          </a:p>
        </p:txBody>
      </p:sp>
      <p:sp>
        <p:nvSpPr>
          <p:cNvPr id="14" name="Rectángulo: esquinas redondeadas 13">
            <a:extLst>
              <a:ext uri="{FF2B5EF4-FFF2-40B4-BE49-F238E27FC236}">
                <a16:creationId xmlns:a16="http://schemas.microsoft.com/office/drawing/2014/main" id="{1FBE6333-4986-66DE-3BFE-5A3AFF646477}"/>
              </a:ext>
            </a:extLst>
          </p:cNvPr>
          <p:cNvSpPr/>
          <p:nvPr/>
        </p:nvSpPr>
        <p:spPr>
          <a:xfrm>
            <a:off x="6096000" y="3276600"/>
            <a:ext cx="4572000" cy="1041400"/>
          </a:xfrm>
          <a:prstGeom prst="roundRect">
            <a:avLst/>
          </a:prstGeom>
          <a:solidFill>
            <a:srgbClr val="F7FAFC"/>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CuadroTexto 14">
            <a:extLst>
              <a:ext uri="{FF2B5EF4-FFF2-40B4-BE49-F238E27FC236}">
                <a16:creationId xmlns:a16="http://schemas.microsoft.com/office/drawing/2014/main" id="{4EB26C40-868E-B993-9998-D6F0B9C0A31A}"/>
              </a:ext>
            </a:extLst>
          </p:cNvPr>
          <p:cNvSpPr txBox="1"/>
          <p:nvPr/>
        </p:nvSpPr>
        <p:spPr>
          <a:xfrm>
            <a:off x="6324600" y="3454400"/>
            <a:ext cx="3810000" cy="369332"/>
          </a:xfrm>
          <a:prstGeom prst="rect">
            <a:avLst/>
          </a:prstGeom>
          <a:noFill/>
        </p:spPr>
        <p:txBody>
          <a:bodyPr vert="horz" wrap="square" lIns="0" tIns="0" rIns="0" bIns="0" rtlCol="0">
            <a:noAutofit/>
          </a:bodyPr>
          <a:lstStyle/>
          <a:p>
            <a:r>
              <a:rPr lang="es-ES" b="1">
                <a:solidFill>
                  <a:srgbClr val="4975B0"/>
                </a:solidFill>
                <a:latin typeface="Segoe UI" panose="020B0502040204020203" pitchFamily="34" charset="0"/>
              </a:rPr>
              <a:t>Portal interno</a:t>
            </a:r>
          </a:p>
        </p:txBody>
      </p:sp>
      <p:sp>
        <p:nvSpPr>
          <p:cNvPr id="16" name="CuadroTexto 15">
            <a:extLst>
              <a:ext uri="{FF2B5EF4-FFF2-40B4-BE49-F238E27FC236}">
                <a16:creationId xmlns:a16="http://schemas.microsoft.com/office/drawing/2014/main" id="{682E5687-1AFD-1DCB-57EF-686B2BB46F02}"/>
              </a:ext>
            </a:extLst>
          </p:cNvPr>
          <p:cNvSpPr txBox="1"/>
          <p:nvPr/>
        </p:nvSpPr>
        <p:spPr>
          <a:xfrm>
            <a:off x="6324600" y="3810000"/>
            <a:ext cx="4064000" cy="369332"/>
          </a:xfrm>
          <a:prstGeom prst="rect">
            <a:avLst/>
          </a:prstGeom>
          <a:noFill/>
        </p:spPr>
        <p:txBody>
          <a:bodyPr vert="horz" wrap="square" lIns="0" tIns="0" rIns="0" bIns="0" rtlCol="0">
            <a:noAutofit/>
          </a:bodyPr>
          <a:lstStyle/>
          <a:p>
            <a:r>
              <a:rPr lang="es-ES" sz="1300">
                <a:solidFill>
                  <a:srgbClr val="1F2937"/>
                </a:solidFill>
                <a:latin typeface="Segoe UI" panose="020B0502040204020203" pitchFamily="34" charset="0"/>
              </a:rPr>
              <a:t>Gestion academica, bandeja, documentos y exportacion CSV.</a:t>
            </a:r>
          </a:p>
        </p:txBody>
      </p:sp>
      <p:sp>
        <p:nvSpPr>
          <p:cNvPr id="17" name="Rectángulo: esquinas redondeadas 16">
            <a:extLst>
              <a:ext uri="{FF2B5EF4-FFF2-40B4-BE49-F238E27FC236}">
                <a16:creationId xmlns:a16="http://schemas.microsoft.com/office/drawing/2014/main" id="{0B8B8DB2-0CF9-291D-00C1-E4FF1DC27855}"/>
              </a:ext>
            </a:extLst>
          </p:cNvPr>
          <p:cNvSpPr/>
          <p:nvPr/>
        </p:nvSpPr>
        <p:spPr>
          <a:xfrm>
            <a:off x="762000" y="4597400"/>
            <a:ext cx="4572000" cy="1041400"/>
          </a:xfrm>
          <a:prstGeom prst="roundRect">
            <a:avLst/>
          </a:prstGeom>
          <a:solidFill>
            <a:srgbClr val="F7FAFC"/>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CuadroTexto 17">
            <a:extLst>
              <a:ext uri="{FF2B5EF4-FFF2-40B4-BE49-F238E27FC236}">
                <a16:creationId xmlns:a16="http://schemas.microsoft.com/office/drawing/2014/main" id="{7AF5ED68-453B-B03B-05B5-5BD566D57D87}"/>
              </a:ext>
            </a:extLst>
          </p:cNvPr>
          <p:cNvSpPr txBox="1"/>
          <p:nvPr/>
        </p:nvSpPr>
        <p:spPr>
          <a:xfrm>
            <a:off x="990600" y="4775200"/>
            <a:ext cx="3810000" cy="369332"/>
          </a:xfrm>
          <a:prstGeom prst="rect">
            <a:avLst/>
          </a:prstGeom>
          <a:noFill/>
        </p:spPr>
        <p:txBody>
          <a:bodyPr vert="horz" wrap="square" lIns="0" tIns="0" rIns="0" bIns="0" rtlCol="0">
            <a:noAutofit/>
          </a:bodyPr>
          <a:lstStyle/>
          <a:p>
            <a:r>
              <a:rPr lang="es-ES" b="1">
                <a:solidFill>
                  <a:srgbClr val="4975B0"/>
                </a:solidFill>
                <a:latin typeface="Segoe UI" panose="020B0502040204020203" pitchFamily="34" charset="0"/>
              </a:rPr>
              <a:t>Portal externo</a:t>
            </a:r>
          </a:p>
        </p:txBody>
      </p:sp>
      <p:sp>
        <p:nvSpPr>
          <p:cNvPr id="19" name="CuadroTexto 18">
            <a:extLst>
              <a:ext uri="{FF2B5EF4-FFF2-40B4-BE49-F238E27FC236}">
                <a16:creationId xmlns:a16="http://schemas.microsoft.com/office/drawing/2014/main" id="{69EE2F77-D164-8680-0DF1-94E08F782648}"/>
              </a:ext>
            </a:extLst>
          </p:cNvPr>
          <p:cNvSpPr txBox="1"/>
          <p:nvPr/>
        </p:nvSpPr>
        <p:spPr>
          <a:xfrm>
            <a:off x="990600" y="5130800"/>
            <a:ext cx="4064000" cy="369332"/>
          </a:xfrm>
          <a:prstGeom prst="rect">
            <a:avLst/>
          </a:prstGeom>
          <a:noFill/>
        </p:spPr>
        <p:txBody>
          <a:bodyPr vert="horz" wrap="square" lIns="0" tIns="0" rIns="0" bIns="0" rtlCol="0">
            <a:noAutofit/>
          </a:bodyPr>
          <a:lstStyle/>
          <a:p>
            <a:r>
              <a:rPr lang="es-ES" sz="1300">
                <a:solidFill>
                  <a:srgbClr val="1F2937"/>
                </a:solidFill>
                <a:latin typeface="Segoe UI" panose="020B0502040204020203" pitchFamily="34" charset="0"/>
              </a:rPr>
              <a:t>Registro, verificacion, estado, acceso empresa y chat.</a:t>
            </a:r>
          </a:p>
        </p:txBody>
      </p:sp>
      <p:sp>
        <p:nvSpPr>
          <p:cNvPr id="20" name="Rectángulo: esquinas redondeadas 19">
            <a:extLst>
              <a:ext uri="{FF2B5EF4-FFF2-40B4-BE49-F238E27FC236}">
                <a16:creationId xmlns:a16="http://schemas.microsoft.com/office/drawing/2014/main" id="{67A03EB0-4E72-91C7-013F-2D200A3EF67C}"/>
              </a:ext>
            </a:extLst>
          </p:cNvPr>
          <p:cNvSpPr/>
          <p:nvPr/>
        </p:nvSpPr>
        <p:spPr>
          <a:xfrm>
            <a:off x="6096000" y="4597400"/>
            <a:ext cx="4572000" cy="1041400"/>
          </a:xfrm>
          <a:prstGeom prst="roundRect">
            <a:avLst/>
          </a:prstGeom>
          <a:solidFill>
            <a:srgbClr val="F7FAFC"/>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CuadroTexto 20">
            <a:extLst>
              <a:ext uri="{FF2B5EF4-FFF2-40B4-BE49-F238E27FC236}">
                <a16:creationId xmlns:a16="http://schemas.microsoft.com/office/drawing/2014/main" id="{E19D156C-C501-6A45-5FE2-67D7E475E66D}"/>
              </a:ext>
            </a:extLst>
          </p:cNvPr>
          <p:cNvSpPr txBox="1"/>
          <p:nvPr/>
        </p:nvSpPr>
        <p:spPr>
          <a:xfrm>
            <a:off x="6324600" y="4775200"/>
            <a:ext cx="3810000" cy="369332"/>
          </a:xfrm>
          <a:prstGeom prst="rect">
            <a:avLst/>
          </a:prstGeom>
          <a:noFill/>
        </p:spPr>
        <p:txBody>
          <a:bodyPr vert="horz" wrap="square" lIns="0" tIns="0" rIns="0" bIns="0" rtlCol="0">
            <a:noAutofit/>
          </a:bodyPr>
          <a:lstStyle/>
          <a:p>
            <a:r>
              <a:rPr lang="es-ES" b="1">
                <a:solidFill>
                  <a:srgbClr val="4975B0"/>
                </a:solidFill>
                <a:latin typeface="Segoe UI" panose="020B0502040204020203" pitchFamily="34" charset="0"/>
              </a:rPr>
              <a:t>Operacion final</a:t>
            </a:r>
          </a:p>
        </p:txBody>
      </p:sp>
      <p:sp>
        <p:nvSpPr>
          <p:cNvPr id="22" name="CuadroTexto 21">
            <a:extLst>
              <a:ext uri="{FF2B5EF4-FFF2-40B4-BE49-F238E27FC236}">
                <a16:creationId xmlns:a16="http://schemas.microsoft.com/office/drawing/2014/main" id="{5F227918-8B05-55E3-69BD-E1B9DB514DF2}"/>
              </a:ext>
            </a:extLst>
          </p:cNvPr>
          <p:cNvSpPr txBox="1"/>
          <p:nvPr/>
        </p:nvSpPr>
        <p:spPr>
          <a:xfrm>
            <a:off x="6324600" y="5130800"/>
            <a:ext cx="4064000" cy="369332"/>
          </a:xfrm>
          <a:prstGeom prst="rect">
            <a:avLst/>
          </a:prstGeom>
          <a:noFill/>
        </p:spPr>
        <p:txBody>
          <a:bodyPr vert="horz" wrap="square" lIns="0" tIns="0" rIns="0" bIns="0" rtlCol="0">
            <a:noAutofit/>
          </a:bodyPr>
          <a:lstStyle/>
          <a:p>
            <a:r>
              <a:rPr lang="es-ES" sz="1300">
                <a:solidFill>
                  <a:srgbClr val="1F2937"/>
                </a:solidFill>
                <a:latin typeface="Segoe UI" panose="020B0502040204020203" pitchFamily="34" charset="0"/>
              </a:rPr>
              <a:t>App de escritorio, pruebas, logs, backups y empaquetado.</a:t>
            </a:r>
          </a:p>
        </p:txBody>
      </p:sp>
    </p:spTree>
    <p:extLst>
      <p:ext uri="{BB962C8B-B14F-4D97-AF65-F5344CB8AC3E}">
        <p14:creationId xmlns:p14="http://schemas.microsoft.com/office/powerpoint/2010/main" val="3299125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218"/>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C0E4828-1C29-937D-33E4-1F1429E9E660}"/>
              </a:ext>
            </a:extLst>
          </p:cNvPr>
          <p:cNvSpPr txBox="1"/>
          <p:nvPr/>
        </p:nvSpPr>
        <p:spPr>
          <a:xfrm>
            <a:off x="558800" y="330200"/>
            <a:ext cx="10414000" cy="369332"/>
          </a:xfrm>
          <a:prstGeom prst="rect">
            <a:avLst/>
          </a:prstGeom>
          <a:noFill/>
        </p:spPr>
        <p:txBody>
          <a:bodyPr vert="horz" wrap="square" lIns="0" tIns="0" rIns="0" bIns="0" rtlCol="0">
            <a:noAutofit/>
          </a:bodyPr>
          <a:lstStyle/>
          <a:p>
            <a:r>
              <a:rPr lang="es-ES" sz="1200" b="1">
                <a:solidFill>
                  <a:srgbClr val="DBA14D"/>
                </a:solidFill>
                <a:latin typeface="Segoe UI" panose="020B0502040204020203" pitchFamily="34" charset="0"/>
              </a:rPr>
              <a:t>09 / CORREO Y RECHAZO</a:t>
            </a:r>
          </a:p>
        </p:txBody>
      </p:sp>
      <p:sp>
        <p:nvSpPr>
          <p:cNvPr id="3" name="CuadroTexto 2">
            <a:extLst>
              <a:ext uri="{FF2B5EF4-FFF2-40B4-BE49-F238E27FC236}">
                <a16:creationId xmlns:a16="http://schemas.microsoft.com/office/drawing/2014/main" id="{E2D65E2E-9E1F-8B89-45B2-5009ABE00CDA}"/>
              </a:ext>
            </a:extLst>
          </p:cNvPr>
          <p:cNvSpPr txBox="1"/>
          <p:nvPr/>
        </p:nvSpPr>
        <p:spPr>
          <a:xfrm>
            <a:off x="558800" y="685800"/>
            <a:ext cx="9906000" cy="369332"/>
          </a:xfrm>
          <a:prstGeom prst="rect">
            <a:avLst/>
          </a:prstGeom>
          <a:noFill/>
        </p:spPr>
        <p:txBody>
          <a:bodyPr vert="horz" wrap="square" lIns="0" tIns="0" rIns="0" bIns="0" rtlCol="0">
            <a:noAutofit/>
          </a:bodyPr>
          <a:lstStyle/>
          <a:p>
            <a:r>
              <a:rPr lang="es-ES" sz="3000" b="1">
                <a:solidFill>
                  <a:srgbClr val="F6F8FC"/>
                </a:solidFill>
                <a:latin typeface="Segoe UI" panose="020B0502040204020203" pitchFamily="34" charset="0"/>
              </a:rPr>
              <a:t>Gestor de correos y comunicaciones transaccionales</a:t>
            </a:r>
          </a:p>
        </p:txBody>
      </p:sp>
      <p:sp>
        <p:nvSpPr>
          <p:cNvPr id="4" name="CuadroTexto 3">
            <a:extLst>
              <a:ext uri="{FF2B5EF4-FFF2-40B4-BE49-F238E27FC236}">
                <a16:creationId xmlns:a16="http://schemas.microsoft.com/office/drawing/2014/main" id="{29226C08-5A82-C22F-EB54-B2F993806C81}"/>
              </a:ext>
            </a:extLst>
          </p:cNvPr>
          <p:cNvSpPr txBox="1"/>
          <p:nvPr/>
        </p:nvSpPr>
        <p:spPr>
          <a:xfrm>
            <a:off x="558800" y="1422400"/>
            <a:ext cx="9144000" cy="369332"/>
          </a:xfrm>
          <a:prstGeom prst="rect">
            <a:avLst/>
          </a:prstGeom>
          <a:noFill/>
        </p:spPr>
        <p:txBody>
          <a:bodyPr vert="horz" wrap="square" lIns="0" tIns="0" rIns="0" bIns="0" rtlCol="0">
            <a:noAutofit/>
          </a:bodyPr>
          <a:lstStyle/>
          <a:p>
            <a:r>
              <a:rPr lang="es-ES" sz="1500">
                <a:solidFill>
                  <a:srgbClr val="C2CBD8"/>
                </a:solidFill>
                <a:latin typeface="Segoe UI" panose="020B0502040204020203" pitchFamily="34" charset="0"/>
              </a:rPr>
              <a:t>El proveedor configurado es Brevo y cubre tanto correo funcional como operaciones sensibles.</a:t>
            </a:r>
          </a:p>
        </p:txBody>
      </p:sp>
      <p:sp>
        <p:nvSpPr>
          <p:cNvPr id="5" name="Rectángulo: esquinas redondeadas 4">
            <a:extLst>
              <a:ext uri="{FF2B5EF4-FFF2-40B4-BE49-F238E27FC236}">
                <a16:creationId xmlns:a16="http://schemas.microsoft.com/office/drawing/2014/main" id="{28246C8D-8025-6EFC-02D8-B7B512746A2C}"/>
              </a:ext>
            </a:extLst>
          </p:cNvPr>
          <p:cNvSpPr/>
          <p:nvPr/>
        </p:nvSpPr>
        <p:spPr>
          <a:xfrm>
            <a:off x="736600" y="2032000"/>
            <a:ext cx="3175000" cy="2870200"/>
          </a:xfrm>
          <a:prstGeom prst="roundRect">
            <a:avLst/>
          </a:prstGeom>
          <a:solidFill>
            <a:srgbClr val="1D2430"/>
          </a:solidFill>
          <a:ln w="12700">
            <a:solidFill>
              <a:srgbClr val="424E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66FDA293-01D7-B04A-9013-9E654A575CFC}"/>
              </a:ext>
            </a:extLst>
          </p:cNvPr>
          <p:cNvSpPr txBox="1"/>
          <p:nvPr/>
        </p:nvSpPr>
        <p:spPr>
          <a:xfrm>
            <a:off x="1168400" y="2438400"/>
            <a:ext cx="2311400" cy="369332"/>
          </a:xfrm>
          <a:prstGeom prst="rect">
            <a:avLst/>
          </a:prstGeom>
          <a:noFill/>
        </p:spPr>
        <p:txBody>
          <a:bodyPr vert="horz" wrap="square" lIns="0" tIns="0" rIns="0" bIns="0" rtlCol="0">
            <a:noAutofit/>
          </a:bodyPr>
          <a:lstStyle/>
          <a:p>
            <a:r>
              <a:rPr lang="es-ES" sz="2800" b="1">
                <a:solidFill>
                  <a:srgbClr val="DBA14D"/>
                </a:solidFill>
                <a:latin typeface="Segoe UI" panose="020B0502040204020203" pitchFamily="34" charset="0"/>
              </a:rPr>
              <a:t>Brevo</a:t>
            </a:r>
          </a:p>
        </p:txBody>
      </p:sp>
      <p:sp>
        <p:nvSpPr>
          <p:cNvPr id="7" name="CuadroTexto 6">
            <a:extLst>
              <a:ext uri="{FF2B5EF4-FFF2-40B4-BE49-F238E27FC236}">
                <a16:creationId xmlns:a16="http://schemas.microsoft.com/office/drawing/2014/main" id="{E55B17D5-6E1D-AA9A-A1D4-D5B4E829EC9C}"/>
              </a:ext>
            </a:extLst>
          </p:cNvPr>
          <p:cNvSpPr txBox="1"/>
          <p:nvPr/>
        </p:nvSpPr>
        <p:spPr>
          <a:xfrm>
            <a:off x="1092200" y="3124200"/>
            <a:ext cx="2413000" cy="369332"/>
          </a:xfrm>
          <a:prstGeom prst="rect">
            <a:avLst/>
          </a:prstGeom>
          <a:noFill/>
        </p:spPr>
        <p:txBody>
          <a:bodyPr vert="horz" wrap="square" lIns="0" tIns="0" rIns="0" bIns="0" rtlCol="0">
            <a:noAutofit/>
          </a:bodyPr>
          <a:lstStyle/>
          <a:p>
            <a:pPr marL="342900" indent="-342900">
              <a:spcAft>
                <a:spcPts val="1000"/>
              </a:spcAft>
              <a:buFont typeface="+mj-lt"/>
              <a:buChar char="•"/>
            </a:pPr>
            <a:r>
              <a:rPr lang="es-ES" sz="1600">
                <a:solidFill>
                  <a:srgbClr val="F6F8FC"/>
                </a:solidFill>
                <a:latin typeface="Segoe UI" panose="020B0502040204020203" pitchFamily="34" charset="0"/>
              </a:rPr>
              <a:t>Verificacion de solicitud</a:t>
            </a:r>
          </a:p>
          <a:p>
            <a:pPr marL="342900" indent="-342900">
              <a:spcAft>
                <a:spcPts val="1000"/>
              </a:spcAft>
              <a:buFont typeface="+mj-lt"/>
              <a:buChar char="•"/>
            </a:pPr>
            <a:r>
              <a:rPr lang="es-ES" sz="1600">
                <a:solidFill>
                  <a:srgbClr val="F6F8FC"/>
                </a:solidFill>
                <a:latin typeface="Segoe UI" panose="020B0502040204020203" pitchFamily="34" charset="0"/>
              </a:rPr>
              <a:t>Activacion de cuenta</a:t>
            </a:r>
          </a:p>
          <a:p>
            <a:pPr marL="342900" indent="-342900">
              <a:spcAft>
                <a:spcPts val="1000"/>
              </a:spcAft>
              <a:buFont typeface="+mj-lt"/>
              <a:buChar char="•"/>
            </a:pPr>
            <a:r>
              <a:rPr lang="es-ES" sz="1600">
                <a:solidFill>
                  <a:srgbClr val="F6F8FC"/>
                </a:solidFill>
                <a:latin typeface="Segoe UI" panose="020B0502040204020203" pitchFamily="34" charset="0"/>
              </a:rPr>
              <a:t>Recuperacion de contrasena</a:t>
            </a:r>
          </a:p>
          <a:p>
            <a:pPr marL="342900" indent="-342900">
              <a:spcAft>
                <a:spcPts val="1000"/>
              </a:spcAft>
              <a:buFont typeface="+mj-lt"/>
              <a:buChar char="•"/>
            </a:pPr>
            <a:r>
              <a:rPr lang="es-ES" sz="1600">
                <a:solidFill>
                  <a:srgbClr val="F6F8FC"/>
                </a:solidFill>
                <a:latin typeface="Segoe UI" panose="020B0502040204020203" pitchFamily="34" charset="0"/>
              </a:rPr>
              <a:t>MFA tecnico</a:t>
            </a:r>
          </a:p>
          <a:p>
            <a:pPr marL="342900" indent="-342900">
              <a:spcAft>
                <a:spcPts val="1000"/>
              </a:spcAft>
              <a:buFont typeface="+mj-lt"/>
              <a:buChar char="•"/>
            </a:pPr>
            <a:r>
              <a:rPr lang="es-ES" sz="1600">
                <a:solidFill>
                  <a:srgbClr val="F6F8FC"/>
                </a:solidFill>
                <a:latin typeface="Segoe UI" panose="020B0502040204020203" pitchFamily="34" charset="0"/>
              </a:rPr>
              <a:t>Aviso de rechazo</a:t>
            </a:r>
          </a:p>
        </p:txBody>
      </p:sp>
      <p:sp>
        <p:nvSpPr>
          <p:cNvPr id="8" name="Rectángulo: esquinas redondeadas 7">
            <a:extLst>
              <a:ext uri="{FF2B5EF4-FFF2-40B4-BE49-F238E27FC236}">
                <a16:creationId xmlns:a16="http://schemas.microsoft.com/office/drawing/2014/main" id="{583A4A61-D0C8-DBFE-7567-FD84A94DF6D1}"/>
              </a:ext>
            </a:extLst>
          </p:cNvPr>
          <p:cNvSpPr/>
          <p:nvPr/>
        </p:nvSpPr>
        <p:spPr>
          <a:xfrm>
            <a:off x="4597400" y="2032000"/>
            <a:ext cx="6477000" cy="685800"/>
          </a:xfrm>
          <a:prstGeom prst="roundRect">
            <a:avLst/>
          </a:prstGeom>
          <a:solidFill>
            <a:srgbClr val="F7FAFC"/>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36B1F2E2-A653-03D6-C5BF-E7D7561BE8B7}"/>
              </a:ext>
            </a:extLst>
          </p:cNvPr>
          <p:cNvSpPr txBox="1"/>
          <p:nvPr/>
        </p:nvSpPr>
        <p:spPr>
          <a:xfrm>
            <a:off x="4876800" y="2159000"/>
            <a:ext cx="1676400" cy="369332"/>
          </a:xfrm>
          <a:prstGeom prst="rect">
            <a:avLst/>
          </a:prstGeom>
          <a:noFill/>
        </p:spPr>
        <p:txBody>
          <a:bodyPr vert="horz" wrap="square" lIns="0" tIns="0" rIns="0" bIns="0" rtlCol="0">
            <a:noAutofit/>
          </a:bodyPr>
          <a:lstStyle/>
          <a:p>
            <a:r>
              <a:rPr lang="es-ES" sz="1600" b="1">
                <a:solidFill>
                  <a:srgbClr val="4975B0"/>
                </a:solidFill>
                <a:latin typeface="Segoe UI" panose="020B0502040204020203" pitchFamily="34" charset="0"/>
              </a:rPr>
              <a:t>1. Registro</a:t>
            </a:r>
          </a:p>
        </p:txBody>
      </p:sp>
      <p:sp>
        <p:nvSpPr>
          <p:cNvPr id="10" name="CuadroTexto 9">
            <a:extLst>
              <a:ext uri="{FF2B5EF4-FFF2-40B4-BE49-F238E27FC236}">
                <a16:creationId xmlns:a16="http://schemas.microsoft.com/office/drawing/2014/main" id="{CBB04404-3432-A8DD-0CDD-8B3A1AA4B6B6}"/>
              </a:ext>
            </a:extLst>
          </p:cNvPr>
          <p:cNvSpPr txBox="1"/>
          <p:nvPr/>
        </p:nvSpPr>
        <p:spPr>
          <a:xfrm>
            <a:off x="6604000" y="2159000"/>
            <a:ext cx="4064000" cy="369332"/>
          </a:xfrm>
          <a:prstGeom prst="rect">
            <a:avLst/>
          </a:prstGeom>
          <a:noFill/>
        </p:spPr>
        <p:txBody>
          <a:bodyPr vert="horz" wrap="square" lIns="0" tIns="0" rIns="0" bIns="0" rtlCol="0">
            <a:noAutofit/>
          </a:bodyPr>
          <a:lstStyle/>
          <a:p>
            <a:r>
              <a:rPr lang="es-ES" sz="1400">
                <a:solidFill>
                  <a:srgbClr val="1F2937"/>
                </a:solidFill>
                <a:latin typeface="Segoe UI" panose="020B0502040204020203" pitchFamily="34" charset="0"/>
              </a:rPr>
              <a:t>La empresa envia la solicitud.</a:t>
            </a:r>
          </a:p>
        </p:txBody>
      </p:sp>
      <p:sp>
        <p:nvSpPr>
          <p:cNvPr id="11" name="Rectángulo: esquinas redondeadas 10">
            <a:extLst>
              <a:ext uri="{FF2B5EF4-FFF2-40B4-BE49-F238E27FC236}">
                <a16:creationId xmlns:a16="http://schemas.microsoft.com/office/drawing/2014/main" id="{250A7652-C606-00FA-745C-03DFDA082649}"/>
              </a:ext>
            </a:extLst>
          </p:cNvPr>
          <p:cNvSpPr/>
          <p:nvPr/>
        </p:nvSpPr>
        <p:spPr>
          <a:xfrm>
            <a:off x="4597400" y="2895600"/>
            <a:ext cx="6477000" cy="685800"/>
          </a:xfrm>
          <a:prstGeom prst="roundRect">
            <a:avLst/>
          </a:prstGeom>
          <a:solidFill>
            <a:srgbClr val="F7FAFC"/>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713F77D9-36EB-82B4-2E16-791E0A65AEA6}"/>
              </a:ext>
            </a:extLst>
          </p:cNvPr>
          <p:cNvSpPr txBox="1"/>
          <p:nvPr/>
        </p:nvSpPr>
        <p:spPr>
          <a:xfrm>
            <a:off x="4876800" y="3022600"/>
            <a:ext cx="1676400" cy="369332"/>
          </a:xfrm>
          <a:prstGeom prst="rect">
            <a:avLst/>
          </a:prstGeom>
          <a:noFill/>
        </p:spPr>
        <p:txBody>
          <a:bodyPr vert="horz" wrap="square" lIns="0" tIns="0" rIns="0" bIns="0" rtlCol="0">
            <a:noAutofit/>
          </a:bodyPr>
          <a:lstStyle/>
          <a:p>
            <a:r>
              <a:rPr lang="es-ES" sz="1600" b="1">
                <a:solidFill>
                  <a:srgbClr val="4975B0"/>
                </a:solidFill>
                <a:latin typeface="Segoe UI" panose="020B0502040204020203" pitchFamily="34" charset="0"/>
              </a:rPr>
              <a:t>2. Verificacion</a:t>
            </a:r>
          </a:p>
        </p:txBody>
      </p:sp>
      <p:sp>
        <p:nvSpPr>
          <p:cNvPr id="13" name="CuadroTexto 12">
            <a:extLst>
              <a:ext uri="{FF2B5EF4-FFF2-40B4-BE49-F238E27FC236}">
                <a16:creationId xmlns:a16="http://schemas.microsoft.com/office/drawing/2014/main" id="{52E5D48B-CA6F-A798-197D-25A47EA9A5F4}"/>
              </a:ext>
            </a:extLst>
          </p:cNvPr>
          <p:cNvSpPr txBox="1"/>
          <p:nvPr/>
        </p:nvSpPr>
        <p:spPr>
          <a:xfrm>
            <a:off x="6604000" y="3022600"/>
            <a:ext cx="4064000" cy="369332"/>
          </a:xfrm>
          <a:prstGeom prst="rect">
            <a:avLst/>
          </a:prstGeom>
          <a:noFill/>
        </p:spPr>
        <p:txBody>
          <a:bodyPr vert="horz" wrap="square" lIns="0" tIns="0" rIns="0" bIns="0" rtlCol="0">
            <a:noAutofit/>
          </a:bodyPr>
          <a:lstStyle/>
          <a:p>
            <a:r>
              <a:rPr lang="es-ES" sz="1400">
                <a:solidFill>
                  <a:srgbClr val="1F2937"/>
                </a:solidFill>
                <a:latin typeface="Segoe UI" panose="020B0502040204020203" pitchFamily="34" charset="0"/>
              </a:rPr>
              <a:t>Recibe enlace y confirma correo.</a:t>
            </a:r>
          </a:p>
        </p:txBody>
      </p:sp>
      <p:sp>
        <p:nvSpPr>
          <p:cNvPr id="14" name="Rectángulo: esquinas redondeadas 13">
            <a:extLst>
              <a:ext uri="{FF2B5EF4-FFF2-40B4-BE49-F238E27FC236}">
                <a16:creationId xmlns:a16="http://schemas.microsoft.com/office/drawing/2014/main" id="{83415978-DB9A-4F0E-01AD-3FD52A75EE9A}"/>
              </a:ext>
            </a:extLst>
          </p:cNvPr>
          <p:cNvSpPr/>
          <p:nvPr/>
        </p:nvSpPr>
        <p:spPr>
          <a:xfrm>
            <a:off x="4597400" y="3759200"/>
            <a:ext cx="6477000" cy="685800"/>
          </a:xfrm>
          <a:prstGeom prst="roundRect">
            <a:avLst/>
          </a:prstGeom>
          <a:solidFill>
            <a:srgbClr val="F7FAFC"/>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CuadroTexto 14">
            <a:extLst>
              <a:ext uri="{FF2B5EF4-FFF2-40B4-BE49-F238E27FC236}">
                <a16:creationId xmlns:a16="http://schemas.microsoft.com/office/drawing/2014/main" id="{10CC2D39-4B6F-7D89-412F-8E5898BC6A26}"/>
              </a:ext>
            </a:extLst>
          </p:cNvPr>
          <p:cNvSpPr txBox="1"/>
          <p:nvPr/>
        </p:nvSpPr>
        <p:spPr>
          <a:xfrm>
            <a:off x="4876800" y="3886200"/>
            <a:ext cx="1676400" cy="369332"/>
          </a:xfrm>
          <a:prstGeom prst="rect">
            <a:avLst/>
          </a:prstGeom>
          <a:noFill/>
        </p:spPr>
        <p:txBody>
          <a:bodyPr vert="horz" wrap="square" lIns="0" tIns="0" rIns="0" bIns="0" rtlCol="0">
            <a:noAutofit/>
          </a:bodyPr>
          <a:lstStyle/>
          <a:p>
            <a:r>
              <a:rPr lang="es-ES" sz="1600" b="1">
                <a:solidFill>
                  <a:srgbClr val="4975B0"/>
                </a:solidFill>
                <a:latin typeface="Segoe UI" panose="020B0502040204020203" pitchFamily="34" charset="0"/>
              </a:rPr>
              <a:t>3. Revision</a:t>
            </a:r>
          </a:p>
        </p:txBody>
      </p:sp>
      <p:sp>
        <p:nvSpPr>
          <p:cNvPr id="16" name="CuadroTexto 15">
            <a:extLst>
              <a:ext uri="{FF2B5EF4-FFF2-40B4-BE49-F238E27FC236}">
                <a16:creationId xmlns:a16="http://schemas.microsoft.com/office/drawing/2014/main" id="{BE373084-1D6E-2C7D-24EC-F353109D2B6C}"/>
              </a:ext>
            </a:extLst>
          </p:cNvPr>
          <p:cNvSpPr txBox="1"/>
          <p:nvPr/>
        </p:nvSpPr>
        <p:spPr>
          <a:xfrm>
            <a:off x="6604000" y="3886200"/>
            <a:ext cx="4064000" cy="369332"/>
          </a:xfrm>
          <a:prstGeom prst="rect">
            <a:avLst/>
          </a:prstGeom>
          <a:noFill/>
        </p:spPr>
        <p:txBody>
          <a:bodyPr vert="horz" wrap="square" lIns="0" tIns="0" rIns="0" bIns="0" rtlCol="0">
            <a:noAutofit/>
          </a:bodyPr>
          <a:lstStyle/>
          <a:p>
            <a:r>
              <a:rPr lang="es-ES" sz="1400">
                <a:solidFill>
                  <a:srgbClr val="1F2937"/>
                </a:solidFill>
                <a:latin typeface="Segoe UI" panose="020B0502040204020203" pitchFamily="34" charset="0"/>
              </a:rPr>
              <a:t>El centro aprueba o rechaza.</a:t>
            </a:r>
          </a:p>
        </p:txBody>
      </p:sp>
      <p:sp>
        <p:nvSpPr>
          <p:cNvPr id="17" name="Rectángulo: esquinas redondeadas 16">
            <a:extLst>
              <a:ext uri="{FF2B5EF4-FFF2-40B4-BE49-F238E27FC236}">
                <a16:creationId xmlns:a16="http://schemas.microsoft.com/office/drawing/2014/main" id="{A8134A8D-1FC6-953C-45FB-3EB6E5D196DE}"/>
              </a:ext>
            </a:extLst>
          </p:cNvPr>
          <p:cNvSpPr/>
          <p:nvPr/>
        </p:nvSpPr>
        <p:spPr>
          <a:xfrm>
            <a:off x="4597400" y="4622800"/>
            <a:ext cx="6477000" cy="685800"/>
          </a:xfrm>
          <a:prstGeom prst="roundRect">
            <a:avLst/>
          </a:prstGeom>
          <a:solidFill>
            <a:srgbClr val="F7FAFC"/>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CuadroTexto 17">
            <a:extLst>
              <a:ext uri="{FF2B5EF4-FFF2-40B4-BE49-F238E27FC236}">
                <a16:creationId xmlns:a16="http://schemas.microsoft.com/office/drawing/2014/main" id="{491CD917-1C2C-5FBA-EB4D-ADEA25ED1180}"/>
              </a:ext>
            </a:extLst>
          </p:cNvPr>
          <p:cNvSpPr txBox="1"/>
          <p:nvPr/>
        </p:nvSpPr>
        <p:spPr>
          <a:xfrm>
            <a:off x="4876800" y="4749800"/>
            <a:ext cx="1676400" cy="369332"/>
          </a:xfrm>
          <a:prstGeom prst="rect">
            <a:avLst/>
          </a:prstGeom>
          <a:noFill/>
        </p:spPr>
        <p:txBody>
          <a:bodyPr vert="horz" wrap="square" lIns="0" tIns="0" rIns="0" bIns="0" rtlCol="0">
            <a:noAutofit/>
          </a:bodyPr>
          <a:lstStyle/>
          <a:p>
            <a:r>
              <a:rPr lang="es-ES" sz="1600" b="1">
                <a:solidFill>
                  <a:srgbClr val="4975B0"/>
                </a:solidFill>
                <a:latin typeface="Segoe UI" panose="020B0502040204020203" pitchFamily="34" charset="0"/>
              </a:rPr>
              <a:t>4. Resultado</a:t>
            </a:r>
          </a:p>
        </p:txBody>
      </p:sp>
      <p:sp>
        <p:nvSpPr>
          <p:cNvPr id="19" name="CuadroTexto 18">
            <a:extLst>
              <a:ext uri="{FF2B5EF4-FFF2-40B4-BE49-F238E27FC236}">
                <a16:creationId xmlns:a16="http://schemas.microsoft.com/office/drawing/2014/main" id="{99E9EF68-7555-59F0-BC94-1890DCBDA0E5}"/>
              </a:ext>
            </a:extLst>
          </p:cNvPr>
          <p:cNvSpPr txBox="1"/>
          <p:nvPr/>
        </p:nvSpPr>
        <p:spPr>
          <a:xfrm>
            <a:off x="6604000" y="4749800"/>
            <a:ext cx="4064000" cy="369332"/>
          </a:xfrm>
          <a:prstGeom prst="rect">
            <a:avLst/>
          </a:prstGeom>
          <a:noFill/>
        </p:spPr>
        <p:txBody>
          <a:bodyPr vert="horz" wrap="square" lIns="0" tIns="0" rIns="0" bIns="0" rtlCol="0">
            <a:noAutofit/>
          </a:bodyPr>
          <a:lstStyle/>
          <a:p>
            <a:r>
              <a:rPr lang="es-ES" sz="1400">
                <a:solidFill>
                  <a:srgbClr val="1F2937"/>
                </a:solidFill>
                <a:latin typeface="Segoe UI" panose="020B0502040204020203" pitchFamily="34" charset="0"/>
              </a:rPr>
              <a:t>Si se rechaza llega correo y el estado sigue visible en el portal.</a:t>
            </a:r>
          </a:p>
        </p:txBody>
      </p:sp>
    </p:spTree>
    <p:extLst>
      <p:ext uri="{BB962C8B-B14F-4D97-AF65-F5344CB8AC3E}">
        <p14:creationId xmlns:p14="http://schemas.microsoft.com/office/powerpoint/2010/main" val="178090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218"/>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5AC85FA-F908-4E21-70D9-CF67D755409D}"/>
              </a:ext>
            </a:extLst>
          </p:cNvPr>
          <p:cNvSpPr txBox="1"/>
          <p:nvPr/>
        </p:nvSpPr>
        <p:spPr>
          <a:xfrm>
            <a:off x="558800" y="330200"/>
            <a:ext cx="10414000" cy="369332"/>
          </a:xfrm>
          <a:prstGeom prst="rect">
            <a:avLst/>
          </a:prstGeom>
          <a:noFill/>
        </p:spPr>
        <p:txBody>
          <a:bodyPr vert="horz" wrap="square" lIns="0" tIns="0" rIns="0" bIns="0" rtlCol="0">
            <a:noAutofit/>
          </a:bodyPr>
          <a:lstStyle/>
          <a:p>
            <a:r>
              <a:rPr lang="es-ES" sz="1200" b="1">
                <a:solidFill>
                  <a:srgbClr val="DBA14D"/>
                </a:solidFill>
                <a:latin typeface="Segoe UI" panose="020B0502040204020203" pitchFamily="34" charset="0"/>
              </a:rPr>
              <a:t>10 / DOMINIO EXTERNO</a:t>
            </a:r>
          </a:p>
        </p:txBody>
      </p:sp>
      <p:sp>
        <p:nvSpPr>
          <p:cNvPr id="3" name="CuadroTexto 2">
            <a:extLst>
              <a:ext uri="{FF2B5EF4-FFF2-40B4-BE49-F238E27FC236}">
                <a16:creationId xmlns:a16="http://schemas.microsoft.com/office/drawing/2014/main" id="{F0F54596-0118-8B63-D32D-7A17BB203100}"/>
              </a:ext>
            </a:extLst>
          </p:cNvPr>
          <p:cNvSpPr txBox="1"/>
          <p:nvPr/>
        </p:nvSpPr>
        <p:spPr>
          <a:xfrm>
            <a:off x="558800" y="685800"/>
            <a:ext cx="9906000" cy="369332"/>
          </a:xfrm>
          <a:prstGeom prst="rect">
            <a:avLst/>
          </a:prstGeom>
          <a:noFill/>
        </p:spPr>
        <p:txBody>
          <a:bodyPr vert="horz" wrap="square" lIns="0" tIns="0" rIns="0" bIns="0" rtlCol="0">
            <a:noAutofit/>
          </a:bodyPr>
          <a:lstStyle/>
          <a:p>
            <a:r>
              <a:rPr lang="es-ES" sz="3000" b="1">
                <a:solidFill>
                  <a:srgbClr val="F6F8FC"/>
                </a:solidFill>
                <a:latin typeface="Segoe UI" panose="020B0502040204020203" pitchFamily="34" charset="0"/>
              </a:rPr>
              <a:t>Como resuelvo el acceso publico y los enlaces de correo</a:t>
            </a:r>
          </a:p>
        </p:txBody>
      </p:sp>
      <p:sp>
        <p:nvSpPr>
          <p:cNvPr id="4" name="CuadroTexto 3">
            <a:extLst>
              <a:ext uri="{FF2B5EF4-FFF2-40B4-BE49-F238E27FC236}">
                <a16:creationId xmlns:a16="http://schemas.microsoft.com/office/drawing/2014/main" id="{6165C584-4F58-F8C7-88AA-11E962CB6197}"/>
              </a:ext>
            </a:extLst>
          </p:cNvPr>
          <p:cNvSpPr txBox="1"/>
          <p:nvPr/>
        </p:nvSpPr>
        <p:spPr>
          <a:xfrm>
            <a:off x="558800" y="1422400"/>
            <a:ext cx="9144000" cy="369332"/>
          </a:xfrm>
          <a:prstGeom prst="rect">
            <a:avLst/>
          </a:prstGeom>
          <a:noFill/>
        </p:spPr>
        <p:txBody>
          <a:bodyPr vert="horz" wrap="square" lIns="0" tIns="0" rIns="0" bIns="0" rtlCol="0">
            <a:noAutofit/>
          </a:bodyPr>
          <a:lstStyle/>
          <a:p>
            <a:r>
              <a:rPr lang="es-ES" sz="1500">
                <a:solidFill>
                  <a:srgbClr val="C2CBD8"/>
                </a:solidFill>
                <a:latin typeface="Segoe UI" panose="020B0502040204020203" pitchFamily="34" charset="0"/>
              </a:rPr>
              <a:t>El problema ya no es una IP local incrustada: la plataforma publica una URL HTTPS estable sobre la VM cloud.</a:t>
            </a:r>
          </a:p>
        </p:txBody>
      </p:sp>
      <p:sp>
        <p:nvSpPr>
          <p:cNvPr id="5" name="Rectángulo: esquinas redondeadas 4">
            <a:extLst>
              <a:ext uri="{FF2B5EF4-FFF2-40B4-BE49-F238E27FC236}">
                <a16:creationId xmlns:a16="http://schemas.microsoft.com/office/drawing/2014/main" id="{13092FAF-37A2-B925-95C1-032895FE96C2}"/>
              </a:ext>
            </a:extLst>
          </p:cNvPr>
          <p:cNvSpPr/>
          <p:nvPr/>
        </p:nvSpPr>
        <p:spPr>
          <a:xfrm>
            <a:off x="914400" y="2463800"/>
            <a:ext cx="2413000" cy="1168400"/>
          </a:xfrm>
          <a:prstGeom prst="roundRect">
            <a:avLst/>
          </a:prstGeom>
          <a:solidFill>
            <a:srgbClr val="F7FAFC"/>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DB589446-30CE-4263-EBCA-7A3DD5093426}"/>
              </a:ext>
            </a:extLst>
          </p:cNvPr>
          <p:cNvSpPr txBox="1"/>
          <p:nvPr/>
        </p:nvSpPr>
        <p:spPr>
          <a:xfrm>
            <a:off x="1219200" y="2717800"/>
            <a:ext cx="1905000" cy="369332"/>
          </a:xfrm>
          <a:prstGeom prst="rect">
            <a:avLst/>
          </a:prstGeom>
          <a:noFill/>
        </p:spPr>
        <p:txBody>
          <a:bodyPr vert="horz" wrap="square" lIns="0" tIns="0" rIns="0" bIns="0" rtlCol="0">
            <a:noAutofit/>
          </a:bodyPr>
          <a:lstStyle/>
          <a:p>
            <a:r>
              <a:rPr lang="es-ES" b="1">
                <a:solidFill>
                  <a:srgbClr val="4975B0"/>
                </a:solidFill>
                <a:latin typeface="Segoe UI" panose="020B0502040204020203" pitchFamily="34" charset="0"/>
              </a:rPr>
              <a:t>Infraestructura</a:t>
            </a:r>
          </a:p>
        </p:txBody>
      </p:sp>
      <p:sp>
        <p:nvSpPr>
          <p:cNvPr id="7" name="CuadroTexto 6">
            <a:extLst>
              <a:ext uri="{FF2B5EF4-FFF2-40B4-BE49-F238E27FC236}">
                <a16:creationId xmlns:a16="http://schemas.microsoft.com/office/drawing/2014/main" id="{688ECCFA-E19E-E1B3-4097-4BD64C834C71}"/>
              </a:ext>
            </a:extLst>
          </p:cNvPr>
          <p:cNvSpPr txBox="1"/>
          <p:nvPr/>
        </p:nvSpPr>
        <p:spPr>
          <a:xfrm>
            <a:off x="1219200" y="3124200"/>
            <a:ext cx="1905000" cy="369332"/>
          </a:xfrm>
          <a:prstGeom prst="rect">
            <a:avLst/>
          </a:prstGeom>
          <a:noFill/>
        </p:spPr>
        <p:txBody>
          <a:bodyPr vert="horz" wrap="square" lIns="0" tIns="0" rIns="0" bIns="0" rtlCol="0">
            <a:noAutofit/>
          </a:bodyPr>
          <a:lstStyle/>
          <a:p>
            <a:r>
              <a:rPr lang="es-ES" sz="1200">
                <a:solidFill>
                  <a:srgbClr val="1F2937"/>
                </a:solidFill>
                <a:latin typeface="Consolas" panose="020B0609020204030204" pitchFamily="49" charset="0"/>
              </a:rPr>
              <a:t>GCP + Docker Compose</a:t>
            </a:r>
          </a:p>
        </p:txBody>
      </p:sp>
      <p:sp>
        <p:nvSpPr>
          <p:cNvPr id="8" name="Rectángulo: esquinas redondeadas 7">
            <a:extLst>
              <a:ext uri="{FF2B5EF4-FFF2-40B4-BE49-F238E27FC236}">
                <a16:creationId xmlns:a16="http://schemas.microsoft.com/office/drawing/2014/main" id="{BA3AE05E-29E8-E5EA-516B-32AC9B2365C7}"/>
              </a:ext>
            </a:extLst>
          </p:cNvPr>
          <p:cNvSpPr/>
          <p:nvPr/>
        </p:nvSpPr>
        <p:spPr>
          <a:xfrm>
            <a:off x="4775200" y="2463800"/>
            <a:ext cx="2413000" cy="1168400"/>
          </a:xfrm>
          <a:prstGeom prst="roundRect">
            <a:avLst/>
          </a:prstGeom>
          <a:solidFill>
            <a:srgbClr val="F7FAFC"/>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7E796478-CBB1-ECEB-CE26-BB0E255D469E}"/>
              </a:ext>
            </a:extLst>
          </p:cNvPr>
          <p:cNvSpPr txBox="1"/>
          <p:nvPr/>
        </p:nvSpPr>
        <p:spPr>
          <a:xfrm>
            <a:off x="5130800" y="2717800"/>
            <a:ext cx="1905000" cy="369332"/>
          </a:xfrm>
          <a:prstGeom prst="rect">
            <a:avLst/>
          </a:prstGeom>
          <a:noFill/>
        </p:spPr>
        <p:txBody>
          <a:bodyPr vert="horz" wrap="square" lIns="0" tIns="0" rIns="0" bIns="0" rtlCol="0">
            <a:noAutofit/>
          </a:bodyPr>
          <a:lstStyle/>
          <a:p>
            <a:r>
              <a:rPr lang="es-ES" b="1">
                <a:solidFill>
                  <a:srgbClr val="4975B0"/>
                </a:solidFill>
                <a:latin typeface="Segoe UI" panose="020B0502040204020203" pitchFamily="34" charset="0"/>
              </a:rPr>
              <a:t>Borde HTTPS</a:t>
            </a:r>
          </a:p>
        </p:txBody>
      </p:sp>
      <p:sp>
        <p:nvSpPr>
          <p:cNvPr id="10" name="CuadroTexto 9">
            <a:extLst>
              <a:ext uri="{FF2B5EF4-FFF2-40B4-BE49-F238E27FC236}">
                <a16:creationId xmlns:a16="http://schemas.microsoft.com/office/drawing/2014/main" id="{C890C099-AC11-E3DB-AD11-92819D6DC2FA}"/>
              </a:ext>
            </a:extLst>
          </p:cNvPr>
          <p:cNvSpPr txBox="1"/>
          <p:nvPr/>
        </p:nvSpPr>
        <p:spPr>
          <a:xfrm>
            <a:off x="5410200" y="3124200"/>
            <a:ext cx="1143000" cy="369332"/>
          </a:xfrm>
          <a:prstGeom prst="rect">
            <a:avLst/>
          </a:prstGeom>
          <a:noFill/>
        </p:spPr>
        <p:txBody>
          <a:bodyPr vert="horz" wrap="square" lIns="0" tIns="0" rIns="0" bIns="0" rtlCol="0">
            <a:noAutofit/>
          </a:bodyPr>
          <a:lstStyle/>
          <a:p>
            <a:r>
              <a:rPr lang="es-ES" sz="1400">
                <a:solidFill>
                  <a:srgbClr val="1F2937"/>
                </a:solidFill>
                <a:latin typeface="Consolas" panose="020B0609020204030204" pitchFamily="49" charset="0"/>
              </a:rPr>
              <a:t>Caddy</a:t>
            </a:r>
          </a:p>
        </p:txBody>
      </p:sp>
      <p:sp>
        <p:nvSpPr>
          <p:cNvPr id="11" name="Rectángulo: esquinas redondeadas 10">
            <a:extLst>
              <a:ext uri="{FF2B5EF4-FFF2-40B4-BE49-F238E27FC236}">
                <a16:creationId xmlns:a16="http://schemas.microsoft.com/office/drawing/2014/main" id="{0A633831-79A5-5792-7412-58FC1879EFCA}"/>
              </a:ext>
            </a:extLst>
          </p:cNvPr>
          <p:cNvSpPr/>
          <p:nvPr/>
        </p:nvSpPr>
        <p:spPr>
          <a:xfrm>
            <a:off x="8255000" y="2463800"/>
            <a:ext cx="3073400" cy="1168400"/>
          </a:xfrm>
          <a:prstGeom prst="roundRect">
            <a:avLst/>
          </a:prstGeom>
          <a:solidFill>
            <a:srgbClr val="1D2430"/>
          </a:solidFill>
          <a:ln w="12700">
            <a:solidFill>
              <a:srgbClr val="424E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A6A43BF5-5972-D933-8D9C-DD71DB14BCCC}"/>
              </a:ext>
            </a:extLst>
          </p:cNvPr>
          <p:cNvSpPr txBox="1"/>
          <p:nvPr/>
        </p:nvSpPr>
        <p:spPr>
          <a:xfrm>
            <a:off x="8559800" y="2717800"/>
            <a:ext cx="2286000" cy="369332"/>
          </a:xfrm>
          <a:prstGeom prst="rect">
            <a:avLst/>
          </a:prstGeom>
          <a:noFill/>
        </p:spPr>
        <p:txBody>
          <a:bodyPr vert="horz" wrap="square" lIns="0" tIns="0" rIns="0" bIns="0" rtlCol="0">
            <a:noAutofit/>
          </a:bodyPr>
          <a:lstStyle/>
          <a:p>
            <a:r>
              <a:rPr lang="es-ES" b="1">
                <a:solidFill>
                  <a:srgbClr val="DBA14D"/>
                </a:solidFill>
                <a:latin typeface="Segoe UI" panose="020B0502040204020203" pitchFamily="34" charset="0"/>
              </a:rPr>
              <a:t>URL publica</a:t>
            </a:r>
          </a:p>
        </p:txBody>
      </p:sp>
      <p:sp>
        <p:nvSpPr>
          <p:cNvPr id="13" name="CuadroTexto 12">
            <a:extLst>
              <a:ext uri="{FF2B5EF4-FFF2-40B4-BE49-F238E27FC236}">
                <a16:creationId xmlns:a16="http://schemas.microsoft.com/office/drawing/2014/main" id="{6FECB936-5543-7540-CFBE-69E6E6DAD718}"/>
              </a:ext>
            </a:extLst>
          </p:cNvPr>
          <p:cNvSpPr txBox="1"/>
          <p:nvPr/>
        </p:nvSpPr>
        <p:spPr>
          <a:xfrm>
            <a:off x="8483600" y="3124200"/>
            <a:ext cx="2641600" cy="369332"/>
          </a:xfrm>
          <a:prstGeom prst="rect">
            <a:avLst/>
          </a:prstGeom>
          <a:noFill/>
        </p:spPr>
        <p:txBody>
          <a:bodyPr vert="horz" wrap="square" lIns="0" tIns="0" rIns="0" bIns="0" rtlCol="0">
            <a:noAutofit/>
          </a:bodyPr>
          <a:lstStyle/>
          <a:p>
            <a:r>
              <a:rPr lang="es-ES" sz="900">
                <a:solidFill>
                  <a:srgbClr val="F6F8FC"/>
                </a:solidFill>
                <a:latin typeface="Consolas" panose="020B0609020204030204" pitchFamily="49" charset="0"/>
              </a:rPr>
              <a:t>https://agora.34.175.161.212...</a:t>
            </a:r>
          </a:p>
        </p:txBody>
      </p:sp>
      <p:sp>
        <p:nvSpPr>
          <p:cNvPr id="14" name="CuadroTexto 13">
            <a:extLst>
              <a:ext uri="{FF2B5EF4-FFF2-40B4-BE49-F238E27FC236}">
                <a16:creationId xmlns:a16="http://schemas.microsoft.com/office/drawing/2014/main" id="{57E0B157-C904-5762-B6AD-74A123CF0913}"/>
              </a:ext>
            </a:extLst>
          </p:cNvPr>
          <p:cNvSpPr txBox="1"/>
          <p:nvPr/>
        </p:nvSpPr>
        <p:spPr>
          <a:xfrm>
            <a:off x="1168400" y="4216400"/>
            <a:ext cx="9652000" cy="369332"/>
          </a:xfrm>
          <a:prstGeom prst="rect">
            <a:avLst/>
          </a:prstGeom>
          <a:noFill/>
        </p:spPr>
        <p:txBody>
          <a:bodyPr vert="horz" wrap="square" lIns="0" tIns="0" rIns="0" bIns="0" rtlCol="0">
            <a:noAutofit/>
          </a:bodyPr>
          <a:lstStyle/>
          <a:p>
            <a:pPr marL="342900" indent="-342900">
              <a:spcAft>
                <a:spcPts val="1000"/>
              </a:spcAft>
              <a:buFont typeface="+mj-lt"/>
              <a:buChar char="•"/>
            </a:pPr>
            <a:r>
              <a:rPr lang="es-ES" sz="1700">
                <a:solidFill>
                  <a:srgbClr val="C2CBD8"/>
                </a:solidFill>
                <a:latin typeface="Segoe UI" panose="020B0502040204020203" pitchFamily="34" charset="0"/>
              </a:rPr>
              <a:t>El portal externo y los correos usan ya el origen publico correcto de la VM.</a:t>
            </a:r>
          </a:p>
          <a:p>
            <a:pPr marL="342900" indent="-342900">
              <a:spcAft>
                <a:spcPts val="1000"/>
              </a:spcAft>
              <a:buFont typeface="+mj-lt"/>
              <a:buChar char="•"/>
            </a:pPr>
            <a:r>
              <a:rPr lang="es-ES" sz="1700">
                <a:solidFill>
                  <a:srgbClr val="C2CBD8"/>
                </a:solidFill>
                <a:latin typeface="Segoe UI" panose="020B0502040204020203" pitchFamily="34" charset="0"/>
              </a:rPr>
              <a:t>APP_EXTERNAL_BASE_URL fija la URL canonica para enlaces y notificaciones.</a:t>
            </a:r>
          </a:p>
          <a:p>
            <a:pPr marL="342900" indent="-342900">
              <a:spcAft>
                <a:spcPts val="1000"/>
              </a:spcAft>
              <a:buFont typeface="+mj-lt"/>
              <a:buChar char="•"/>
            </a:pPr>
            <a:r>
              <a:rPr lang="es-ES" sz="1700">
                <a:solidFill>
                  <a:srgbClr val="C2CBD8"/>
                </a:solidFill>
                <a:latin typeface="Segoe UI" panose="020B0502040204020203" pitchFamily="34" charset="0"/>
              </a:rPr>
              <a:t>El siguiente paso natural seria cambiar nip.io por dominio institucional propio.</a:t>
            </a:r>
          </a:p>
        </p:txBody>
      </p:sp>
    </p:spTree>
    <p:extLst>
      <p:ext uri="{BB962C8B-B14F-4D97-AF65-F5344CB8AC3E}">
        <p14:creationId xmlns:p14="http://schemas.microsoft.com/office/powerpoint/2010/main" val="8788603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218"/>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612F822-E741-FF3B-BD34-0C5C21417D43}"/>
              </a:ext>
            </a:extLst>
          </p:cNvPr>
          <p:cNvSpPr txBox="1"/>
          <p:nvPr/>
        </p:nvSpPr>
        <p:spPr>
          <a:xfrm>
            <a:off x="558800" y="330200"/>
            <a:ext cx="10414000" cy="369332"/>
          </a:xfrm>
          <a:prstGeom prst="rect">
            <a:avLst/>
          </a:prstGeom>
          <a:noFill/>
        </p:spPr>
        <p:txBody>
          <a:bodyPr vert="horz" wrap="square" lIns="0" tIns="0" rIns="0" bIns="0" rtlCol="0">
            <a:noAutofit/>
          </a:bodyPr>
          <a:lstStyle/>
          <a:p>
            <a:r>
              <a:rPr lang="es-ES" sz="1200" b="1">
                <a:solidFill>
                  <a:srgbClr val="DBA14D"/>
                </a:solidFill>
                <a:latin typeface="Segoe UI" panose="020B0502040204020203" pitchFamily="34" charset="0"/>
              </a:rPr>
              <a:t>11 / MENSAJERIA</a:t>
            </a:r>
          </a:p>
        </p:txBody>
      </p:sp>
      <p:sp>
        <p:nvSpPr>
          <p:cNvPr id="3" name="CuadroTexto 2">
            <a:extLst>
              <a:ext uri="{FF2B5EF4-FFF2-40B4-BE49-F238E27FC236}">
                <a16:creationId xmlns:a16="http://schemas.microsoft.com/office/drawing/2014/main" id="{4C09E9DC-8780-0368-E56E-5985A06F3652}"/>
              </a:ext>
            </a:extLst>
          </p:cNvPr>
          <p:cNvSpPr txBox="1"/>
          <p:nvPr/>
        </p:nvSpPr>
        <p:spPr>
          <a:xfrm>
            <a:off x="558800" y="685800"/>
            <a:ext cx="9906000" cy="369332"/>
          </a:xfrm>
          <a:prstGeom prst="rect">
            <a:avLst/>
          </a:prstGeom>
          <a:noFill/>
        </p:spPr>
        <p:txBody>
          <a:bodyPr vert="horz" wrap="square" lIns="0" tIns="0" rIns="0" bIns="0" rtlCol="0">
            <a:noAutofit/>
          </a:bodyPr>
          <a:lstStyle/>
          <a:p>
            <a:r>
              <a:rPr lang="es-ES" sz="3000" b="1">
                <a:solidFill>
                  <a:srgbClr val="F6F8FC"/>
                </a:solidFill>
                <a:latin typeface="Segoe UI" panose="020B0502040204020203" pitchFamily="34" charset="0"/>
              </a:rPr>
              <a:t>Bandeja y chat con actualizacion automatica</a:t>
            </a:r>
          </a:p>
        </p:txBody>
      </p:sp>
      <p:sp>
        <p:nvSpPr>
          <p:cNvPr id="4" name="CuadroTexto 3">
            <a:extLst>
              <a:ext uri="{FF2B5EF4-FFF2-40B4-BE49-F238E27FC236}">
                <a16:creationId xmlns:a16="http://schemas.microsoft.com/office/drawing/2014/main" id="{F23984AB-50E6-4296-5ABE-690D0C1AEB17}"/>
              </a:ext>
            </a:extLst>
          </p:cNvPr>
          <p:cNvSpPr txBox="1"/>
          <p:nvPr/>
        </p:nvSpPr>
        <p:spPr>
          <a:xfrm>
            <a:off x="558800" y="1422400"/>
            <a:ext cx="9144000" cy="369332"/>
          </a:xfrm>
          <a:prstGeom prst="rect">
            <a:avLst/>
          </a:prstGeom>
          <a:noFill/>
        </p:spPr>
        <p:txBody>
          <a:bodyPr vert="horz" wrap="square" lIns="0" tIns="0" rIns="0" bIns="0" rtlCol="0">
            <a:noAutofit/>
          </a:bodyPr>
          <a:lstStyle/>
          <a:p>
            <a:r>
              <a:rPr lang="es-ES" sz="1500">
                <a:solidFill>
                  <a:srgbClr val="C2CBD8"/>
                </a:solidFill>
                <a:latin typeface="Segoe UI" panose="020B0502040204020203" pitchFamily="34" charset="0"/>
              </a:rPr>
              <a:t>La comunicacion entre centro y empresa no depende ya de recargar la pagina a mano.</a:t>
            </a:r>
          </a:p>
        </p:txBody>
      </p:sp>
      <p:pic>
        <p:nvPicPr>
          <p:cNvPr id="6" name="Imagen 5">
            <a:extLst>
              <a:ext uri="{FF2B5EF4-FFF2-40B4-BE49-F238E27FC236}">
                <a16:creationId xmlns:a16="http://schemas.microsoft.com/office/drawing/2014/main" id="{EFDA7603-6F23-8FDE-4739-4329DCEECA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000" y="2028825"/>
            <a:ext cx="6604000" cy="3714750"/>
          </a:xfrm>
          <a:prstGeom prst="rect">
            <a:avLst/>
          </a:prstGeom>
          <a:ln w="12700">
            <a:solidFill>
              <a:schemeClr val="tx1"/>
            </a:solidFill>
          </a:ln>
        </p:spPr>
      </p:pic>
      <p:sp>
        <p:nvSpPr>
          <p:cNvPr id="7" name="Rectángulo: esquinas redondeadas 6">
            <a:extLst>
              <a:ext uri="{FF2B5EF4-FFF2-40B4-BE49-F238E27FC236}">
                <a16:creationId xmlns:a16="http://schemas.microsoft.com/office/drawing/2014/main" id="{9A15C0D5-FDC4-4504-D1F8-E4A2FE1A3328}"/>
              </a:ext>
            </a:extLst>
          </p:cNvPr>
          <p:cNvSpPr/>
          <p:nvPr/>
        </p:nvSpPr>
        <p:spPr>
          <a:xfrm>
            <a:off x="7874000" y="2082800"/>
            <a:ext cx="3175000" cy="1066800"/>
          </a:xfrm>
          <a:prstGeom prst="roundRect">
            <a:avLst/>
          </a:prstGeom>
          <a:solidFill>
            <a:srgbClr val="1D2430"/>
          </a:solidFill>
          <a:ln w="12700">
            <a:solidFill>
              <a:srgbClr val="424E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a:extLst>
              <a:ext uri="{FF2B5EF4-FFF2-40B4-BE49-F238E27FC236}">
                <a16:creationId xmlns:a16="http://schemas.microsoft.com/office/drawing/2014/main" id="{37FBCE84-8CC1-094A-C428-27ABF7E8A252}"/>
              </a:ext>
            </a:extLst>
          </p:cNvPr>
          <p:cNvSpPr txBox="1"/>
          <p:nvPr/>
        </p:nvSpPr>
        <p:spPr>
          <a:xfrm>
            <a:off x="8255000" y="2336800"/>
            <a:ext cx="2413000" cy="369332"/>
          </a:xfrm>
          <a:prstGeom prst="rect">
            <a:avLst/>
          </a:prstGeom>
          <a:noFill/>
        </p:spPr>
        <p:txBody>
          <a:bodyPr vert="horz" wrap="square" lIns="0" tIns="0" rIns="0" bIns="0" rtlCol="0">
            <a:noAutofit/>
          </a:bodyPr>
          <a:lstStyle/>
          <a:p>
            <a:r>
              <a:rPr lang="es-ES" sz="2000" b="1">
                <a:solidFill>
                  <a:srgbClr val="DBA14D"/>
                </a:solidFill>
                <a:latin typeface="Segoe UI" panose="020B0502040204020203" pitchFamily="34" charset="0"/>
              </a:rPr>
              <a:t>Actualizacion automatica</a:t>
            </a:r>
          </a:p>
        </p:txBody>
      </p:sp>
      <p:sp>
        <p:nvSpPr>
          <p:cNvPr id="9" name="CuadroTexto 8">
            <a:extLst>
              <a:ext uri="{FF2B5EF4-FFF2-40B4-BE49-F238E27FC236}">
                <a16:creationId xmlns:a16="http://schemas.microsoft.com/office/drawing/2014/main" id="{F4AF7EE7-7911-A572-2C5B-05F715B256F9}"/>
              </a:ext>
            </a:extLst>
          </p:cNvPr>
          <p:cNvSpPr txBox="1"/>
          <p:nvPr/>
        </p:nvSpPr>
        <p:spPr>
          <a:xfrm>
            <a:off x="8813800" y="2717800"/>
            <a:ext cx="1320800" cy="369332"/>
          </a:xfrm>
          <a:prstGeom prst="rect">
            <a:avLst/>
          </a:prstGeom>
          <a:noFill/>
        </p:spPr>
        <p:txBody>
          <a:bodyPr vert="horz" wrap="square" lIns="0" tIns="0" rIns="0" bIns="0" rtlCol="0">
            <a:noAutofit/>
          </a:bodyPr>
          <a:lstStyle/>
          <a:p>
            <a:r>
              <a:rPr lang="es-ES" sz="2600" b="1">
                <a:solidFill>
                  <a:srgbClr val="F6F8FC"/>
                </a:solidFill>
                <a:latin typeface="Segoe UI" panose="020B0502040204020203" pitchFamily="34" charset="0"/>
              </a:rPr>
              <a:t>5 s</a:t>
            </a:r>
          </a:p>
        </p:txBody>
      </p:sp>
      <p:sp>
        <p:nvSpPr>
          <p:cNvPr id="10" name="CuadroTexto 9">
            <a:extLst>
              <a:ext uri="{FF2B5EF4-FFF2-40B4-BE49-F238E27FC236}">
                <a16:creationId xmlns:a16="http://schemas.microsoft.com/office/drawing/2014/main" id="{A7C95394-2369-55C4-D2CE-2A57DB9AA75F}"/>
              </a:ext>
            </a:extLst>
          </p:cNvPr>
          <p:cNvSpPr txBox="1"/>
          <p:nvPr/>
        </p:nvSpPr>
        <p:spPr>
          <a:xfrm>
            <a:off x="7924800" y="3479800"/>
            <a:ext cx="3175000" cy="369332"/>
          </a:xfrm>
          <a:prstGeom prst="rect">
            <a:avLst/>
          </a:prstGeom>
          <a:noFill/>
        </p:spPr>
        <p:txBody>
          <a:bodyPr vert="horz" wrap="square" lIns="0" tIns="0" rIns="0" bIns="0" rtlCol="0">
            <a:noAutofit/>
          </a:bodyPr>
          <a:lstStyle/>
          <a:p>
            <a:pPr marL="342900" indent="-342900">
              <a:spcAft>
                <a:spcPts val="1000"/>
              </a:spcAft>
              <a:buFont typeface="+mj-lt"/>
              <a:buChar char="•"/>
            </a:pPr>
            <a:r>
              <a:rPr lang="es-ES" sz="1600">
                <a:solidFill>
                  <a:srgbClr val="C2CBD8"/>
                </a:solidFill>
                <a:latin typeface="Segoe UI" panose="020B0502040204020203" pitchFamily="34" charset="0"/>
              </a:rPr>
              <a:t>Refresco periodico del chat y de la bandeja.</a:t>
            </a:r>
          </a:p>
          <a:p>
            <a:pPr marL="342900" indent="-342900">
              <a:spcAft>
                <a:spcPts val="1000"/>
              </a:spcAft>
              <a:buFont typeface="+mj-lt"/>
              <a:buChar char="•"/>
            </a:pPr>
            <a:r>
              <a:rPr lang="es-ES" sz="1600">
                <a:solidFill>
                  <a:srgbClr val="C2CBD8"/>
                </a:solidFill>
                <a:latin typeface="Segoe UI" panose="020B0502040204020203" pitchFamily="34" charset="0"/>
              </a:rPr>
              <a:t>Nueva carga cuando la ventana recupera el foco.</a:t>
            </a:r>
          </a:p>
          <a:p>
            <a:pPr marL="342900" indent="-342900">
              <a:spcAft>
                <a:spcPts val="1000"/>
              </a:spcAft>
              <a:buFont typeface="+mj-lt"/>
              <a:buChar char="•"/>
            </a:pPr>
            <a:r>
              <a:rPr lang="es-ES" sz="1600">
                <a:solidFill>
                  <a:srgbClr val="C2CBD8"/>
                </a:solidFill>
                <a:latin typeface="Segoe UI" panose="020B0502040204020203" pitchFamily="34" charset="0"/>
              </a:rPr>
              <a:t>La empresa tambien ve cambios en su panel externo.</a:t>
            </a:r>
          </a:p>
          <a:p>
            <a:pPr marL="342900" indent="-342900">
              <a:spcAft>
                <a:spcPts val="1000"/>
              </a:spcAft>
              <a:buFont typeface="+mj-lt"/>
              <a:buChar char="•"/>
            </a:pPr>
            <a:r>
              <a:rPr lang="es-ES" sz="1600">
                <a:solidFill>
                  <a:srgbClr val="C2CBD8"/>
                </a:solidFill>
                <a:latin typeface="Segoe UI" panose="020B0502040204020203" pitchFamily="34" charset="0"/>
              </a:rPr>
              <a:t>El rechazo queda comunicado por correo y visible en estado.</a:t>
            </a:r>
          </a:p>
        </p:txBody>
      </p:sp>
    </p:spTree>
    <p:extLst>
      <p:ext uri="{BB962C8B-B14F-4D97-AF65-F5344CB8AC3E}">
        <p14:creationId xmlns:p14="http://schemas.microsoft.com/office/powerpoint/2010/main" val="3929130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218"/>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65A8073-6239-65F9-1C6C-90322CDDE31D}"/>
              </a:ext>
            </a:extLst>
          </p:cNvPr>
          <p:cNvSpPr txBox="1"/>
          <p:nvPr/>
        </p:nvSpPr>
        <p:spPr>
          <a:xfrm>
            <a:off x="558800" y="330200"/>
            <a:ext cx="10414000" cy="369332"/>
          </a:xfrm>
          <a:prstGeom prst="rect">
            <a:avLst/>
          </a:prstGeom>
          <a:noFill/>
        </p:spPr>
        <p:txBody>
          <a:bodyPr vert="horz" wrap="square" lIns="0" tIns="0" rIns="0" bIns="0" rtlCol="0">
            <a:noAutofit/>
          </a:bodyPr>
          <a:lstStyle/>
          <a:p>
            <a:r>
              <a:rPr lang="es-ES" sz="1200" b="1">
                <a:solidFill>
                  <a:srgbClr val="DBA14D"/>
                </a:solidFill>
                <a:latin typeface="Segoe UI" panose="020B0502040204020203" pitchFamily="34" charset="0"/>
              </a:rPr>
              <a:t>12 / AGORA DESKTOP</a:t>
            </a:r>
          </a:p>
        </p:txBody>
      </p:sp>
      <p:sp>
        <p:nvSpPr>
          <p:cNvPr id="3" name="CuadroTexto 2">
            <a:extLst>
              <a:ext uri="{FF2B5EF4-FFF2-40B4-BE49-F238E27FC236}">
                <a16:creationId xmlns:a16="http://schemas.microsoft.com/office/drawing/2014/main" id="{B3B92AC7-9997-EE69-9DB7-898BC6C47F4C}"/>
              </a:ext>
            </a:extLst>
          </p:cNvPr>
          <p:cNvSpPr txBox="1"/>
          <p:nvPr/>
        </p:nvSpPr>
        <p:spPr>
          <a:xfrm>
            <a:off x="558800" y="685800"/>
            <a:ext cx="9906000" cy="369332"/>
          </a:xfrm>
          <a:prstGeom prst="rect">
            <a:avLst/>
          </a:prstGeom>
          <a:noFill/>
        </p:spPr>
        <p:txBody>
          <a:bodyPr vert="horz" wrap="square" lIns="0" tIns="0" rIns="0" bIns="0" rtlCol="0">
            <a:noAutofit/>
          </a:bodyPr>
          <a:lstStyle/>
          <a:p>
            <a:r>
              <a:rPr lang="es-ES" sz="3000" b="1">
                <a:solidFill>
                  <a:srgbClr val="F6F8FC"/>
                </a:solidFill>
                <a:latin typeface="Segoe UI" panose="020B0502040204020203" pitchFamily="34" charset="0"/>
              </a:rPr>
              <a:t>Consola tecnica local y cloud</a:t>
            </a:r>
          </a:p>
        </p:txBody>
      </p:sp>
      <p:sp>
        <p:nvSpPr>
          <p:cNvPr id="4" name="CuadroTexto 3">
            <a:extLst>
              <a:ext uri="{FF2B5EF4-FFF2-40B4-BE49-F238E27FC236}">
                <a16:creationId xmlns:a16="http://schemas.microsoft.com/office/drawing/2014/main" id="{F58B302C-CB33-8D5F-76E3-FBC04A0A6D8C}"/>
              </a:ext>
            </a:extLst>
          </p:cNvPr>
          <p:cNvSpPr txBox="1"/>
          <p:nvPr/>
        </p:nvSpPr>
        <p:spPr>
          <a:xfrm>
            <a:off x="558800" y="1422400"/>
            <a:ext cx="9144000" cy="369332"/>
          </a:xfrm>
          <a:prstGeom prst="rect">
            <a:avLst/>
          </a:prstGeom>
          <a:noFill/>
        </p:spPr>
        <p:txBody>
          <a:bodyPr vert="horz" wrap="square" lIns="0" tIns="0" rIns="0" bIns="0" rtlCol="0">
            <a:noAutofit/>
          </a:bodyPr>
          <a:lstStyle/>
          <a:p>
            <a:r>
              <a:rPr lang="es-ES" sz="1500">
                <a:solidFill>
                  <a:srgbClr val="C2CBD8"/>
                </a:solidFill>
                <a:latin typeface="Segoe UI" panose="020B0502040204020203" pitchFamily="34" charset="0"/>
              </a:rPr>
              <a:t>La parte tecnica ya no depende de varios terminales sueltos ni de una pagina web separada: queda centralizada en una sola app.</a:t>
            </a:r>
          </a:p>
        </p:txBody>
      </p:sp>
      <p:pic>
        <p:nvPicPr>
          <p:cNvPr id="6" name="Imagen 5">
            <a:extLst>
              <a:ext uri="{FF2B5EF4-FFF2-40B4-BE49-F238E27FC236}">
                <a16:creationId xmlns:a16="http://schemas.microsoft.com/office/drawing/2014/main" id="{04CBA8D3-B8F9-B6B5-A27C-6259828AE6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7471" y="1879600"/>
            <a:ext cx="3981459" cy="4038600"/>
          </a:xfrm>
          <a:prstGeom prst="rect">
            <a:avLst/>
          </a:prstGeom>
          <a:ln w="12700">
            <a:solidFill>
              <a:schemeClr val="tx1"/>
            </a:solidFill>
          </a:ln>
        </p:spPr>
      </p:pic>
      <p:sp>
        <p:nvSpPr>
          <p:cNvPr id="7" name="CuadroTexto 6">
            <a:extLst>
              <a:ext uri="{FF2B5EF4-FFF2-40B4-BE49-F238E27FC236}">
                <a16:creationId xmlns:a16="http://schemas.microsoft.com/office/drawing/2014/main" id="{1833379E-51BC-F9B4-C7BE-852BC8012B08}"/>
              </a:ext>
            </a:extLst>
          </p:cNvPr>
          <p:cNvSpPr txBox="1"/>
          <p:nvPr/>
        </p:nvSpPr>
        <p:spPr>
          <a:xfrm>
            <a:off x="6858000" y="2057400"/>
            <a:ext cx="4064000" cy="369332"/>
          </a:xfrm>
          <a:prstGeom prst="rect">
            <a:avLst/>
          </a:prstGeom>
          <a:noFill/>
        </p:spPr>
        <p:txBody>
          <a:bodyPr vert="horz" wrap="square" lIns="0" tIns="0" rIns="0" bIns="0" rtlCol="0">
            <a:noAutofit/>
          </a:bodyPr>
          <a:lstStyle/>
          <a:p>
            <a:pPr marL="342900" indent="-342900">
              <a:spcAft>
                <a:spcPts val="1000"/>
              </a:spcAft>
              <a:buFont typeface="+mj-lt"/>
              <a:buChar char="•"/>
            </a:pPr>
            <a:r>
              <a:rPr lang="es-ES" sz="1700">
                <a:solidFill>
                  <a:srgbClr val="C2CBD8"/>
                </a:solidFill>
                <a:latin typeface="Segoe UI" panose="020B0502040204020203" pitchFamily="34" charset="0"/>
              </a:rPr>
              <a:t>Modo local para backend, SQLite y demo offline.</a:t>
            </a:r>
          </a:p>
          <a:p>
            <a:pPr marL="342900" indent="-342900">
              <a:spcAft>
                <a:spcPts val="1000"/>
              </a:spcAft>
              <a:buFont typeface="+mj-lt"/>
              <a:buChar char="•"/>
            </a:pPr>
            <a:r>
              <a:rPr lang="es-ES" sz="1700">
                <a:solidFill>
                  <a:srgbClr val="C2CBD8"/>
                </a:solidFill>
                <a:latin typeface="Segoe UI" panose="020B0502040204020203" pitchFamily="34" charset="0"/>
              </a:rPr>
              <a:t>Modo cloud para estado, smoke, logs y reinicios remotos.</a:t>
            </a:r>
          </a:p>
          <a:p>
            <a:pPr marL="342900" indent="-342900">
              <a:spcAft>
                <a:spcPts val="1000"/>
              </a:spcAft>
              <a:buFont typeface="+mj-lt"/>
              <a:buChar char="•"/>
            </a:pPr>
            <a:r>
              <a:rPr lang="es-ES" sz="1700">
                <a:solidFill>
                  <a:srgbClr val="C2CBD8"/>
                </a:solidFill>
                <a:latin typeface="Segoe UI" panose="020B0502040204020203" pitchFamily="34" charset="0"/>
              </a:rPr>
              <a:t>MFA en operaciones sensibles del flujo local.</a:t>
            </a:r>
          </a:p>
          <a:p>
            <a:pPr marL="342900" indent="-342900">
              <a:spcAft>
                <a:spcPts val="1000"/>
              </a:spcAft>
              <a:buFont typeface="+mj-lt"/>
              <a:buChar char="•"/>
            </a:pPr>
            <a:r>
              <a:rPr lang="es-ES" sz="1700">
                <a:solidFill>
                  <a:srgbClr val="C2CBD8"/>
                </a:solidFill>
                <a:latin typeface="Segoe UI" panose="020B0502040204020203" pitchFamily="34" charset="0"/>
              </a:rPr>
              <a:t>Diagnostico, logs y backups desde una sola interfaz.</a:t>
            </a:r>
          </a:p>
          <a:p>
            <a:pPr marL="342900" indent="-342900">
              <a:spcAft>
                <a:spcPts val="1000"/>
              </a:spcAft>
              <a:buFont typeface="+mj-lt"/>
              <a:buChar char="•"/>
            </a:pPr>
            <a:r>
              <a:rPr lang="es-ES" sz="1700">
                <a:solidFill>
                  <a:srgbClr val="C2CBD8"/>
                </a:solidFill>
                <a:latin typeface="Segoe UI" panose="020B0502040204020203" pitchFamily="34" charset="0"/>
              </a:rPr>
              <a:t>Empaquetado Windows listo para la defensa.</a:t>
            </a:r>
          </a:p>
        </p:txBody>
      </p:sp>
    </p:spTree>
    <p:extLst>
      <p:ext uri="{BB962C8B-B14F-4D97-AF65-F5344CB8AC3E}">
        <p14:creationId xmlns:p14="http://schemas.microsoft.com/office/powerpoint/2010/main" val="4243507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218"/>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3C423A3-4388-C51F-DADE-9D4EC766E6E4}"/>
              </a:ext>
            </a:extLst>
          </p:cNvPr>
          <p:cNvSpPr txBox="1"/>
          <p:nvPr/>
        </p:nvSpPr>
        <p:spPr>
          <a:xfrm>
            <a:off x="558800" y="330200"/>
            <a:ext cx="10414000" cy="369332"/>
          </a:xfrm>
          <a:prstGeom prst="rect">
            <a:avLst/>
          </a:prstGeom>
          <a:noFill/>
        </p:spPr>
        <p:txBody>
          <a:bodyPr vert="horz" wrap="square" lIns="0" tIns="0" rIns="0" bIns="0" rtlCol="0">
            <a:noAutofit/>
          </a:bodyPr>
          <a:lstStyle/>
          <a:p>
            <a:r>
              <a:rPr lang="es-ES" sz="1200" b="1">
                <a:solidFill>
                  <a:srgbClr val="DBA14D"/>
                </a:solidFill>
                <a:latin typeface="Segoe UI" panose="020B0502040204020203" pitchFamily="34" charset="0"/>
              </a:rPr>
              <a:t>13 / OPERACION Y SEGURIDAD</a:t>
            </a:r>
          </a:p>
        </p:txBody>
      </p:sp>
      <p:sp>
        <p:nvSpPr>
          <p:cNvPr id="3" name="CuadroTexto 2">
            <a:extLst>
              <a:ext uri="{FF2B5EF4-FFF2-40B4-BE49-F238E27FC236}">
                <a16:creationId xmlns:a16="http://schemas.microsoft.com/office/drawing/2014/main" id="{A48F09ED-E24D-5D7F-1296-BAE484F0BCB9}"/>
              </a:ext>
            </a:extLst>
          </p:cNvPr>
          <p:cNvSpPr txBox="1"/>
          <p:nvPr/>
        </p:nvSpPr>
        <p:spPr>
          <a:xfrm>
            <a:off x="558800" y="685800"/>
            <a:ext cx="9906000" cy="369332"/>
          </a:xfrm>
          <a:prstGeom prst="rect">
            <a:avLst/>
          </a:prstGeom>
          <a:noFill/>
        </p:spPr>
        <p:txBody>
          <a:bodyPr vert="horz" wrap="square" lIns="0" tIns="0" rIns="0" bIns="0" rtlCol="0">
            <a:noAutofit/>
          </a:bodyPr>
          <a:lstStyle/>
          <a:p>
            <a:r>
              <a:rPr lang="es-ES" sz="3000" b="1">
                <a:solidFill>
                  <a:srgbClr val="F6F8FC"/>
                </a:solidFill>
                <a:latin typeface="Segoe UI" panose="020B0502040204020203" pitchFamily="34" charset="0"/>
              </a:rPr>
              <a:t>Autoarranque en VM y roles internos</a:t>
            </a:r>
          </a:p>
        </p:txBody>
      </p:sp>
      <p:sp>
        <p:nvSpPr>
          <p:cNvPr id="4" name="CuadroTexto 3">
            <a:extLst>
              <a:ext uri="{FF2B5EF4-FFF2-40B4-BE49-F238E27FC236}">
                <a16:creationId xmlns:a16="http://schemas.microsoft.com/office/drawing/2014/main" id="{88E90382-8740-CA42-533D-FA81BA70D83E}"/>
              </a:ext>
            </a:extLst>
          </p:cNvPr>
          <p:cNvSpPr txBox="1"/>
          <p:nvPr/>
        </p:nvSpPr>
        <p:spPr>
          <a:xfrm>
            <a:off x="558800" y="1422400"/>
            <a:ext cx="9144000" cy="369332"/>
          </a:xfrm>
          <a:prstGeom prst="rect">
            <a:avLst/>
          </a:prstGeom>
          <a:noFill/>
        </p:spPr>
        <p:txBody>
          <a:bodyPr vert="horz" wrap="square" lIns="0" tIns="0" rIns="0" bIns="0" rtlCol="0">
            <a:noAutofit/>
          </a:bodyPr>
          <a:lstStyle/>
          <a:p>
            <a:r>
              <a:rPr lang="es-ES" sz="1500">
                <a:solidFill>
                  <a:srgbClr val="C2CBD8"/>
                </a:solidFill>
                <a:latin typeface="Segoe UI" panose="020B0502040204020203" pitchFamily="34" charset="0"/>
              </a:rPr>
              <a:t>El despliegue cloud no depende de arrancarlo a mano y la base de seguridad ya separa perfiles tecnicos, funcionales y externos.</a:t>
            </a:r>
          </a:p>
        </p:txBody>
      </p:sp>
      <p:sp>
        <p:nvSpPr>
          <p:cNvPr id="5" name="Rectángulo: esquinas redondeadas 4">
            <a:extLst>
              <a:ext uri="{FF2B5EF4-FFF2-40B4-BE49-F238E27FC236}">
                <a16:creationId xmlns:a16="http://schemas.microsoft.com/office/drawing/2014/main" id="{2F4359B7-DE60-F526-D194-DF8B0395D0FC}"/>
              </a:ext>
            </a:extLst>
          </p:cNvPr>
          <p:cNvSpPr/>
          <p:nvPr/>
        </p:nvSpPr>
        <p:spPr>
          <a:xfrm>
            <a:off x="736600" y="1981200"/>
            <a:ext cx="4953000" cy="3022600"/>
          </a:xfrm>
          <a:prstGeom prst="roundRect">
            <a:avLst/>
          </a:prstGeom>
          <a:solidFill>
            <a:srgbClr val="1D2430"/>
          </a:solidFill>
          <a:ln w="12700">
            <a:solidFill>
              <a:srgbClr val="424E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7B670ACA-C49E-DB59-2D32-8E0275FF2D8E}"/>
              </a:ext>
            </a:extLst>
          </p:cNvPr>
          <p:cNvSpPr txBox="1"/>
          <p:nvPr/>
        </p:nvSpPr>
        <p:spPr>
          <a:xfrm>
            <a:off x="1092200" y="2311400"/>
            <a:ext cx="3810000" cy="369332"/>
          </a:xfrm>
          <a:prstGeom prst="rect">
            <a:avLst/>
          </a:prstGeom>
          <a:noFill/>
        </p:spPr>
        <p:txBody>
          <a:bodyPr vert="horz" wrap="square" lIns="0" tIns="0" rIns="0" bIns="0" rtlCol="0">
            <a:noAutofit/>
          </a:bodyPr>
          <a:lstStyle/>
          <a:p>
            <a:r>
              <a:rPr lang="es-ES" sz="2000" b="1">
                <a:solidFill>
                  <a:srgbClr val="DBA14D"/>
                </a:solidFill>
                <a:latin typeface="Segoe UI" panose="020B0502040204020203" pitchFamily="34" charset="0"/>
              </a:rPr>
              <a:t>Arranque automatico</a:t>
            </a:r>
          </a:p>
        </p:txBody>
      </p:sp>
      <p:sp>
        <p:nvSpPr>
          <p:cNvPr id="7" name="CuadroTexto 6">
            <a:extLst>
              <a:ext uri="{FF2B5EF4-FFF2-40B4-BE49-F238E27FC236}">
                <a16:creationId xmlns:a16="http://schemas.microsoft.com/office/drawing/2014/main" id="{AE94ECD1-A4B1-8766-06E8-2DA31E88299A}"/>
              </a:ext>
            </a:extLst>
          </p:cNvPr>
          <p:cNvSpPr txBox="1"/>
          <p:nvPr/>
        </p:nvSpPr>
        <p:spPr>
          <a:xfrm>
            <a:off x="1092200" y="2819400"/>
            <a:ext cx="4064000" cy="369332"/>
          </a:xfrm>
          <a:prstGeom prst="rect">
            <a:avLst/>
          </a:prstGeom>
          <a:noFill/>
        </p:spPr>
        <p:txBody>
          <a:bodyPr vert="horz" wrap="square" lIns="0" tIns="0" rIns="0" bIns="0" rtlCol="0">
            <a:noAutofit/>
          </a:bodyPr>
          <a:lstStyle/>
          <a:p>
            <a:r>
              <a:rPr lang="en-GB" sz="1700">
                <a:solidFill>
                  <a:srgbClr val="F6F8FC"/>
                </a:solidFill>
                <a:latin typeface="Consolas" panose="020B0609020204030204" pitchFamily="49" charset="0"/>
              </a:rPr>
              <a:t>VM -&gt; systemd -&gt; agora.service</a:t>
            </a:r>
          </a:p>
          <a:p>
            <a:r>
              <a:rPr lang="en-GB" sz="1700">
                <a:solidFill>
                  <a:srgbClr val="F6F8FC"/>
                </a:solidFill>
                <a:latin typeface="Consolas" panose="020B0609020204030204" pitchFamily="49" charset="0"/>
              </a:rPr>
              <a:t>deploy/gcp/startup.sh</a:t>
            </a:r>
          </a:p>
          <a:p>
            <a:r>
              <a:rPr lang="en-GB" sz="1700">
                <a:solidFill>
                  <a:srgbClr val="F6F8FC"/>
                </a:solidFill>
                <a:latin typeface="Consolas" panose="020B0609020204030204" pitchFamily="49" charset="0"/>
              </a:rPr>
              <a:t>docker compose up -d</a:t>
            </a:r>
            <a:endParaRPr lang="es-ES" sz="1700">
              <a:solidFill>
                <a:srgbClr val="F6F8FC"/>
              </a:solidFill>
              <a:latin typeface="Consolas" panose="020B0609020204030204" pitchFamily="49" charset="0"/>
            </a:endParaRPr>
          </a:p>
        </p:txBody>
      </p:sp>
      <p:sp>
        <p:nvSpPr>
          <p:cNvPr id="8" name="CuadroTexto 7">
            <a:extLst>
              <a:ext uri="{FF2B5EF4-FFF2-40B4-BE49-F238E27FC236}">
                <a16:creationId xmlns:a16="http://schemas.microsoft.com/office/drawing/2014/main" id="{4689625D-A50E-4153-881E-98905E45F1A3}"/>
              </a:ext>
            </a:extLst>
          </p:cNvPr>
          <p:cNvSpPr txBox="1"/>
          <p:nvPr/>
        </p:nvSpPr>
        <p:spPr>
          <a:xfrm>
            <a:off x="1117600" y="4140200"/>
            <a:ext cx="3810000" cy="369332"/>
          </a:xfrm>
          <a:prstGeom prst="rect">
            <a:avLst/>
          </a:prstGeom>
          <a:noFill/>
        </p:spPr>
        <p:txBody>
          <a:bodyPr vert="horz" wrap="square" lIns="0" tIns="0" rIns="0" bIns="0" rtlCol="0">
            <a:noAutofit/>
          </a:bodyPr>
          <a:lstStyle/>
          <a:p>
            <a:pPr marL="342900" indent="-342900">
              <a:spcAft>
                <a:spcPts val="1000"/>
              </a:spcAft>
              <a:buFont typeface="+mj-lt"/>
              <a:buChar char="•"/>
            </a:pPr>
            <a:r>
              <a:rPr lang="es-ES" sz="1400">
                <a:solidFill>
                  <a:srgbClr val="C2CBD8"/>
                </a:solidFill>
                <a:latin typeface="Segoe UI" panose="020B0502040204020203" pitchFamily="34" charset="0"/>
              </a:rPr>
              <a:t>Recalcula la URL nip.io si cambia la IP.</a:t>
            </a:r>
          </a:p>
          <a:p>
            <a:pPr marL="342900" indent="-342900">
              <a:spcAft>
                <a:spcPts val="1000"/>
              </a:spcAft>
              <a:buFont typeface="+mj-lt"/>
              <a:buChar char="•"/>
            </a:pPr>
            <a:r>
              <a:rPr lang="es-ES" sz="1400">
                <a:solidFill>
                  <a:srgbClr val="C2CBD8"/>
                </a:solidFill>
                <a:latin typeface="Segoe UI" panose="020B0502040204020203" pitchFamily="34" charset="0"/>
              </a:rPr>
              <a:t>Levanta proxy, app y PostgreSQL.</a:t>
            </a:r>
          </a:p>
        </p:txBody>
      </p:sp>
      <p:sp>
        <p:nvSpPr>
          <p:cNvPr id="9" name="Rectángulo: esquinas redondeadas 8">
            <a:extLst>
              <a:ext uri="{FF2B5EF4-FFF2-40B4-BE49-F238E27FC236}">
                <a16:creationId xmlns:a16="http://schemas.microsoft.com/office/drawing/2014/main" id="{4C9002FA-1C67-2655-43B6-41BB11D8F819}"/>
              </a:ext>
            </a:extLst>
          </p:cNvPr>
          <p:cNvSpPr/>
          <p:nvPr/>
        </p:nvSpPr>
        <p:spPr>
          <a:xfrm>
            <a:off x="6477000" y="1981200"/>
            <a:ext cx="4724400" cy="3022600"/>
          </a:xfrm>
          <a:prstGeom prst="roundRect">
            <a:avLst/>
          </a:prstGeom>
          <a:solidFill>
            <a:srgbClr val="F7FAFC"/>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25F2CB4D-004F-60FD-B354-33CE6585EB10}"/>
              </a:ext>
            </a:extLst>
          </p:cNvPr>
          <p:cNvSpPr txBox="1"/>
          <p:nvPr/>
        </p:nvSpPr>
        <p:spPr>
          <a:xfrm>
            <a:off x="6832600" y="2311400"/>
            <a:ext cx="3429000" cy="369332"/>
          </a:xfrm>
          <a:prstGeom prst="rect">
            <a:avLst/>
          </a:prstGeom>
          <a:noFill/>
        </p:spPr>
        <p:txBody>
          <a:bodyPr vert="horz" wrap="square" lIns="0" tIns="0" rIns="0" bIns="0" rtlCol="0">
            <a:noAutofit/>
          </a:bodyPr>
          <a:lstStyle/>
          <a:p>
            <a:r>
              <a:rPr lang="es-ES" sz="2000" b="1">
                <a:solidFill>
                  <a:srgbClr val="4975B0"/>
                </a:solidFill>
                <a:latin typeface="Segoe UI" panose="020B0502040204020203" pitchFamily="34" charset="0"/>
              </a:rPr>
              <a:t>Roles definidos</a:t>
            </a:r>
          </a:p>
        </p:txBody>
      </p:sp>
      <p:sp>
        <p:nvSpPr>
          <p:cNvPr id="11" name="CuadroTexto 10">
            <a:extLst>
              <a:ext uri="{FF2B5EF4-FFF2-40B4-BE49-F238E27FC236}">
                <a16:creationId xmlns:a16="http://schemas.microsoft.com/office/drawing/2014/main" id="{D80D563F-D839-D782-7232-C48939CFD72A}"/>
              </a:ext>
            </a:extLst>
          </p:cNvPr>
          <p:cNvSpPr txBox="1"/>
          <p:nvPr/>
        </p:nvSpPr>
        <p:spPr>
          <a:xfrm>
            <a:off x="6883400" y="2844800"/>
            <a:ext cx="3632200" cy="369332"/>
          </a:xfrm>
          <a:prstGeom prst="rect">
            <a:avLst/>
          </a:prstGeom>
          <a:noFill/>
        </p:spPr>
        <p:txBody>
          <a:bodyPr vert="horz" wrap="square" lIns="0" tIns="0" rIns="0" bIns="0" rtlCol="0">
            <a:noAutofit/>
          </a:bodyPr>
          <a:lstStyle/>
          <a:p>
            <a:pPr marL="342900" indent="-342900">
              <a:spcAft>
                <a:spcPts val="1000"/>
              </a:spcAft>
              <a:buFont typeface="+mj-lt"/>
              <a:buChar char="•"/>
            </a:pPr>
            <a:r>
              <a:rPr lang="es-ES" sz="1300">
                <a:solidFill>
                  <a:srgbClr val="1F2937"/>
                </a:solidFill>
                <a:latin typeface="Segoe UI" panose="020B0502040204020203" pitchFamily="34" charset="0"/>
              </a:rPr>
              <a:t>ADMIN: control completo.</a:t>
            </a:r>
          </a:p>
          <a:p>
            <a:pPr marL="342900" indent="-342900">
              <a:spcAft>
                <a:spcPts val="1000"/>
              </a:spcAft>
              <a:buFont typeface="+mj-lt"/>
              <a:buChar char="•"/>
            </a:pPr>
            <a:r>
              <a:rPr lang="es-ES" sz="1300">
                <a:solidFill>
                  <a:srgbClr val="1F2937"/>
                </a:solidFill>
                <a:latin typeface="Segoe UI" panose="020B0502040204020203" pitchFamily="34" charset="0"/>
              </a:rPr>
              <a:t>COORDINATOR: flujo academico.</a:t>
            </a:r>
          </a:p>
          <a:p>
            <a:pPr marL="342900" indent="-342900">
              <a:spcAft>
                <a:spcPts val="1000"/>
              </a:spcAft>
              <a:buFont typeface="+mj-lt"/>
              <a:buChar char="•"/>
            </a:pPr>
            <a:r>
              <a:rPr lang="es-ES" sz="1300">
                <a:solidFill>
                  <a:srgbClr val="1F2937"/>
                </a:solidFill>
                <a:latin typeface="Segoe UI" panose="020B0502040204020203" pitchFamily="34" charset="0"/>
              </a:rPr>
              <a:t>DOCUMENT_MANAGER: documentos.</a:t>
            </a:r>
          </a:p>
          <a:p>
            <a:pPr marL="342900" indent="-342900">
              <a:spcAft>
                <a:spcPts val="1000"/>
              </a:spcAft>
              <a:buFont typeface="+mj-lt"/>
              <a:buChar char="•"/>
            </a:pPr>
            <a:r>
              <a:rPr lang="es-ES" sz="1300">
                <a:solidFill>
                  <a:srgbClr val="1F2937"/>
                </a:solidFill>
                <a:latin typeface="Segoe UI" panose="020B0502040204020203" pitchFamily="34" charset="0"/>
              </a:rPr>
              <a:t>MONITOR: logs y consola tecnica.</a:t>
            </a:r>
          </a:p>
          <a:p>
            <a:pPr marL="342900" indent="-342900">
              <a:spcAft>
                <a:spcPts val="1000"/>
              </a:spcAft>
              <a:buFont typeface="+mj-lt"/>
              <a:buChar char="•"/>
            </a:pPr>
            <a:r>
              <a:rPr lang="es-ES" sz="1300">
                <a:solidFill>
                  <a:srgbClr val="1F2937"/>
                </a:solidFill>
                <a:latin typeface="Segoe UI" panose="020B0502040204020203" pitchFamily="34" charset="0"/>
              </a:rPr>
              <a:t>COMPANY_PORTAL: empresa externa.</a:t>
            </a:r>
          </a:p>
        </p:txBody>
      </p:sp>
      <p:sp>
        <p:nvSpPr>
          <p:cNvPr id="12" name="CuadroTexto 11">
            <a:extLst>
              <a:ext uri="{FF2B5EF4-FFF2-40B4-BE49-F238E27FC236}">
                <a16:creationId xmlns:a16="http://schemas.microsoft.com/office/drawing/2014/main" id="{1C487B9B-BA48-A165-770D-45103B967366}"/>
              </a:ext>
            </a:extLst>
          </p:cNvPr>
          <p:cNvSpPr txBox="1"/>
          <p:nvPr/>
        </p:nvSpPr>
        <p:spPr>
          <a:xfrm>
            <a:off x="6858000" y="4546600"/>
            <a:ext cx="3810000" cy="369332"/>
          </a:xfrm>
          <a:prstGeom prst="rect">
            <a:avLst/>
          </a:prstGeom>
          <a:noFill/>
        </p:spPr>
        <p:txBody>
          <a:bodyPr vert="horz" wrap="square" lIns="0" tIns="0" rIns="0" bIns="0" rtlCol="0">
            <a:noAutofit/>
          </a:bodyPr>
          <a:lstStyle/>
          <a:p>
            <a:r>
              <a:rPr lang="es-ES" sz="1200">
                <a:solidFill>
                  <a:srgbClr val="C2CBD8"/>
                </a:solidFill>
                <a:latin typeface="Segoe UI" panose="020B0502040204020203" pitchFamily="34" charset="0"/>
              </a:rPr>
              <a:t>Futuro: permisos finos y perfiles de solo lectura.</a:t>
            </a:r>
          </a:p>
        </p:txBody>
      </p:sp>
      <p:sp>
        <p:nvSpPr>
          <p:cNvPr id="13" name="CuadroTexto 12">
            <a:extLst>
              <a:ext uri="{FF2B5EF4-FFF2-40B4-BE49-F238E27FC236}">
                <a16:creationId xmlns:a16="http://schemas.microsoft.com/office/drawing/2014/main" id="{39EFF52E-0F4E-D6D1-C885-16A79F83F54C}"/>
              </a:ext>
            </a:extLst>
          </p:cNvPr>
          <p:cNvSpPr txBox="1"/>
          <p:nvPr/>
        </p:nvSpPr>
        <p:spPr>
          <a:xfrm>
            <a:off x="939800" y="5461000"/>
            <a:ext cx="9906000" cy="369332"/>
          </a:xfrm>
          <a:prstGeom prst="rect">
            <a:avLst/>
          </a:prstGeom>
          <a:noFill/>
        </p:spPr>
        <p:txBody>
          <a:bodyPr vert="horz" wrap="square" lIns="0" tIns="0" rIns="0" bIns="0" rtlCol="0">
            <a:noAutofit/>
          </a:bodyPr>
          <a:lstStyle/>
          <a:p>
            <a:r>
              <a:rPr lang="es-ES" sz="1500">
                <a:solidFill>
                  <a:srgbClr val="C2CBD8"/>
                </a:solidFill>
                <a:latin typeface="Segoe UI" panose="020B0502040204020203" pitchFamily="34" charset="0"/>
              </a:rPr>
              <a:t>Justificacion: cierro el despliegue cloud con arranque reproducible y dejo preparada la separacion de permisos para evolucionar de demo funcional a entorno multiusuario real.</a:t>
            </a:r>
          </a:p>
        </p:txBody>
      </p:sp>
    </p:spTree>
    <p:extLst>
      <p:ext uri="{BB962C8B-B14F-4D97-AF65-F5344CB8AC3E}">
        <p14:creationId xmlns:p14="http://schemas.microsoft.com/office/powerpoint/2010/main" val="2832636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218"/>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0AF8DE1-B239-16D5-E9CA-03C623C151A9}"/>
              </a:ext>
            </a:extLst>
          </p:cNvPr>
          <p:cNvSpPr txBox="1"/>
          <p:nvPr/>
        </p:nvSpPr>
        <p:spPr>
          <a:xfrm>
            <a:off x="558800" y="330200"/>
            <a:ext cx="10414000" cy="369332"/>
          </a:xfrm>
          <a:prstGeom prst="rect">
            <a:avLst/>
          </a:prstGeom>
          <a:noFill/>
        </p:spPr>
        <p:txBody>
          <a:bodyPr vert="horz" wrap="square" lIns="0" tIns="0" rIns="0" bIns="0" rtlCol="0">
            <a:noAutofit/>
          </a:bodyPr>
          <a:lstStyle/>
          <a:p>
            <a:r>
              <a:rPr lang="es-ES" sz="1200" b="1">
                <a:solidFill>
                  <a:srgbClr val="DBA14D"/>
                </a:solidFill>
                <a:latin typeface="Segoe UI" panose="020B0502040204020203" pitchFamily="34" charset="0"/>
              </a:rPr>
              <a:t>14 / VALIDACION</a:t>
            </a:r>
          </a:p>
        </p:txBody>
      </p:sp>
      <p:sp>
        <p:nvSpPr>
          <p:cNvPr id="3" name="CuadroTexto 2">
            <a:extLst>
              <a:ext uri="{FF2B5EF4-FFF2-40B4-BE49-F238E27FC236}">
                <a16:creationId xmlns:a16="http://schemas.microsoft.com/office/drawing/2014/main" id="{2F093064-14A1-B9A3-BF8C-3FAB78E7AE1E}"/>
              </a:ext>
            </a:extLst>
          </p:cNvPr>
          <p:cNvSpPr txBox="1"/>
          <p:nvPr/>
        </p:nvSpPr>
        <p:spPr>
          <a:xfrm>
            <a:off x="558800" y="685800"/>
            <a:ext cx="9906000" cy="369332"/>
          </a:xfrm>
          <a:prstGeom prst="rect">
            <a:avLst/>
          </a:prstGeom>
          <a:noFill/>
        </p:spPr>
        <p:txBody>
          <a:bodyPr vert="horz" wrap="square" lIns="0" tIns="0" rIns="0" bIns="0" rtlCol="0">
            <a:noAutofit/>
          </a:bodyPr>
          <a:lstStyle/>
          <a:p>
            <a:r>
              <a:rPr lang="es-ES" sz="3000" b="1">
                <a:solidFill>
                  <a:srgbClr val="F6F8FC"/>
                </a:solidFill>
                <a:latin typeface="Segoe UI" panose="020B0502040204020203" pitchFamily="34" charset="0"/>
              </a:rPr>
              <a:t>Comprobaciones ejecutadas antes de la revision final</a:t>
            </a:r>
          </a:p>
        </p:txBody>
      </p:sp>
      <p:sp>
        <p:nvSpPr>
          <p:cNvPr id="4" name="Rectángulo: esquinas redondeadas 3">
            <a:extLst>
              <a:ext uri="{FF2B5EF4-FFF2-40B4-BE49-F238E27FC236}">
                <a16:creationId xmlns:a16="http://schemas.microsoft.com/office/drawing/2014/main" id="{63761DE4-6D25-4140-CE56-872F995317C7}"/>
              </a:ext>
            </a:extLst>
          </p:cNvPr>
          <p:cNvSpPr/>
          <p:nvPr/>
        </p:nvSpPr>
        <p:spPr>
          <a:xfrm>
            <a:off x="889000" y="2057400"/>
            <a:ext cx="2413000" cy="1193800"/>
          </a:xfrm>
          <a:prstGeom prst="roundRect">
            <a:avLst/>
          </a:prstGeom>
          <a:solidFill>
            <a:srgbClr val="F7FAFC"/>
          </a:solidFill>
          <a:ln w="12700">
            <a:solidFill>
              <a:srgbClr val="DCE2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0E57D432-7F74-4C12-D53A-5EB9BD8334C9}"/>
              </a:ext>
            </a:extLst>
          </p:cNvPr>
          <p:cNvSpPr txBox="1"/>
          <p:nvPr/>
        </p:nvSpPr>
        <p:spPr>
          <a:xfrm>
            <a:off x="1117600" y="2222500"/>
            <a:ext cx="1905000" cy="369332"/>
          </a:xfrm>
          <a:prstGeom prst="rect">
            <a:avLst/>
          </a:prstGeom>
          <a:noFill/>
        </p:spPr>
        <p:txBody>
          <a:bodyPr vert="horz" wrap="square" lIns="0" tIns="0" rIns="0" bIns="0" rtlCol="0">
            <a:noAutofit/>
          </a:bodyPr>
          <a:lstStyle/>
          <a:p>
            <a:r>
              <a:rPr lang="es-ES" sz="2600" b="1">
                <a:solidFill>
                  <a:srgbClr val="41A772"/>
                </a:solidFill>
                <a:latin typeface="Segoe UI" panose="020B0502040204020203" pitchFamily="34" charset="0"/>
              </a:rPr>
              <a:t>110</a:t>
            </a:r>
          </a:p>
        </p:txBody>
      </p:sp>
      <p:sp>
        <p:nvSpPr>
          <p:cNvPr id="6" name="CuadroTexto 5">
            <a:extLst>
              <a:ext uri="{FF2B5EF4-FFF2-40B4-BE49-F238E27FC236}">
                <a16:creationId xmlns:a16="http://schemas.microsoft.com/office/drawing/2014/main" id="{5D498C38-9036-F97F-DE91-B9F00BC7CE9D}"/>
              </a:ext>
            </a:extLst>
          </p:cNvPr>
          <p:cNvSpPr txBox="1"/>
          <p:nvPr/>
        </p:nvSpPr>
        <p:spPr>
          <a:xfrm>
            <a:off x="1117600" y="2717800"/>
            <a:ext cx="1905000" cy="381000"/>
          </a:xfrm>
          <a:prstGeom prst="rect">
            <a:avLst/>
          </a:prstGeom>
          <a:noFill/>
        </p:spPr>
        <p:txBody>
          <a:bodyPr vert="horz" wrap="square" lIns="0" tIns="0" rIns="0" bIns="0" rtlCol="0">
            <a:noAutofit/>
          </a:bodyPr>
          <a:lstStyle/>
          <a:p>
            <a:r>
              <a:rPr lang="es-ES" sz="1300">
                <a:solidFill>
                  <a:srgbClr val="1F2937"/>
                </a:solidFill>
                <a:latin typeface="Segoe UI" panose="020B0502040204020203" pitchFamily="34" charset="0"/>
              </a:rPr>
              <a:t>tests backend</a:t>
            </a:r>
          </a:p>
        </p:txBody>
      </p:sp>
      <p:sp>
        <p:nvSpPr>
          <p:cNvPr id="7" name="Rectángulo: esquinas redondeadas 6">
            <a:extLst>
              <a:ext uri="{FF2B5EF4-FFF2-40B4-BE49-F238E27FC236}">
                <a16:creationId xmlns:a16="http://schemas.microsoft.com/office/drawing/2014/main" id="{C8DBBF70-4C21-DAF6-D05F-874C7F497F53}"/>
              </a:ext>
            </a:extLst>
          </p:cNvPr>
          <p:cNvSpPr/>
          <p:nvPr/>
        </p:nvSpPr>
        <p:spPr>
          <a:xfrm>
            <a:off x="3708400" y="2057400"/>
            <a:ext cx="2413000" cy="1193800"/>
          </a:xfrm>
          <a:prstGeom prst="roundRect">
            <a:avLst/>
          </a:prstGeom>
          <a:solidFill>
            <a:srgbClr val="F7FAFC"/>
          </a:solidFill>
          <a:ln w="12700">
            <a:solidFill>
              <a:srgbClr val="DCE2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a:extLst>
              <a:ext uri="{FF2B5EF4-FFF2-40B4-BE49-F238E27FC236}">
                <a16:creationId xmlns:a16="http://schemas.microsoft.com/office/drawing/2014/main" id="{A526B1A9-4089-5A30-4816-E8C67EB43E97}"/>
              </a:ext>
            </a:extLst>
          </p:cNvPr>
          <p:cNvSpPr txBox="1"/>
          <p:nvPr/>
        </p:nvSpPr>
        <p:spPr>
          <a:xfrm>
            <a:off x="3937000" y="2222500"/>
            <a:ext cx="1905000" cy="369332"/>
          </a:xfrm>
          <a:prstGeom prst="rect">
            <a:avLst/>
          </a:prstGeom>
          <a:noFill/>
        </p:spPr>
        <p:txBody>
          <a:bodyPr vert="horz" wrap="square" lIns="0" tIns="0" rIns="0" bIns="0" rtlCol="0">
            <a:noAutofit/>
          </a:bodyPr>
          <a:lstStyle/>
          <a:p>
            <a:r>
              <a:rPr lang="es-ES" sz="2600" b="1">
                <a:solidFill>
                  <a:srgbClr val="49B1D2"/>
                </a:solidFill>
                <a:latin typeface="Segoe UI" panose="020B0502040204020203" pitchFamily="34" charset="0"/>
              </a:rPr>
              <a:t>628</a:t>
            </a:r>
          </a:p>
        </p:txBody>
      </p:sp>
      <p:sp>
        <p:nvSpPr>
          <p:cNvPr id="9" name="CuadroTexto 8">
            <a:extLst>
              <a:ext uri="{FF2B5EF4-FFF2-40B4-BE49-F238E27FC236}">
                <a16:creationId xmlns:a16="http://schemas.microsoft.com/office/drawing/2014/main" id="{3B29706D-9BC8-B098-DE32-38B5805D1DCE}"/>
              </a:ext>
            </a:extLst>
          </p:cNvPr>
          <p:cNvSpPr txBox="1"/>
          <p:nvPr/>
        </p:nvSpPr>
        <p:spPr>
          <a:xfrm>
            <a:off x="3937000" y="2717800"/>
            <a:ext cx="1905000" cy="381000"/>
          </a:xfrm>
          <a:prstGeom prst="rect">
            <a:avLst/>
          </a:prstGeom>
          <a:noFill/>
        </p:spPr>
        <p:txBody>
          <a:bodyPr vert="horz" wrap="square" lIns="0" tIns="0" rIns="0" bIns="0" rtlCol="0">
            <a:noAutofit/>
          </a:bodyPr>
          <a:lstStyle/>
          <a:p>
            <a:r>
              <a:rPr lang="es-ES" sz="1300">
                <a:solidFill>
                  <a:srgbClr val="1F2937"/>
                </a:solidFill>
                <a:latin typeface="Segoe UI" panose="020B0502040204020203" pitchFamily="34" charset="0"/>
              </a:rPr>
              <a:t>aserciones</a:t>
            </a:r>
          </a:p>
        </p:txBody>
      </p:sp>
      <p:sp>
        <p:nvSpPr>
          <p:cNvPr id="10" name="Rectángulo: esquinas redondeadas 9">
            <a:extLst>
              <a:ext uri="{FF2B5EF4-FFF2-40B4-BE49-F238E27FC236}">
                <a16:creationId xmlns:a16="http://schemas.microsoft.com/office/drawing/2014/main" id="{8A4C206B-7D02-4F76-5F20-62CBEC6B6869}"/>
              </a:ext>
            </a:extLst>
          </p:cNvPr>
          <p:cNvSpPr/>
          <p:nvPr/>
        </p:nvSpPr>
        <p:spPr>
          <a:xfrm>
            <a:off x="6527800" y="2057400"/>
            <a:ext cx="2413000" cy="1193800"/>
          </a:xfrm>
          <a:prstGeom prst="roundRect">
            <a:avLst/>
          </a:prstGeom>
          <a:solidFill>
            <a:srgbClr val="F7FAFC"/>
          </a:solidFill>
          <a:ln w="12700">
            <a:solidFill>
              <a:srgbClr val="DCE2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CuadroTexto 10">
            <a:extLst>
              <a:ext uri="{FF2B5EF4-FFF2-40B4-BE49-F238E27FC236}">
                <a16:creationId xmlns:a16="http://schemas.microsoft.com/office/drawing/2014/main" id="{64315C01-1D97-E8B7-D926-848F5C4D1060}"/>
              </a:ext>
            </a:extLst>
          </p:cNvPr>
          <p:cNvSpPr txBox="1"/>
          <p:nvPr/>
        </p:nvSpPr>
        <p:spPr>
          <a:xfrm>
            <a:off x="6756400" y="2222500"/>
            <a:ext cx="1905000" cy="369332"/>
          </a:xfrm>
          <a:prstGeom prst="rect">
            <a:avLst/>
          </a:prstGeom>
          <a:noFill/>
        </p:spPr>
        <p:txBody>
          <a:bodyPr vert="horz" wrap="square" lIns="0" tIns="0" rIns="0" bIns="0" rtlCol="0">
            <a:noAutofit/>
          </a:bodyPr>
          <a:lstStyle/>
          <a:p>
            <a:r>
              <a:rPr lang="es-ES" sz="2600" b="1">
                <a:solidFill>
                  <a:srgbClr val="41A772"/>
                </a:solidFill>
                <a:latin typeface="Segoe UI" panose="020B0502040204020203" pitchFamily="34" charset="0"/>
              </a:rPr>
              <a:t>14/14</a:t>
            </a:r>
          </a:p>
        </p:txBody>
      </p:sp>
      <p:sp>
        <p:nvSpPr>
          <p:cNvPr id="12" name="CuadroTexto 11">
            <a:extLst>
              <a:ext uri="{FF2B5EF4-FFF2-40B4-BE49-F238E27FC236}">
                <a16:creationId xmlns:a16="http://schemas.microsoft.com/office/drawing/2014/main" id="{1BB8BE17-E927-0168-99FE-74822B2B6787}"/>
              </a:ext>
            </a:extLst>
          </p:cNvPr>
          <p:cNvSpPr txBox="1"/>
          <p:nvPr/>
        </p:nvSpPr>
        <p:spPr>
          <a:xfrm>
            <a:off x="6756400" y="2717800"/>
            <a:ext cx="1905000" cy="381000"/>
          </a:xfrm>
          <a:prstGeom prst="rect">
            <a:avLst/>
          </a:prstGeom>
          <a:noFill/>
        </p:spPr>
        <p:txBody>
          <a:bodyPr vert="horz" wrap="square" lIns="0" tIns="0" rIns="0" bIns="0" rtlCol="0">
            <a:noAutofit/>
          </a:bodyPr>
          <a:lstStyle/>
          <a:p>
            <a:r>
              <a:rPr lang="es-ES" sz="1300">
                <a:solidFill>
                  <a:srgbClr val="1F2937"/>
                </a:solidFill>
                <a:latin typeface="Segoe UI" panose="020B0502040204020203" pitchFamily="34" charset="0"/>
              </a:rPr>
              <a:t>tests frontend</a:t>
            </a:r>
          </a:p>
        </p:txBody>
      </p:sp>
      <p:sp>
        <p:nvSpPr>
          <p:cNvPr id="13" name="Rectángulo: esquinas redondeadas 12">
            <a:extLst>
              <a:ext uri="{FF2B5EF4-FFF2-40B4-BE49-F238E27FC236}">
                <a16:creationId xmlns:a16="http://schemas.microsoft.com/office/drawing/2014/main" id="{C483D33C-3B97-9682-993E-A27AA1109E4C}"/>
              </a:ext>
            </a:extLst>
          </p:cNvPr>
          <p:cNvSpPr/>
          <p:nvPr/>
        </p:nvSpPr>
        <p:spPr>
          <a:xfrm>
            <a:off x="9347200" y="2057400"/>
            <a:ext cx="2413000" cy="1193800"/>
          </a:xfrm>
          <a:prstGeom prst="roundRect">
            <a:avLst/>
          </a:prstGeom>
          <a:solidFill>
            <a:srgbClr val="F7FAFC"/>
          </a:solidFill>
          <a:ln w="12700">
            <a:solidFill>
              <a:srgbClr val="DCE2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8A47BC40-1740-DD17-DDAD-74215E9C786C}"/>
              </a:ext>
            </a:extLst>
          </p:cNvPr>
          <p:cNvSpPr txBox="1"/>
          <p:nvPr/>
        </p:nvSpPr>
        <p:spPr>
          <a:xfrm>
            <a:off x="9575800" y="2222500"/>
            <a:ext cx="1905000" cy="369332"/>
          </a:xfrm>
          <a:prstGeom prst="rect">
            <a:avLst/>
          </a:prstGeom>
          <a:noFill/>
        </p:spPr>
        <p:txBody>
          <a:bodyPr vert="horz" wrap="square" lIns="0" tIns="0" rIns="0" bIns="0" rtlCol="0">
            <a:noAutofit/>
          </a:bodyPr>
          <a:lstStyle/>
          <a:p>
            <a:r>
              <a:rPr lang="es-ES" sz="2600" b="1">
                <a:solidFill>
                  <a:srgbClr val="41A772"/>
                </a:solidFill>
                <a:latin typeface="Segoe UI" panose="020B0502040204020203" pitchFamily="34" charset="0"/>
              </a:rPr>
              <a:t>6/6</a:t>
            </a:r>
          </a:p>
        </p:txBody>
      </p:sp>
      <p:sp>
        <p:nvSpPr>
          <p:cNvPr id="15" name="CuadroTexto 14">
            <a:extLst>
              <a:ext uri="{FF2B5EF4-FFF2-40B4-BE49-F238E27FC236}">
                <a16:creationId xmlns:a16="http://schemas.microsoft.com/office/drawing/2014/main" id="{CCB5C112-73AA-1592-824D-6B94A154D447}"/>
              </a:ext>
            </a:extLst>
          </p:cNvPr>
          <p:cNvSpPr txBox="1"/>
          <p:nvPr/>
        </p:nvSpPr>
        <p:spPr>
          <a:xfrm>
            <a:off x="9575800" y="2717800"/>
            <a:ext cx="1905000" cy="381000"/>
          </a:xfrm>
          <a:prstGeom prst="rect">
            <a:avLst/>
          </a:prstGeom>
          <a:noFill/>
        </p:spPr>
        <p:txBody>
          <a:bodyPr vert="horz" wrap="square" lIns="0" tIns="0" rIns="0" bIns="0" rtlCol="0">
            <a:noAutofit/>
          </a:bodyPr>
          <a:lstStyle/>
          <a:p>
            <a:r>
              <a:rPr lang="es-ES" sz="1300">
                <a:solidFill>
                  <a:srgbClr val="1F2937"/>
                </a:solidFill>
                <a:latin typeface="Segoe UI" panose="020B0502040204020203" pitchFamily="34" charset="0"/>
              </a:rPr>
              <a:t>E2E Playwright</a:t>
            </a:r>
          </a:p>
        </p:txBody>
      </p:sp>
      <p:sp>
        <p:nvSpPr>
          <p:cNvPr id="16" name="CuadroTexto 15">
            <a:extLst>
              <a:ext uri="{FF2B5EF4-FFF2-40B4-BE49-F238E27FC236}">
                <a16:creationId xmlns:a16="http://schemas.microsoft.com/office/drawing/2014/main" id="{C2F7DDF2-1E8B-6D53-9FC1-16DE85B754EA}"/>
              </a:ext>
            </a:extLst>
          </p:cNvPr>
          <p:cNvSpPr txBox="1"/>
          <p:nvPr/>
        </p:nvSpPr>
        <p:spPr>
          <a:xfrm>
            <a:off x="1193800" y="3987800"/>
            <a:ext cx="9398000" cy="369332"/>
          </a:xfrm>
          <a:prstGeom prst="rect">
            <a:avLst/>
          </a:prstGeom>
          <a:noFill/>
        </p:spPr>
        <p:txBody>
          <a:bodyPr vert="horz" wrap="square" lIns="0" tIns="0" rIns="0" bIns="0" rtlCol="0">
            <a:noAutofit/>
          </a:bodyPr>
          <a:lstStyle/>
          <a:p>
            <a:pPr marL="342900" indent="-342900">
              <a:spcAft>
                <a:spcPts val="1000"/>
              </a:spcAft>
              <a:buFont typeface="+mj-lt"/>
              <a:buChar char="•"/>
            </a:pPr>
            <a:r>
              <a:rPr lang="es-ES">
                <a:solidFill>
                  <a:srgbClr val="C2CBD8"/>
                </a:solidFill>
                <a:latin typeface="Segoe UI" panose="020B0502040204020203" pitchFamily="34" charset="0"/>
              </a:rPr>
              <a:t>Build integrada de /app y /externo publicada en Symfony.</a:t>
            </a:r>
          </a:p>
          <a:p>
            <a:pPr marL="342900" indent="-342900">
              <a:spcAft>
                <a:spcPts val="1000"/>
              </a:spcAft>
              <a:buFont typeface="+mj-lt"/>
              <a:buChar char="•"/>
            </a:pPr>
            <a:r>
              <a:rPr lang="es-ES">
                <a:solidFill>
                  <a:srgbClr val="C2CBD8"/>
                </a:solidFill>
                <a:latin typeface="Segoe UI" panose="020B0502040204020203" pitchFamily="34" charset="0"/>
              </a:rPr>
              <a:t>Verificados correo, rechazo, URLs publicas, chat y consola tecnica de escritorio.</a:t>
            </a:r>
          </a:p>
          <a:p>
            <a:pPr marL="342900" indent="-342900">
              <a:spcAft>
                <a:spcPts val="1000"/>
              </a:spcAft>
              <a:buFont typeface="+mj-lt"/>
              <a:buChar char="•"/>
            </a:pPr>
            <a:r>
              <a:rPr lang="es-ES">
                <a:solidFill>
                  <a:srgbClr val="C2CBD8"/>
                </a:solidFill>
                <a:latin typeface="Segoe UI" panose="020B0502040204020203" pitchFamily="34" charset="0"/>
              </a:rPr>
              <a:t>Tambien se ha validado el empaquetado Windows con PHP embebido y SQLite.</a:t>
            </a:r>
          </a:p>
        </p:txBody>
      </p:sp>
      <p:sp>
        <p:nvSpPr>
          <p:cNvPr id="17" name="CuadroTexto 16">
            <a:extLst>
              <a:ext uri="{FF2B5EF4-FFF2-40B4-BE49-F238E27FC236}">
                <a16:creationId xmlns:a16="http://schemas.microsoft.com/office/drawing/2014/main" id="{DD276DE3-694C-571E-3D3B-4DC79A6A5CC6}"/>
              </a:ext>
            </a:extLst>
          </p:cNvPr>
          <p:cNvSpPr txBox="1"/>
          <p:nvPr/>
        </p:nvSpPr>
        <p:spPr>
          <a:xfrm>
            <a:off x="1193800" y="5562600"/>
            <a:ext cx="9271000" cy="369332"/>
          </a:xfrm>
          <a:prstGeom prst="rect">
            <a:avLst/>
          </a:prstGeom>
          <a:noFill/>
        </p:spPr>
        <p:txBody>
          <a:bodyPr vert="horz" wrap="square" lIns="0" tIns="0" rIns="0" bIns="0" rtlCol="0">
            <a:noAutofit/>
          </a:bodyPr>
          <a:lstStyle/>
          <a:p>
            <a:r>
              <a:rPr lang="es-ES" sz="1400">
                <a:solidFill>
                  <a:srgbClr val="C2CBD8"/>
                </a:solidFill>
                <a:latin typeface="Segoe UI" panose="020B0502040204020203" pitchFamily="34" charset="0"/>
              </a:rPr>
              <a:t>Queda una deprecacion tecnica de PHPUnit, no bloqueante para la demo ni para la funcionalidad.</a:t>
            </a:r>
          </a:p>
        </p:txBody>
      </p:sp>
    </p:spTree>
    <p:extLst>
      <p:ext uri="{BB962C8B-B14F-4D97-AF65-F5344CB8AC3E}">
        <p14:creationId xmlns:p14="http://schemas.microsoft.com/office/powerpoint/2010/main" val="1089190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218"/>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287D721-EA82-3258-D9E0-06BF24F3B93A}"/>
              </a:ext>
            </a:extLst>
          </p:cNvPr>
          <p:cNvSpPr txBox="1"/>
          <p:nvPr/>
        </p:nvSpPr>
        <p:spPr>
          <a:xfrm>
            <a:off x="558800" y="330200"/>
            <a:ext cx="10414000" cy="369332"/>
          </a:xfrm>
          <a:prstGeom prst="rect">
            <a:avLst/>
          </a:prstGeom>
          <a:noFill/>
        </p:spPr>
        <p:txBody>
          <a:bodyPr vert="horz" wrap="square" lIns="0" tIns="0" rIns="0" bIns="0" rtlCol="0">
            <a:noAutofit/>
          </a:bodyPr>
          <a:lstStyle/>
          <a:p>
            <a:r>
              <a:rPr lang="es-ES" sz="1200" b="1">
                <a:solidFill>
                  <a:srgbClr val="DBA14D"/>
                </a:solidFill>
                <a:latin typeface="Segoe UI" panose="020B0502040204020203" pitchFamily="34" charset="0"/>
              </a:rPr>
              <a:t>15 / ACCESO DE EVALUACION</a:t>
            </a:r>
          </a:p>
        </p:txBody>
      </p:sp>
      <p:sp>
        <p:nvSpPr>
          <p:cNvPr id="3" name="CuadroTexto 2">
            <a:extLst>
              <a:ext uri="{FF2B5EF4-FFF2-40B4-BE49-F238E27FC236}">
                <a16:creationId xmlns:a16="http://schemas.microsoft.com/office/drawing/2014/main" id="{0E527FF5-ACB5-73F1-05A8-B65174048BAD}"/>
              </a:ext>
            </a:extLst>
          </p:cNvPr>
          <p:cNvSpPr txBox="1"/>
          <p:nvPr/>
        </p:nvSpPr>
        <p:spPr>
          <a:xfrm>
            <a:off x="558800" y="685800"/>
            <a:ext cx="9906000" cy="369332"/>
          </a:xfrm>
          <a:prstGeom prst="rect">
            <a:avLst/>
          </a:prstGeom>
          <a:noFill/>
        </p:spPr>
        <p:txBody>
          <a:bodyPr vert="horz" wrap="square" lIns="0" tIns="0" rIns="0" bIns="0" rtlCol="0">
            <a:noAutofit/>
          </a:bodyPr>
          <a:lstStyle/>
          <a:p>
            <a:r>
              <a:rPr lang="es-ES" sz="3000" b="1">
                <a:solidFill>
                  <a:srgbClr val="F6F8FC"/>
                </a:solidFill>
                <a:latin typeface="Segoe UI" panose="020B0502040204020203" pitchFamily="34" charset="0"/>
              </a:rPr>
              <a:t>Como puede probarla la profesora desde fuera</a:t>
            </a:r>
          </a:p>
        </p:txBody>
      </p:sp>
      <p:sp>
        <p:nvSpPr>
          <p:cNvPr id="4" name="CuadroTexto 3">
            <a:extLst>
              <a:ext uri="{FF2B5EF4-FFF2-40B4-BE49-F238E27FC236}">
                <a16:creationId xmlns:a16="http://schemas.microsoft.com/office/drawing/2014/main" id="{2F93B62E-C7D2-9617-F6D3-704940E41714}"/>
              </a:ext>
            </a:extLst>
          </p:cNvPr>
          <p:cNvSpPr txBox="1"/>
          <p:nvPr/>
        </p:nvSpPr>
        <p:spPr>
          <a:xfrm>
            <a:off x="558800" y="1422400"/>
            <a:ext cx="9144000" cy="369332"/>
          </a:xfrm>
          <a:prstGeom prst="rect">
            <a:avLst/>
          </a:prstGeom>
          <a:noFill/>
        </p:spPr>
        <p:txBody>
          <a:bodyPr vert="horz" wrap="square" lIns="0" tIns="0" rIns="0" bIns="0" rtlCol="0">
            <a:noAutofit/>
          </a:bodyPr>
          <a:lstStyle/>
          <a:p>
            <a:r>
              <a:rPr lang="es-ES" sz="1500">
                <a:solidFill>
                  <a:srgbClr val="C2CBD8"/>
                </a:solidFill>
                <a:latin typeface="Segoe UI" panose="020B0502040204020203" pitchFamily="34" charset="0"/>
              </a:rPr>
              <a:t>Con la VM levantada no necesita instalar dependencias en su equipo.</a:t>
            </a:r>
          </a:p>
        </p:txBody>
      </p:sp>
      <p:sp>
        <p:nvSpPr>
          <p:cNvPr id="5" name="Rectángulo: esquinas redondeadas 4">
            <a:extLst>
              <a:ext uri="{FF2B5EF4-FFF2-40B4-BE49-F238E27FC236}">
                <a16:creationId xmlns:a16="http://schemas.microsoft.com/office/drawing/2014/main" id="{BF712BBC-3C83-CDC9-BFB3-3F0BEE120852}"/>
              </a:ext>
            </a:extLst>
          </p:cNvPr>
          <p:cNvSpPr/>
          <p:nvPr/>
        </p:nvSpPr>
        <p:spPr>
          <a:xfrm>
            <a:off x="863600" y="2006600"/>
            <a:ext cx="10464800" cy="1168400"/>
          </a:xfrm>
          <a:prstGeom prst="roundRect">
            <a:avLst/>
          </a:prstGeom>
          <a:solidFill>
            <a:srgbClr val="F7FAFC"/>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DD15D1A6-5DF5-115E-F6B3-4EBB83269791}"/>
              </a:ext>
            </a:extLst>
          </p:cNvPr>
          <p:cNvSpPr txBox="1"/>
          <p:nvPr/>
        </p:nvSpPr>
        <p:spPr>
          <a:xfrm>
            <a:off x="1244600" y="2362200"/>
            <a:ext cx="9652000" cy="369332"/>
          </a:xfrm>
          <a:prstGeom prst="rect">
            <a:avLst/>
          </a:prstGeom>
          <a:noFill/>
        </p:spPr>
        <p:txBody>
          <a:bodyPr vert="horz" wrap="square" lIns="0" tIns="0" rIns="0" bIns="0" rtlCol="0">
            <a:noAutofit/>
          </a:bodyPr>
          <a:lstStyle/>
          <a:p>
            <a:r>
              <a:rPr lang="es-ES" sz="1300" b="1">
                <a:solidFill>
                  <a:srgbClr val="4975B0"/>
                </a:solidFill>
                <a:latin typeface="Consolas" panose="020B0609020204030204" pitchFamily="49" charset="0"/>
              </a:rPr>
              <a:t>\https://agora.34.175.161.212.nip.io/app   |   https://agora.34.175.161.212.nip.io/externo\</a:t>
            </a:r>
          </a:p>
        </p:txBody>
      </p:sp>
      <p:sp>
        <p:nvSpPr>
          <p:cNvPr id="7" name="CuadroTexto 6">
            <a:extLst>
              <a:ext uri="{FF2B5EF4-FFF2-40B4-BE49-F238E27FC236}">
                <a16:creationId xmlns:a16="http://schemas.microsoft.com/office/drawing/2014/main" id="{374CE008-3C84-A8F8-324C-522CB7693EB1}"/>
              </a:ext>
            </a:extLst>
          </p:cNvPr>
          <p:cNvSpPr txBox="1"/>
          <p:nvPr/>
        </p:nvSpPr>
        <p:spPr>
          <a:xfrm>
            <a:off x="1295400" y="2794000"/>
            <a:ext cx="9652000" cy="369332"/>
          </a:xfrm>
          <a:prstGeom prst="rect">
            <a:avLst/>
          </a:prstGeom>
          <a:noFill/>
        </p:spPr>
        <p:txBody>
          <a:bodyPr vert="horz" wrap="square" lIns="0" tIns="0" rIns="0" bIns="0" rtlCol="0">
            <a:noAutofit/>
          </a:bodyPr>
          <a:lstStyle/>
          <a:p>
            <a:r>
              <a:rPr lang="es-ES" sz="1400">
                <a:solidFill>
                  <a:srgbClr val="1F2937"/>
                </a:solidFill>
                <a:latin typeface="Segoe UI" panose="020B0502040204020203" pitchFamily="34" charset="0"/>
              </a:rPr>
              <a:t>La misma base sirve panel interno, portal externo y documentacion; la operacion tecnica se hace desde Agora Desktop.</a:t>
            </a:r>
          </a:p>
        </p:txBody>
      </p:sp>
      <p:sp>
        <p:nvSpPr>
          <p:cNvPr id="8" name="Rectángulo: esquinas redondeadas 7">
            <a:extLst>
              <a:ext uri="{FF2B5EF4-FFF2-40B4-BE49-F238E27FC236}">
                <a16:creationId xmlns:a16="http://schemas.microsoft.com/office/drawing/2014/main" id="{39DBD13E-D0FA-3F44-9EE2-1A89282CD510}"/>
              </a:ext>
            </a:extLst>
          </p:cNvPr>
          <p:cNvSpPr/>
          <p:nvPr/>
        </p:nvSpPr>
        <p:spPr>
          <a:xfrm>
            <a:off x="1092200" y="3835400"/>
            <a:ext cx="4064000" cy="1498600"/>
          </a:xfrm>
          <a:prstGeom prst="roundRect">
            <a:avLst/>
          </a:prstGeom>
          <a:solidFill>
            <a:srgbClr val="1D2430"/>
          </a:solidFill>
          <a:ln w="12700">
            <a:solidFill>
              <a:srgbClr val="424E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3206CB05-CB6D-D46A-1185-180D4A1AA861}"/>
              </a:ext>
            </a:extLst>
          </p:cNvPr>
          <p:cNvSpPr txBox="1"/>
          <p:nvPr/>
        </p:nvSpPr>
        <p:spPr>
          <a:xfrm>
            <a:off x="1498600" y="4165600"/>
            <a:ext cx="3175000" cy="369332"/>
          </a:xfrm>
          <a:prstGeom prst="rect">
            <a:avLst/>
          </a:prstGeom>
          <a:noFill/>
        </p:spPr>
        <p:txBody>
          <a:bodyPr vert="horz" wrap="square" lIns="0" tIns="0" rIns="0" bIns="0" rtlCol="0">
            <a:noAutofit/>
          </a:bodyPr>
          <a:lstStyle/>
          <a:p>
            <a:r>
              <a:rPr lang="es-ES" sz="2000" b="1">
                <a:solidFill>
                  <a:srgbClr val="DBA14D"/>
                </a:solidFill>
                <a:latin typeface="Segoe UI" panose="020B0502040204020203" pitchFamily="34" charset="0"/>
              </a:rPr>
              <a:t>Usuario de prueba</a:t>
            </a:r>
          </a:p>
        </p:txBody>
      </p:sp>
      <p:sp>
        <p:nvSpPr>
          <p:cNvPr id="10" name="CuadroTexto 9">
            <a:extLst>
              <a:ext uri="{FF2B5EF4-FFF2-40B4-BE49-F238E27FC236}">
                <a16:creationId xmlns:a16="http://schemas.microsoft.com/office/drawing/2014/main" id="{FD09B2F5-C6FE-E8EE-FEF4-1AF5DBCC9682}"/>
              </a:ext>
            </a:extLst>
          </p:cNvPr>
          <p:cNvSpPr txBox="1"/>
          <p:nvPr/>
        </p:nvSpPr>
        <p:spPr>
          <a:xfrm>
            <a:off x="1498600" y="4597400"/>
            <a:ext cx="3175000" cy="369332"/>
          </a:xfrm>
          <a:prstGeom prst="rect">
            <a:avLst/>
          </a:prstGeom>
          <a:noFill/>
        </p:spPr>
        <p:txBody>
          <a:bodyPr vert="horz" wrap="square" lIns="0" tIns="0" rIns="0" bIns="0" rtlCol="0">
            <a:noAutofit/>
          </a:bodyPr>
          <a:lstStyle/>
          <a:p>
            <a:r>
              <a:rPr lang="es-ES" b="1">
                <a:solidFill>
                  <a:srgbClr val="F6F8FC"/>
                </a:solidFill>
                <a:latin typeface="Consolas" panose="020B0609020204030204" pitchFamily="49" charset="0"/>
              </a:rPr>
              <a:t>profesora / Abrete01</a:t>
            </a:r>
          </a:p>
        </p:txBody>
      </p:sp>
      <p:sp>
        <p:nvSpPr>
          <p:cNvPr id="11" name="CuadroTexto 10">
            <a:extLst>
              <a:ext uri="{FF2B5EF4-FFF2-40B4-BE49-F238E27FC236}">
                <a16:creationId xmlns:a16="http://schemas.microsoft.com/office/drawing/2014/main" id="{4594DBE3-D6DE-7549-B739-6AC4368FB548}"/>
              </a:ext>
            </a:extLst>
          </p:cNvPr>
          <p:cNvSpPr txBox="1"/>
          <p:nvPr/>
        </p:nvSpPr>
        <p:spPr>
          <a:xfrm>
            <a:off x="1498600" y="4978400"/>
            <a:ext cx="2794000" cy="369332"/>
          </a:xfrm>
          <a:prstGeom prst="rect">
            <a:avLst/>
          </a:prstGeom>
          <a:noFill/>
        </p:spPr>
        <p:txBody>
          <a:bodyPr vert="horz" wrap="square" lIns="0" tIns="0" rIns="0" bIns="0" rtlCol="0">
            <a:noAutofit/>
          </a:bodyPr>
          <a:lstStyle/>
          <a:p>
            <a:r>
              <a:rPr lang="es-ES" sz="1400">
                <a:solidFill>
                  <a:srgbClr val="C2CBD8"/>
                </a:solidFill>
                <a:latin typeface="Segoe UI" panose="020B0502040204020203" pitchFamily="34" charset="0"/>
              </a:rPr>
              <a:t>Rol: coordinacion</a:t>
            </a:r>
          </a:p>
        </p:txBody>
      </p:sp>
      <p:sp>
        <p:nvSpPr>
          <p:cNvPr id="12" name="CuadroTexto 11">
            <a:extLst>
              <a:ext uri="{FF2B5EF4-FFF2-40B4-BE49-F238E27FC236}">
                <a16:creationId xmlns:a16="http://schemas.microsoft.com/office/drawing/2014/main" id="{8C067BEA-4AA0-83FA-66EF-CAB7D2066781}"/>
              </a:ext>
            </a:extLst>
          </p:cNvPr>
          <p:cNvSpPr txBox="1"/>
          <p:nvPr/>
        </p:nvSpPr>
        <p:spPr>
          <a:xfrm>
            <a:off x="5969000" y="3886200"/>
            <a:ext cx="4572000" cy="369332"/>
          </a:xfrm>
          <a:prstGeom prst="rect">
            <a:avLst/>
          </a:prstGeom>
          <a:noFill/>
        </p:spPr>
        <p:txBody>
          <a:bodyPr vert="horz" wrap="square" lIns="0" tIns="0" rIns="0" bIns="0" rtlCol="0">
            <a:noAutofit/>
          </a:bodyPr>
          <a:lstStyle/>
          <a:p>
            <a:pPr marL="342900" indent="-342900">
              <a:spcAft>
                <a:spcPts val="1000"/>
              </a:spcAft>
              <a:buFont typeface="+mj-lt"/>
              <a:buChar char="•"/>
            </a:pPr>
            <a:r>
              <a:rPr lang="es-ES" sz="1700">
                <a:solidFill>
                  <a:srgbClr val="C2CBD8"/>
                </a:solidFill>
                <a:latin typeface="Segoe UI" panose="020B0502040204020203" pitchFamily="34" charset="0"/>
              </a:rPr>
              <a:t>Puede revisar solicitudes, convenios, asignaciones y mensajes.</a:t>
            </a:r>
          </a:p>
          <a:p>
            <a:pPr marL="342900" indent="-342900">
              <a:spcAft>
                <a:spcPts val="1000"/>
              </a:spcAft>
              <a:buFont typeface="+mj-lt"/>
              <a:buChar char="•"/>
            </a:pPr>
            <a:r>
              <a:rPr lang="es-ES" sz="1700">
                <a:solidFill>
                  <a:srgbClr val="C2CBD8"/>
                </a:solidFill>
                <a:latin typeface="Segoe UI" panose="020B0502040204020203" pitchFamily="34" charset="0"/>
              </a:rPr>
              <a:t>La empresa prueba el recorrido por /externo.</a:t>
            </a:r>
          </a:p>
          <a:p>
            <a:pPr marL="342900" indent="-342900">
              <a:spcAft>
                <a:spcPts val="1000"/>
              </a:spcAft>
              <a:buFont typeface="+mj-lt"/>
              <a:buChar char="•"/>
            </a:pPr>
            <a:r>
              <a:rPr lang="es-ES" sz="1700">
                <a:solidFill>
                  <a:srgbClr val="C2CBD8"/>
                </a:solidFill>
                <a:latin typeface="Segoe UI" panose="020B0502040204020203" pitchFamily="34" charset="0"/>
              </a:rPr>
              <a:t>El acceso remoto depende de que la VM siga activa.</a:t>
            </a:r>
          </a:p>
        </p:txBody>
      </p:sp>
    </p:spTree>
    <p:extLst>
      <p:ext uri="{BB962C8B-B14F-4D97-AF65-F5344CB8AC3E}">
        <p14:creationId xmlns:p14="http://schemas.microsoft.com/office/powerpoint/2010/main" val="33221757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218"/>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BFAB474-5537-AE3E-3A88-F8567A2A1B9E}"/>
              </a:ext>
            </a:extLst>
          </p:cNvPr>
          <p:cNvSpPr txBox="1"/>
          <p:nvPr/>
        </p:nvSpPr>
        <p:spPr>
          <a:xfrm>
            <a:off x="558800" y="330200"/>
            <a:ext cx="10414000" cy="369332"/>
          </a:xfrm>
          <a:prstGeom prst="rect">
            <a:avLst/>
          </a:prstGeom>
          <a:noFill/>
        </p:spPr>
        <p:txBody>
          <a:bodyPr vert="horz" wrap="square" lIns="0" tIns="0" rIns="0" bIns="0" rtlCol="0">
            <a:noAutofit/>
          </a:bodyPr>
          <a:lstStyle/>
          <a:p>
            <a:r>
              <a:rPr lang="es-ES" sz="1200" b="1">
                <a:solidFill>
                  <a:srgbClr val="DBA14D"/>
                </a:solidFill>
                <a:latin typeface="Segoe UI" panose="020B0502040204020203" pitchFamily="34" charset="0"/>
              </a:rPr>
              <a:t>16 / ALCANCE Y FUTURO</a:t>
            </a:r>
          </a:p>
        </p:txBody>
      </p:sp>
      <p:sp>
        <p:nvSpPr>
          <p:cNvPr id="3" name="CuadroTexto 2">
            <a:extLst>
              <a:ext uri="{FF2B5EF4-FFF2-40B4-BE49-F238E27FC236}">
                <a16:creationId xmlns:a16="http://schemas.microsoft.com/office/drawing/2014/main" id="{E5C95DB2-EFA2-1525-9158-A95ECCE84CB5}"/>
              </a:ext>
            </a:extLst>
          </p:cNvPr>
          <p:cNvSpPr txBox="1"/>
          <p:nvPr/>
        </p:nvSpPr>
        <p:spPr>
          <a:xfrm>
            <a:off x="558800" y="685800"/>
            <a:ext cx="9906000" cy="369332"/>
          </a:xfrm>
          <a:prstGeom prst="rect">
            <a:avLst/>
          </a:prstGeom>
          <a:noFill/>
        </p:spPr>
        <p:txBody>
          <a:bodyPr vert="horz" wrap="square" lIns="0" tIns="0" rIns="0" bIns="0" rtlCol="0">
            <a:noAutofit/>
          </a:bodyPr>
          <a:lstStyle/>
          <a:p>
            <a:r>
              <a:rPr lang="es-ES" sz="3000" b="1">
                <a:solidFill>
                  <a:srgbClr val="F6F8FC"/>
                </a:solidFill>
                <a:latin typeface="Segoe UI" panose="020B0502040204020203" pitchFamily="34" charset="0"/>
              </a:rPr>
              <a:t>Que queda cerrado y que se deja para despues</a:t>
            </a:r>
          </a:p>
        </p:txBody>
      </p:sp>
      <p:sp>
        <p:nvSpPr>
          <p:cNvPr id="4" name="CuadroTexto 3">
            <a:extLst>
              <a:ext uri="{FF2B5EF4-FFF2-40B4-BE49-F238E27FC236}">
                <a16:creationId xmlns:a16="http://schemas.microsoft.com/office/drawing/2014/main" id="{4B0D9C06-0E88-E908-29DD-25F99F08FEE5}"/>
              </a:ext>
            </a:extLst>
          </p:cNvPr>
          <p:cNvSpPr txBox="1"/>
          <p:nvPr/>
        </p:nvSpPr>
        <p:spPr>
          <a:xfrm>
            <a:off x="558800" y="1422400"/>
            <a:ext cx="9144000" cy="369332"/>
          </a:xfrm>
          <a:prstGeom prst="rect">
            <a:avLst/>
          </a:prstGeom>
          <a:noFill/>
        </p:spPr>
        <p:txBody>
          <a:bodyPr vert="horz" wrap="square" lIns="0" tIns="0" rIns="0" bIns="0" rtlCol="0">
            <a:noAutofit/>
          </a:bodyPr>
          <a:lstStyle/>
          <a:p>
            <a:r>
              <a:rPr lang="es-ES" sz="1500">
                <a:solidFill>
                  <a:srgbClr val="C2CBD8"/>
                </a:solidFill>
                <a:latin typeface="Segoe UI" panose="020B0502040204020203" pitchFamily="34" charset="0"/>
              </a:rPr>
              <a:t>El nucleo funcional y tecnico ya esta entregado; las mejoras futuras endurecen o amplian, pero no bloquean la defensa.</a:t>
            </a:r>
          </a:p>
        </p:txBody>
      </p:sp>
      <p:sp>
        <p:nvSpPr>
          <p:cNvPr id="5" name="Rectángulo: esquinas redondeadas 4">
            <a:extLst>
              <a:ext uri="{FF2B5EF4-FFF2-40B4-BE49-F238E27FC236}">
                <a16:creationId xmlns:a16="http://schemas.microsoft.com/office/drawing/2014/main" id="{78B59249-5894-ADE8-DD01-8256B57A070B}"/>
              </a:ext>
            </a:extLst>
          </p:cNvPr>
          <p:cNvSpPr/>
          <p:nvPr/>
        </p:nvSpPr>
        <p:spPr>
          <a:xfrm>
            <a:off x="711200" y="2159000"/>
            <a:ext cx="3429000" cy="2717800"/>
          </a:xfrm>
          <a:prstGeom prst="roundRect">
            <a:avLst/>
          </a:prstGeom>
          <a:solidFill>
            <a:srgbClr val="1D2430"/>
          </a:solidFill>
          <a:ln w="12700">
            <a:solidFill>
              <a:srgbClr val="424E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908EBB94-E119-2A1B-E721-7AF4C37B22E8}"/>
              </a:ext>
            </a:extLst>
          </p:cNvPr>
          <p:cNvSpPr txBox="1"/>
          <p:nvPr/>
        </p:nvSpPr>
        <p:spPr>
          <a:xfrm>
            <a:off x="1016000" y="2438400"/>
            <a:ext cx="2667000" cy="369332"/>
          </a:xfrm>
          <a:prstGeom prst="rect">
            <a:avLst/>
          </a:prstGeom>
          <a:noFill/>
        </p:spPr>
        <p:txBody>
          <a:bodyPr vert="horz" wrap="square" lIns="0" tIns="0" rIns="0" bIns="0" rtlCol="0">
            <a:noAutofit/>
          </a:bodyPr>
          <a:lstStyle/>
          <a:p>
            <a:r>
              <a:rPr lang="es-ES" sz="2000" b="1">
                <a:solidFill>
                  <a:srgbClr val="DBA14D"/>
                </a:solidFill>
                <a:latin typeface="Segoe UI" panose="020B0502040204020203" pitchFamily="34" charset="0"/>
              </a:rPr>
              <a:t>Cerrado en esta entrega</a:t>
            </a:r>
          </a:p>
        </p:txBody>
      </p:sp>
      <p:sp>
        <p:nvSpPr>
          <p:cNvPr id="7" name="CuadroTexto 6">
            <a:extLst>
              <a:ext uri="{FF2B5EF4-FFF2-40B4-BE49-F238E27FC236}">
                <a16:creationId xmlns:a16="http://schemas.microsoft.com/office/drawing/2014/main" id="{82CBC56E-19C3-21B5-E68A-A23A7569E3F0}"/>
              </a:ext>
            </a:extLst>
          </p:cNvPr>
          <p:cNvSpPr txBox="1"/>
          <p:nvPr/>
        </p:nvSpPr>
        <p:spPr>
          <a:xfrm>
            <a:off x="1041400" y="2946400"/>
            <a:ext cx="2692400" cy="369332"/>
          </a:xfrm>
          <a:prstGeom prst="rect">
            <a:avLst/>
          </a:prstGeom>
          <a:noFill/>
        </p:spPr>
        <p:txBody>
          <a:bodyPr vert="horz" wrap="square" lIns="0" tIns="0" rIns="0" bIns="0" rtlCol="0">
            <a:noAutofit/>
          </a:bodyPr>
          <a:lstStyle/>
          <a:p>
            <a:pPr marL="342900" indent="-342900">
              <a:spcAft>
                <a:spcPts val="1000"/>
              </a:spcAft>
              <a:buFont typeface="+mj-lt"/>
              <a:buChar char="•"/>
            </a:pPr>
            <a:r>
              <a:rPr lang="es-ES" sz="1400">
                <a:solidFill>
                  <a:srgbClr val="F6F8FC"/>
                </a:solidFill>
                <a:latin typeface="Segoe UI" panose="020B0502040204020203" pitchFamily="34" charset="0"/>
              </a:rPr>
              <a:t>Portales /app y /externo bajo HTTPS.</a:t>
            </a:r>
          </a:p>
          <a:p>
            <a:pPr marL="342900" indent="-342900">
              <a:spcAft>
                <a:spcPts val="1000"/>
              </a:spcAft>
              <a:buFont typeface="+mj-lt"/>
              <a:buChar char="•"/>
            </a:pPr>
            <a:r>
              <a:rPr lang="es-ES" sz="1400">
                <a:solidFill>
                  <a:srgbClr val="F6F8FC"/>
                </a:solidFill>
                <a:latin typeface="Segoe UI" panose="020B0502040204020203" pitchFamily="34" charset="0"/>
              </a:rPr>
              <a:t>Correo real, documentos, chat y exportacion.</a:t>
            </a:r>
          </a:p>
          <a:p>
            <a:pPr marL="342900" indent="-342900">
              <a:spcAft>
                <a:spcPts val="1000"/>
              </a:spcAft>
              <a:buFont typeface="+mj-lt"/>
              <a:buChar char="•"/>
            </a:pPr>
            <a:r>
              <a:rPr lang="es-ES" sz="1400">
                <a:solidFill>
                  <a:srgbClr val="F6F8FC"/>
                </a:solidFill>
                <a:latin typeface="Segoe UI" panose="020B0502040204020203" pitchFamily="34" charset="0"/>
              </a:rPr>
              <a:t>Agora Desktop local/cloud como consola tecnica.</a:t>
            </a:r>
          </a:p>
          <a:p>
            <a:pPr marL="342900" indent="-342900">
              <a:spcAft>
                <a:spcPts val="1000"/>
              </a:spcAft>
              <a:buFont typeface="+mj-lt"/>
              <a:buChar char="•"/>
            </a:pPr>
            <a:r>
              <a:rPr lang="es-ES" sz="1400">
                <a:solidFill>
                  <a:srgbClr val="F6F8FC"/>
                </a:solidFill>
                <a:latin typeface="Segoe UI" panose="020B0502040204020203" pitchFamily="34" charset="0"/>
              </a:rPr>
              <a:t>VM publica con arranque automatico y URL efectiva visible.</a:t>
            </a:r>
          </a:p>
        </p:txBody>
      </p:sp>
      <p:sp>
        <p:nvSpPr>
          <p:cNvPr id="8" name="Rectángulo: esquinas redondeadas 7">
            <a:extLst>
              <a:ext uri="{FF2B5EF4-FFF2-40B4-BE49-F238E27FC236}">
                <a16:creationId xmlns:a16="http://schemas.microsoft.com/office/drawing/2014/main" id="{26B9D7A7-87F7-AEEA-F459-E57B56F911E7}"/>
              </a:ext>
            </a:extLst>
          </p:cNvPr>
          <p:cNvSpPr/>
          <p:nvPr/>
        </p:nvSpPr>
        <p:spPr>
          <a:xfrm>
            <a:off x="4521200" y="2235200"/>
            <a:ext cx="3098800" cy="1219200"/>
          </a:xfrm>
          <a:prstGeom prst="roundRect">
            <a:avLst/>
          </a:prstGeom>
          <a:solidFill>
            <a:srgbClr val="F7FAFC"/>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8294099B-B43E-F512-F22F-AB0602A6DB11}"/>
              </a:ext>
            </a:extLst>
          </p:cNvPr>
          <p:cNvSpPr txBox="1"/>
          <p:nvPr/>
        </p:nvSpPr>
        <p:spPr>
          <a:xfrm>
            <a:off x="4749800" y="2413000"/>
            <a:ext cx="2387600" cy="369332"/>
          </a:xfrm>
          <a:prstGeom prst="rect">
            <a:avLst/>
          </a:prstGeom>
          <a:noFill/>
        </p:spPr>
        <p:txBody>
          <a:bodyPr vert="horz" wrap="square" lIns="0" tIns="0" rIns="0" bIns="0" rtlCol="0">
            <a:noAutofit/>
          </a:bodyPr>
          <a:lstStyle/>
          <a:p>
            <a:r>
              <a:rPr lang="es-ES" b="1">
                <a:solidFill>
                  <a:srgbClr val="41A772"/>
                </a:solidFill>
                <a:latin typeface="Segoe UI" panose="020B0502040204020203" pitchFamily="34" charset="0"/>
              </a:rPr>
              <a:t>Dominio propio</a:t>
            </a:r>
          </a:p>
        </p:txBody>
      </p:sp>
      <p:sp>
        <p:nvSpPr>
          <p:cNvPr id="10" name="CuadroTexto 9">
            <a:extLst>
              <a:ext uri="{FF2B5EF4-FFF2-40B4-BE49-F238E27FC236}">
                <a16:creationId xmlns:a16="http://schemas.microsoft.com/office/drawing/2014/main" id="{5D878BA8-7AE1-A834-15FC-442DB01045D8}"/>
              </a:ext>
            </a:extLst>
          </p:cNvPr>
          <p:cNvSpPr txBox="1"/>
          <p:nvPr/>
        </p:nvSpPr>
        <p:spPr>
          <a:xfrm>
            <a:off x="4749800" y="2768600"/>
            <a:ext cx="2540000" cy="369332"/>
          </a:xfrm>
          <a:prstGeom prst="rect">
            <a:avLst/>
          </a:prstGeom>
          <a:noFill/>
        </p:spPr>
        <p:txBody>
          <a:bodyPr vert="horz" wrap="square" lIns="0" tIns="0" rIns="0" bIns="0" rtlCol="0">
            <a:noAutofit/>
          </a:bodyPr>
          <a:lstStyle/>
          <a:p>
            <a:r>
              <a:rPr lang="es-ES" sz="1300">
                <a:solidFill>
                  <a:srgbClr val="1F2937"/>
                </a:solidFill>
                <a:latin typeface="Segoe UI" panose="020B0502040204020203" pitchFamily="34" charset="0"/>
              </a:rPr>
              <a:t>Sustituir nip.io por dominio institucional y reforzar TLS.</a:t>
            </a:r>
          </a:p>
        </p:txBody>
      </p:sp>
      <p:sp>
        <p:nvSpPr>
          <p:cNvPr id="11" name="Rectángulo: esquinas redondeadas 10">
            <a:extLst>
              <a:ext uri="{FF2B5EF4-FFF2-40B4-BE49-F238E27FC236}">
                <a16:creationId xmlns:a16="http://schemas.microsoft.com/office/drawing/2014/main" id="{A404FCF0-B147-152A-01F1-D9B2EFEF7A58}"/>
              </a:ext>
            </a:extLst>
          </p:cNvPr>
          <p:cNvSpPr/>
          <p:nvPr/>
        </p:nvSpPr>
        <p:spPr>
          <a:xfrm>
            <a:off x="7975600" y="2235200"/>
            <a:ext cx="3098800" cy="1219200"/>
          </a:xfrm>
          <a:prstGeom prst="roundRect">
            <a:avLst/>
          </a:prstGeom>
          <a:solidFill>
            <a:srgbClr val="F7FAFC"/>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1E0BC87B-6577-4114-4A08-60D7568CD9CB}"/>
              </a:ext>
            </a:extLst>
          </p:cNvPr>
          <p:cNvSpPr txBox="1"/>
          <p:nvPr/>
        </p:nvSpPr>
        <p:spPr>
          <a:xfrm>
            <a:off x="8204200" y="2413000"/>
            <a:ext cx="2387600" cy="369332"/>
          </a:xfrm>
          <a:prstGeom prst="rect">
            <a:avLst/>
          </a:prstGeom>
          <a:noFill/>
        </p:spPr>
        <p:txBody>
          <a:bodyPr vert="horz" wrap="square" lIns="0" tIns="0" rIns="0" bIns="0" rtlCol="0">
            <a:noAutofit/>
          </a:bodyPr>
          <a:lstStyle/>
          <a:p>
            <a:r>
              <a:rPr lang="es-ES" b="1">
                <a:solidFill>
                  <a:srgbClr val="49B1D2"/>
                </a:solidFill>
                <a:latin typeface="Segoe UI" panose="020B0502040204020203" pitchFamily="34" charset="0"/>
              </a:rPr>
              <a:t>Servicios gestionados</a:t>
            </a:r>
          </a:p>
        </p:txBody>
      </p:sp>
      <p:sp>
        <p:nvSpPr>
          <p:cNvPr id="13" name="CuadroTexto 12">
            <a:extLst>
              <a:ext uri="{FF2B5EF4-FFF2-40B4-BE49-F238E27FC236}">
                <a16:creationId xmlns:a16="http://schemas.microsoft.com/office/drawing/2014/main" id="{7F726083-9450-48F8-A946-91D832AD10D5}"/>
              </a:ext>
            </a:extLst>
          </p:cNvPr>
          <p:cNvSpPr txBox="1"/>
          <p:nvPr/>
        </p:nvSpPr>
        <p:spPr>
          <a:xfrm>
            <a:off x="8204200" y="2768600"/>
            <a:ext cx="2540000" cy="369332"/>
          </a:xfrm>
          <a:prstGeom prst="rect">
            <a:avLst/>
          </a:prstGeom>
          <a:noFill/>
        </p:spPr>
        <p:txBody>
          <a:bodyPr vert="horz" wrap="square" lIns="0" tIns="0" rIns="0" bIns="0" rtlCol="0">
            <a:noAutofit/>
          </a:bodyPr>
          <a:lstStyle/>
          <a:p>
            <a:r>
              <a:rPr lang="es-ES" sz="1300">
                <a:solidFill>
                  <a:srgbClr val="1F2937"/>
                </a:solidFill>
                <a:latin typeface="Segoe UI" panose="020B0502040204020203" pitchFamily="34" charset="0"/>
              </a:rPr>
              <a:t>Migrar documentos, backups y observabilidad a servicios gestionados fuera de la VM.</a:t>
            </a:r>
          </a:p>
        </p:txBody>
      </p:sp>
      <p:sp>
        <p:nvSpPr>
          <p:cNvPr id="14" name="Rectángulo: esquinas redondeadas 13">
            <a:extLst>
              <a:ext uri="{FF2B5EF4-FFF2-40B4-BE49-F238E27FC236}">
                <a16:creationId xmlns:a16="http://schemas.microsoft.com/office/drawing/2014/main" id="{C6CEFB94-0FC8-0A65-0F70-5BC718D9427E}"/>
              </a:ext>
            </a:extLst>
          </p:cNvPr>
          <p:cNvSpPr/>
          <p:nvPr/>
        </p:nvSpPr>
        <p:spPr>
          <a:xfrm>
            <a:off x="4521200" y="3733800"/>
            <a:ext cx="3098800" cy="1219200"/>
          </a:xfrm>
          <a:prstGeom prst="roundRect">
            <a:avLst/>
          </a:prstGeom>
          <a:solidFill>
            <a:srgbClr val="F7FAFC"/>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CuadroTexto 14">
            <a:extLst>
              <a:ext uri="{FF2B5EF4-FFF2-40B4-BE49-F238E27FC236}">
                <a16:creationId xmlns:a16="http://schemas.microsoft.com/office/drawing/2014/main" id="{AA529624-3471-9FE4-3689-8EDDACC6D9EB}"/>
              </a:ext>
            </a:extLst>
          </p:cNvPr>
          <p:cNvSpPr txBox="1"/>
          <p:nvPr/>
        </p:nvSpPr>
        <p:spPr>
          <a:xfrm>
            <a:off x="4749800" y="3911600"/>
            <a:ext cx="2387600" cy="369332"/>
          </a:xfrm>
          <a:prstGeom prst="rect">
            <a:avLst/>
          </a:prstGeom>
          <a:noFill/>
        </p:spPr>
        <p:txBody>
          <a:bodyPr vert="horz" wrap="square" lIns="0" tIns="0" rIns="0" bIns="0" rtlCol="0">
            <a:noAutofit/>
          </a:bodyPr>
          <a:lstStyle/>
          <a:p>
            <a:r>
              <a:rPr lang="es-ES" b="1">
                <a:solidFill>
                  <a:srgbClr val="DBA14D"/>
                </a:solidFill>
                <a:latin typeface="Segoe UI" panose="020B0502040204020203" pitchFamily="34" charset="0"/>
              </a:rPr>
              <a:t>Cliente tecnico</a:t>
            </a:r>
          </a:p>
        </p:txBody>
      </p:sp>
      <p:sp>
        <p:nvSpPr>
          <p:cNvPr id="16" name="CuadroTexto 15">
            <a:extLst>
              <a:ext uri="{FF2B5EF4-FFF2-40B4-BE49-F238E27FC236}">
                <a16:creationId xmlns:a16="http://schemas.microsoft.com/office/drawing/2014/main" id="{C60C4DF2-9568-DE37-E9AA-3EDF5FE954E5}"/>
              </a:ext>
            </a:extLst>
          </p:cNvPr>
          <p:cNvSpPr txBox="1"/>
          <p:nvPr/>
        </p:nvSpPr>
        <p:spPr>
          <a:xfrm>
            <a:off x="4749800" y="4267200"/>
            <a:ext cx="2540000" cy="369332"/>
          </a:xfrm>
          <a:prstGeom prst="rect">
            <a:avLst/>
          </a:prstGeom>
          <a:noFill/>
        </p:spPr>
        <p:txBody>
          <a:bodyPr vert="horz" wrap="square" lIns="0" tIns="0" rIns="0" bIns="0" rtlCol="0">
            <a:noAutofit/>
          </a:bodyPr>
          <a:lstStyle/>
          <a:p>
            <a:r>
              <a:rPr lang="es-ES" sz="1300">
                <a:solidFill>
                  <a:srgbClr val="1F2937"/>
                </a:solidFill>
                <a:latin typeface="Segoe UI" panose="020B0502040204020203" pitchFamily="34" charset="0"/>
              </a:rPr>
              <a:t>Ampliar Agora Desktop sin mezclar soporte con negocio.</a:t>
            </a:r>
          </a:p>
        </p:txBody>
      </p:sp>
      <p:sp>
        <p:nvSpPr>
          <p:cNvPr id="17" name="CuadroTexto 16">
            <a:extLst>
              <a:ext uri="{FF2B5EF4-FFF2-40B4-BE49-F238E27FC236}">
                <a16:creationId xmlns:a16="http://schemas.microsoft.com/office/drawing/2014/main" id="{50FE0E10-B25E-2EDB-C0A4-49EA9A613296}"/>
              </a:ext>
            </a:extLst>
          </p:cNvPr>
          <p:cNvSpPr txBox="1"/>
          <p:nvPr/>
        </p:nvSpPr>
        <p:spPr>
          <a:xfrm>
            <a:off x="1016000" y="5257800"/>
            <a:ext cx="9652000" cy="369332"/>
          </a:xfrm>
          <a:prstGeom prst="rect">
            <a:avLst/>
          </a:prstGeom>
          <a:noFill/>
        </p:spPr>
        <p:txBody>
          <a:bodyPr vert="horz" wrap="square" lIns="0" tIns="0" rIns="0" bIns="0" rtlCol="0">
            <a:noAutofit/>
          </a:bodyPr>
          <a:lstStyle/>
          <a:p>
            <a:pPr marL="342900" indent="-342900">
              <a:spcAft>
                <a:spcPts val="1000"/>
              </a:spcAft>
              <a:buFont typeface="+mj-lt"/>
              <a:buChar char="•"/>
            </a:pPr>
            <a:r>
              <a:rPr lang="es-ES">
                <a:solidFill>
                  <a:srgbClr val="C2CBD8"/>
                </a:solidFill>
                <a:latin typeface="Segoe UI" panose="020B0502040204020203" pitchFamily="34" charset="0"/>
              </a:rPr>
              <a:t>La prioridad futura no es anadir modulos sin control, sino endurecer despliegue, seguridad y soporte.</a:t>
            </a:r>
          </a:p>
          <a:p>
            <a:pPr marL="342900" indent="-342900">
              <a:spcAft>
                <a:spcPts val="1000"/>
              </a:spcAft>
              <a:buFont typeface="+mj-lt"/>
              <a:buChar char="•"/>
            </a:pPr>
            <a:r>
              <a:rPr lang="es-ES">
                <a:solidFill>
                  <a:srgbClr val="C2CBD8"/>
                </a:solidFill>
                <a:latin typeface="Segoe UI" panose="020B0502040204020203" pitchFamily="34" charset="0"/>
              </a:rPr>
              <a:t>Las funciones secundarias quedan identificadas para justificar con claridad el recorte de alcance.</a:t>
            </a:r>
          </a:p>
        </p:txBody>
      </p:sp>
    </p:spTree>
    <p:extLst>
      <p:ext uri="{BB962C8B-B14F-4D97-AF65-F5344CB8AC3E}">
        <p14:creationId xmlns:p14="http://schemas.microsoft.com/office/powerpoint/2010/main" val="2333461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218"/>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A79CEE5-9CE1-98E4-A3D3-AE8134AA7D3C}"/>
              </a:ext>
            </a:extLst>
          </p:cNvPr>
          <p:cNvSpPr txBox="1"/>
          <p:nvPr/>
        </p:nvSpPr>
        <p:spPr>
          <a:xfrm>
            <a:off x="558800" y="330200"/>
            <a:ext cx="10414000" cy="369332"/>
          </a:xfrm>
          <a:prstGeom prst="rect">
            <a:avLst/>
          </a:prstGeom>
          <a:noFill/>
        </p:spPr>
        <p:txBody>
          <a:bodyPr vert="horz" wrap="square" lIns="0" tIns="0" rIns="0" bIns="0" rtlCol="0">
            <a:noAutofit/>
          </a:bodyPr>
          <a:lstStyle/>
          <a:p>
            <a:r>
              <a:rPr lang="es-ES" sz="1200" b="1">
                <a:solidFill>
                  <a:srgbClr val="DBA14D"/>
                </a:solidFill>
                <a:latin typeface="Segoe UI" panose="020B0502040204020203" pitchFamily="34" charset="0"/>
              </a:rPr>
              <a:t>17 / LIMITACIONES</a:t>
            </a:r>
          </a:p>
        </p:txBody>
      </p:sp>
      <p:sp>
        <p:nvSpPr>
          <p:cNvPr id="3" name="CuadroTexto 2">
            <a:extLst>
              <a:ext uri="{FF2B5EF4-FFF2-40B4-BE49-F238E27FC236}">
                <a16:creationId xmlns:a16="http://schemas.microsoft.com/office/drawing/2014/main" id="{E788EFEB-C964-5A83-FEE2-041762E337C4}"/>
              </a:ext>
            </a:extLst>
          </p:cNvPr>
          <p:cNvSpPr txBox="1"/>
          <p:nvPr/>
        </p:nvSpPr>
        <p:spPr>
          <a:xfrm>
            <a:off x="558800" y="685800"/>
            <a:ext cx="9906000" cy="369332"/>
          </a:xfrm>
          <a:prstGeom prst="rect">
            <a:avLst/>
          </a:prstGeom>
          <a:noFill/>
        </p:spPr>
        <p:txBody>
          <a:bodyPr vert="horz" wrap="square" lIns="0" tIns="0" rIns="0" bIns="0" rtlCol="0">
            <a:noAutofit/>
          </a:bodyPr>
          <a:lstStyle/>
          <a:p>
            <a:r>
              <a:rPr lang="es-ES" sz="3000" b="1">
                <a:solidFill>
                  <a:srgbClr val="F6F8FC"/>
                </a:solidFill>
                <a:latin typeface="Segoe UI" panose="020B0502040204020203" pitchFamily="34" charset="0"/>
              </a:rPr>
              <a:t>Que queda fuera de esta entrega</a:t>
            </a:r>
          </a:p>
        </p:txBody>
      </p:sp>
      <p:sp>
        <p:nvSpPr>
          <p:cNvPr id="4" name="CuadroTexto 3">
            <a:extLst>
              <a:ext uri="{FF2B5EF4-FFF2-40B4-BE49-F238E27FC236}">
                <a16:creationId xmlns:a16="http://schemas.microsoft.com/office/drawing/2014/main" id="{D673B47A-86DA-EE03-3F3A-A073F47A33A6}"/>
              </a:ext>
            </a:extLst>
          </p:cNvPr>
          <p:cNvSpPr txBox="1"/>
          <p:nvPr/>
        </p:nvSpPr>
        <p:spPr>
          <a:xfrm>
            <a:off x="990600" y="2032000"/>
            <a:ext cx="4572000" cy="369332"/>
          </a:xfrm>
          <a:prstGeom prst="rect">
            <a:avLst/>
          </a:prstGeom>
          <a:noFill/>
        </p:spPr>
        <p:txBody>
          <a:bodyPr vert="horz" wrap="square" lIns="0" tIns="0" rIns="0" bIns="0" rtlCol="0">
            <a:noAutofit/>
          </a:bodyPr>
          <a:lstStyle/>
          <a:p>
            <a:pPr marL="457200" indent="-457200">
              <a:spcAft>
                <a:spcPts val="1000"/>
              </a:spcAft>
              <a:buFont typeface="+mj-lt"/>
              <a:buChar char="•"/>
            </a:pPr>
            <a:r>
              <a:rPr lang="es-ES" sz="1900">
                <a:solidFill>
                  <a:srgbClr val="C2CBD8"/>
                </a:solidFill>
                <a:latin typeface="Segoe UI" panose="020B0502040204020203" pitchFamily="34" charset="0"/>
              </a:rPr>
              <a:t>Infraestructura mas gestionada y endurecida que la VM actual.</a:t>
            </a:r>
          </a:p>
          <a:p>
            <a:pPr marL="457200" indent="-457200">
              <a:spcAft>
                <a:spcPts val="1000"/>
              </a:spcAft>
              <a:buFont typeface="+mj-lt"/>
              <a:buChar char="•"/>
            </a:pPr>
            <a:r>
              <a:rPr lang="es-ES" sz="1900">
                <a:solidFill>
                  <a:srgbClr val="C2CBD8"/>
                </a:solidFill>
                <a:latin typeface="Segoe UI" panose="020B0502040204020203" pitchFamily="34" charset="0"/>
              </a:rPr>
              <a:t>Integracion con SSO o identidad corporativa.</a:t>
            </a:r>
          </a:p>
          <a:p>
            <a:pPr marL="457200" indent="-457200">
              <a:spcAft>
                <a:spcPts val="1000"/>
              </a:spcAft>
              <a:buFont typeface="+mj-lt"/>
              <a:buChar char="•"/>
            </a:pPr>
            <a:r>
              <a:rPr lang="es-ES" sz="1900">
                <a:solidFill>
                  <a:srgbClr val="C2CBD8"/>
                </a:solidFill>
                <a:latin typeface="Segoe UI" panose="020B0502040204020203" pitchFamily="34" charset="0"/>
              </a:rPr>
              <a:t>Firma electronica avanzada.</a:t>
            </a:r>
          </a:p>
          <a:p>
            <a:pPr marL="457200" indent="-457200">
              <a:spcAft>
                <a:spcPts val="1000"/>
              </a:spcAft>
              <a:buFont typeface="+mj-lt"/>
              <a:buChar char="•"/>
            </a:pPr>
            <a:r>
              <a:rPr lang="es-ES" sz="1900">
                <a:solidFill>
                  <a:srgbClr val="C2CBD8"/>
                </a:solidFill>
                <a:latin typeface="Segoe UI" panose="020B0502040204020203" pitchFamily="34" charset="0"/>
              </a:rPr>
              <a:t>Migracion del almacenamiento documental a un servicio gestionado independiente.</a:t>
            </a:r>
          </a:p>
          <a:p>
            <a:pPr marL="457200" indent="-457200">
              <a:spcAft>
                <a:spcPts val="1000"/>
              </a:spcAft>
              <a:buFont typeface="+mj-lt"/>
              <a:buChar char="•"/>
            </a:pPr>
            <a:r>
              <a:rPr lang="es-ES" sz="1900">
                <a:solidFill>
                  <a:srgbClr val="C2CBD8"/>
                </a:solidFill>
                <a:latin typeface="Segoe UI" panose="020B0502040204020203" pitchFamily="34" charset="0"/>
              </a:rPr>
              <a:t>Perfilado profundo de rendimiento en produccion.</a:t>
            </a:r>
          </a:p>
        </p:txBody>
      </p:sp>
      <p:sp>
        <p:nvSpPr>
          <p:cNvPr id="5" name="Rectángulo: esquinas redondeadas 4">
            <a:extLst>
              <a:ext uri="{FF2B5EF4-FFF2-40B4-BE49-F238E27FC236}">
                <a16:creationId xmlns:a16="http://schemas.microsoft.com/office/drawing/2014/main" id="{1A026D5F-0958-FF6B-DCDB-2285B2E0E37F}"/>
              </a:ext>
            </a:extLst>
          </p:cNvPr>
          <p:cNvSpPr/>
          <p:nvPr/>
        </p:nvSpPr>
        <p:spPr>
          <a:xfrm>
            <a:off x="6807200" y="2057400"/>
            <a:ext cx="4064000" cy="2667000"/>
          </a:xfrm>
          <a:prstGeom prst="roundRect">
            <a:avLst/>
          </a:prstGeom>
          <a:solidFill>
            <a:srgbClr val="1D2430"/>
          </a:solidFill>
          <a:ln w="12700">
            <a:solidFill>
              <a:srgbClr val="424E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AD5C79A8-3870-A2E4-BFE6-E2956C2D970B}"/>
              </a:ext>
            </a:extLst>
          </p:cNvPr>
          <p:cNvSpPr txBox="1"/>
          <p:nvPr/>
        </p:nvSpPr>
        <p:spPr>
          <a:xfrm>
            <a:off x="7213600" y="2438400"/>
            <a:ext cx="3302000" cy="369332"/>
          </a:xfrm>
          <a:prstGeom prst="rect">
            <a:avLst/>
          </a:prstGeom>
          <a:noFill/>
        </p:spPr>
        <p:txBody>
          <a:bodyPr vert="horz" wrap="square" lIns="0" tIns="0" rIns="0" bIns="0" rtlCol="0">
            <a:noAutofit/>
          </a:bodyPr>
          <a:lstStyle/>
          <a:p>
            <a:r>
              <a:rPr lang="es-ES" sz="2000" b="1">
                <a:solidFill>
                  <a:srgbClr val="DBA14D"/>
                </a:solidFill>
                <a:latin typeface="Segoe UI" panose="020B0502040204020203" pitchFamily="34" charset="0"/>
              </a:rPr>
              <a:t>Siguiente iteracion</a:t>
            </a:r>
          </a:p>
        </p:txBody>
      </p:sp>
      <p:sp>
        <p:nvSpPr>
          <p:cNvPr id="7" name="CuadroTexto 6">
            <a:extLst>
              <a:ext uri="{FF2B5EF4-FFF2-40B4-BE49-F238E27FC236}">
                <a16:creationId xmlns:a16="http://schemas.microsoft.com/office/drawing/2014/main" id="{37426E24-BDCA-5C43-52E9-25868A35AC64}"/>
              </a:ext>
            </a:extLst>
          </p:cNvPr>
          <p:cNvSpPr txBox="1"/>
          <p:nvPr/>
        </p:nvSpPr>
        <p:spPr>
          <a:xfrm>
            <a:off x="7213600" y="3098800"/>
            <a:ext cx="3111500" cy="369332"/>
          </a:xfrm>
          <a:prstGeom prst="rect">
            <a:avLst/>
          </a:prstGeom>
          <a:noFill/>
        </p:spPr>
        <p:txBody>
          <a:bodyPr vert="horz" wrap="square" lIns="0" tIns="0" rIns="0" bIns="0" rtlCol="0">
            <a:noAutofit/>
          </a:bodyPr>
          <a:lstStyle/>
          <a:p>
            <a:r>
              <a:rPr lang="es-ES" sz="2300" b="1">
                <a:solidFill>
                  <a:srgbClr val="F6F8FC"/>
                </a:solidFill>
                <a:latin typeface="Segoe UI" panose="020B0502040204020203" pitchFamily="34" charset="0"/>
              </a:rPr>
              <a:t>Despliegue estable, dominio propio, base de datos de servidor y seguridad endurecida.</a:t>
            </a:r>
          </a:p>
        </p:txBody>
      </p:sp>
    </p:spTree>
    <p:extLst>
      <p:ext uri="{BB962C8B-B14F-4D97-AF65-F5344CB8AC3E}">
        <p14:creationId xmlns:p14="http://schemas.microsoft.com/office/powerpoint/2010/main" val="17471343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218"/>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F744A11-C343-6723-E086-73DE22B7C168}"/>
              </a:ext>
            </a:extLst>
          </p:cNvPr>
          <p:cNvSpPr txBox="1"/>
          <p:nvPr/>
        </p:nvSpPr>
        <p:spPr>
          <a:xfrm>
            <a:off x="558800" y="330200"/>
            <a:ext cx="10414000" cy="369332"/>
          </a:xfrm>
          <a:prstGeom prst="rect">
            <a:avLst/>
          </a:prstGeom>
          <a:noFill/>
        </p:spPr>
        <p:txBody>
          <a:bodyPr vert="horz" wrap="square" lIns="0" tIns="0" rIns="0" bIns="0" rtlCol="0">
            <a:noAutofit/>
          </a:bodyPr>
          <a:lstStyle/>
          <a:p>
            <a:r>
              <a:rPr lang="es-ES" sz="1200" b="1">
                <a:solidFill>
                  <a:srgbClr val="DBA14D"/>
                </a:solidFill>
                <a:latin typeface="Segoe UI" panose="020B0502040204020203" pitchFamily="34" charset="0"/>
              </a:rPr>
              <a:t>18 / CIERRE</a:t>
            </a:r>
          </a:p>
        </p:txBody>
      </p:sp>
      <p:sp>
        <p:nvSpPr>
          <p:cNvPr id="3" name="CuadroTexto 2">
            <a:extLst>
              <a:ext uri="{FF2B5EF4-FFF2-40B4-BE49-F238E27FC236}">
                <a16:creationId xmlns:a16="http://schemas.microsoft.com/office/drawing/2014/main" id="{DC13B59A-D000-5E03-99D0-45D96061113C}"/>
              </a:ext>
            </a:extLst>
          </p:cNvPr>
          <p:cNvSpPr txBox="1"/>
          <p:nvPr/>
        </p:nvSpPr>
        <p:spPr>
          <a:xfrm>
            <a:off x="558800" y="685800"/>
            <a:ext cx="9906000" cy="369332"/>
          </a:xfrm>
          <a:prstGeom prst="rect">
            <a:avLst/>
          </a:prstGeom>
          <a:noFill/>
        </p:spPr>
        <p:txBody>
          <a:bodyPr vert="horz" wrap="square" lIns="0" tIns="0" rIns="0" bIns="0" rtlCol="0">
            <a:noAutofit/>
          </a:bodyPr>
          <a:lstStyle/>
          <a:p>
            <a:r>
              <a:rPr lang="es-ES" sz="3000" b="1">
                <a:solidFill>
                  <a:srgbClr val="F6F8FC"/>
                </a:solidFill>
                <a:latin typeface="Segoe UI" panose="020B0502040204020203" pitchFamily="34" charset="0"/>
              </a:rPr>
              <a:t>Resultado defendible</a:t>
            </a:r>
          </a:p>
        </p:txBody>
      </p:sp>
      <p:sp>
        <p:nvSpPr>
          <p:cNvPr id="4" name="CuadroTexto 3">
            <a:extLst>
              <a:ext uri="{FF2B5EF4-FFF2-40B4-BE49-F238E27FC236}">
                <a16:creationId xmlns:a16="http://schemas.microsoft.com/office/drawing/2014/main" id="{A32CEDB8-41A5-005B-833E-077646B66155}"/>
              </a:ext>
            </a:extLst>
          </p:cNvPr>
          <p:cNvSpPr txBox="1"/>
          <p:nvPr/>
        </p:nvSpPr>
        <p:spPr>
          <a:xfrm>
            <a:off x="1168400" y="2006600"/>
            <a:ext cx="9652000" cy="369332"/>
          </a:xfrm>
          <a:prstGeom prst="rect">
            <a:avLst/>
          </a:prstGeom>
          <a:noFill/>
        </p:spPr>
        <p:txBody>
          <a:bodyPr vert="horz" wrap="square" lIns="0" tIns="0" rIns="0" bIns="0" rtlCol="0">
            <a:noAutofit/>
          </a:bodyPr>
          <a:lstStyle/>
          <a:p>
            <a:r>
              <a:rPr lang="es-ES" sz="3000" b="1">
                <a:solidFill>
                  <a:srgbClr val="F6F8FC"/>
                </a:solidFill>
                <a:latin typeface="Segoe UI" panose="020B0502040204020203" pitchFamily="34" charset="0"/>
              </a:rPr>
              <a:t>El proyecto transforma una gestion dispersa en una plataforma web funcional, trazable y documentada para empresas colaboradoras y practicas de FP Dual.</a:t>
            </a:r>
          </a:p>
        </p:txBody>
      </p:sp>
      <p:sp>
        <p:nvSpPr>
          <p:cNvPr id="5" name="CuadroTexto 4">
            <a:extLst>
              <a:ext uri="{FF2B5EF4-FFF2-40B4-BE49-F238E27FC236}">
                <a16:creationId xmlns:a16="http://schemas.microsoft.com/office/drawing/2014/main" id="{447555E6-4BB1-4990-9C41-21473E35C63E}"/>
              </a:ext>
            </a:extLst>
          </p:cNvPr>
          <p:cNvSpPr txBox="1"/>
          <p:nvPr/>
        </p:nvSpPr>
        <p:spPr>
          <a:xfrm>
            <a:off x="1625600" y="4089400"/>
            <a:ext cx="8763000" cy="369332"/>
          </a:xfrm>
          <a:prstGeom prst="rect">
            <a:avLst/>
          </a:prstGeom>
          <a:noFill/>
        </p:spPr>
        <p:txBody>
          <a:bodyPr vert="horz" wrap="square" lIns="0" tIns="0" rIns="0" bIns="0" rtlCol="0">
            <a:noAutofit/>
          </a:bodyPr>
          <a:lstStyle/>
          <a:p>
            <a:pPr marL="457200" indent="-457200">
              <a:spcAft>
                <a:spcPts val="1000"/>
              </a:spcAft>
              <a:buFont typeface="+mj-lt"/>
              <a:buChar char="•"/>
            </a:pPr>
            <a:r>
              <a:rPr lang="es-ES" sz="1900">
                <a:solidFill>
                  <a:srgbClr val="C2CBD8"/>
                </a:solidFill>
                <a:latin typeface="Segoe UI" panose="020B0502040204020203" pitchFamily="34" charset="0"/>
              </a:rPr>
              <a:t>Problema real del centro.</a:t>
            </a:r>
          </a:p>
          <a:p>
            <a:pPr marL="457200" indent="-457200">
              <a:spcAft>
                <a:spcPts val="1000"/>
              </a:spcAft>
              <a:buFont typeface="+mj-lt"/>
              <a:buChar char="•"/>
            </a:pPr>
            <a:r>
              <a:rPr lang="es-ES" sz="1900">
                <a:solidFill>
                  <a:srgbClr val="C2CBD8"/>
                </a:solidFill>
                <a:latin typeface="Segoe UI" panose="020B0502040204020203" pitchFamily="34" charset="0"/>
              </a:rPr>
              <a:t>Arquitectura completa con backend, dos frontends y operacion local.</a:t>
            </a:r>
          </a:p>
          <a:p>
            <a:pPr marL="457200" indent="-457200">
              <a:spcAft>
                <a:spcPts val="1000"/>
              </a:spcAft>
              <a:buFont typeface="+mj-lt"/>
              <a:buChar char="•"/>
            </a:pPr>
            <a:r>
              <a:rPr lang="es-ES" sz="1900">
                <a:solidFill>
                  <a:srgbClr val="C2CBD8"/>
                </a:solidFill>
                <a:latin typeface="Segoe UI" panose="020B0502040204020203" pitchFamily="34" charset="0"/>
              </a:rPr>
              <a:t>Validacion tecnica, empaquetado y demo preparados.</a:t>
            </a:r>
          </a:p>
        </p:txBody>
      </p:sp>
      <p:sp>
        <p:nvSpPr>
          <p:cNvPr id="6" name="CuadroTexto 5">
            <a:extLst>
              <a:ext uri="{FF2B5EF4-FFF2-40B4-BE49-F238E27FC236}">
                <a16:creationId xmlns:a16="http://schemas.microsoft.com/office/drawing/2014/main" id="{2729358B-C002-34E2-3A00-E7052946587F}"/>
              </a:ext>
            </a:extLst>
          </p:cNvPr>
          <p:cNvSpPr txBox="1"/>
          <p:nvPr/>
        </p:nvSpPr>
        <p:spPr>
          <a:xfrm>
            <a:off x="4191000" y="5943600"/>
            <a:ext cx="3810000" cy="369332"/>
          </a:xfrm>
          <a:prstGeom prst="rect">
            <a:avLst/>
          </a:prstGeom>
          <a:noFill/>
        </p:spPr>
        <p:txBody>
          <a:bodyPr vert="horz" wrap="square" lIns="0" tIns="0" rIns="0" bIns="0" rtlCol="0">
            <a:noAutofit/>
          </a:bodyPr>
          <a:lstStyle/>
          <a:p>
            <a:r>
              <a:rPr lang="es-ES" sz="2200" b="1">
                <a:solidFill>
                  <a:srgbClr val="DBA14D"/>
                </a:solidFill>
                <a:latin typeface="Segoe UI" panose="020B0502040204020203" pitchFamily="34" charset="0"/>
              </a:rPr>
              <a:t>Demo y preguntas</a:t>
            </a:r>
          </a:p>
        </p:txBody>
      </p:sp>
    </p:spTree>
    <p:extLst>
      <p:ext uri="{BB962C8B-B14F-4D97-AF65-F5344CB8AC3E}">
        <p14:creationId xmlns:p14="http://schemas.microsoft.com/office/powerpoint/2010/main" val="326506349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2959</Words>
  <Application>Microsoft Office PowerPoint</Application>
  <PresentationFormat>Personalizado</PresentationFormat>
  <Paragraphs>232</Paragraphs>
  <Slides>19</Slides>
  <Notes>19</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19</vt:i4>
      </vt:variant>
    </vt:vector>
  </HeadingPairs>
  <TitlesOfParts>
    <vt:vector size="25" baseType="lpstr">
      <vt:lpstr>Aptos</vt:lpstr>
      <vt:lpstr>Aptos Display</vt:lpstr>
      <vt:lpstr>Arial</vt:lpstr>
      <vt:lpstr>Consolas</vt:lpstr>
      <vt:lpstr>Segoe UI</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Luis Ángel Méndez Minda</dc:creator>
  <cp:lastModifiedBy>Luis Ángel Méndez Minda</cp:lastModifiedBy>
  <cp:revision>1</cp:revision>
  <dcterms:created xsi:type="dcterms:W3CDTF">2026-06-04T20:38:18Z</dcterms:created>
  <dcterms:modified xsi:type="dcterms:W3CDTF">2026-06-04T20:38:19Z</dcterms:modified>
</cp:coreProperties>
</file>