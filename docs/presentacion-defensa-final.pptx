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08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059031-D005-033F-527C-2532EAFDF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151C16C-7DD0-8D00-A6C2-83E337E6DC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6FB086-1FAA-53BE-9924-178890CA8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83E1A23-60DF-8CF4-4D5A-FE5F19280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FC06098-BE92-3166-B3FF-BB3D6B629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6105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D8F515-57CD-7DBC-3D4C-239575297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50FE39-63BD-D9B8-1666-A34EA37670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EE7F05-89E6-9588-62F7-49D45E1C6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D0D6C44-66D1-D0F3-A664-59E365E86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6562176-8E15-94A2-29E4-2DA37DAD8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129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CAF63F-9D1A-D067-ADA4-3D4FD9ABC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293125-11DB-977A-26FC-657AEE913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6765E1-76E4-3BD3-54A5-6945A371A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1CD489E-74B7-9355-AED2-98A117A8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79FC5E-83F4-9070-F1AD-CABEC3000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0828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23E889-42FE-AAE2-FD9B-D46615EC2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DC9890-8552-BC1F-A811-E8447EBA7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C1DE10-CBFE-A5B5-E50D-5F4A032A97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72ABA5-0A0C-5646-43BD-F215AC9EB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902B53A-25F7-4386-F7F2-8D668F480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7C05165-9A70-E739-43B0-ABCC852AF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95092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6C73B9-025C-53EA-AC30-0915BB284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9948733-248B-D7B4-47BC-C180F0B0D8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CD6CCE-6DCF-F78A-40FF-40D0A74D85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7764DD9-26E9-2D25-FDE9-E9BF7098D8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01CD537-2D04-6254-7654-5BE03193D9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CEDF0AE-0300-3394-5CD6-5226575D7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BCB35A2-E749-9AFA-8214-08569E135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D836A66-1100-864F-4759-0AE448374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75045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C4182B-C525-0ECF-9468-3CF5D2D79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D6E5E95-C57A-8E5A-D875-6901DB055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D2D9EAB-FC7D-A384-F3AD-52D6CABF7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C4F2829-150F-B0E0-F6C7-73E414895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0967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DD91837-7567-4939-7FEA-FC09C5EAA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CFD4570-8133-CD03-C0EC-9A24EAE0F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27FAC1-FAB6-6815-FB0D-D15FCC738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6769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4F0AE0-8905-F645-6E6E-FCD033F6F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BFF8D5-C89A-F933-4530-5ADAB9F74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BCA8D70-883A-D5E4-2B4B-1810DB39E6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B680A9D-2C64-1081-0D49-51EC41D59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B5EFD7-9DED-D583-9B50-BEA7D34D0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37B4225-39A8-868E-FDB2-0A5EEF744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65838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364949-16BE-E78B-82D2-3C2315B3F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B02907C-1396-B908-FAA2-098E7C14FB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02D4E07-4280-8163-7063-884D2EB997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3950C08-5F43-D53F-61D2-7B45976E8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05AC3F4-2958-63F6-B084-4216A2F41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F6B1B05-4540-9367-33A0-D11C94E26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42256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306D51-8173-C58C-B3E7-ABF0DFCA1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2D32270-BCDC-E7C3-8E2C-768709CDED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E3FA4E6-A1B5-50BD-5294-F37E568BE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8C7386-B9E3-2184-B862-9C5190870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DFF596-B1AB-1310-787F-3A0960306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342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68F0699-4FB4-04B4-D93F-03A917E839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D784313-848C-71FB-5349-2423CBF41D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C8121BE-A98A-F3AA-B5AA-600E44498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3D6D49-535B-3B15-0DAC-F06C08FEC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E43E37E-E97A-9F12-B131-28CC09EB0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4455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D39D35-3453-AC02-5303-ADD3F6B5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3420041-04F8-C26A-0991-3AD4B3DAFD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166FF0-A09C-78EE-3785-892DA5DB13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35FBA3-5475-4EC2-B841-90BC3B1D7D90}" type="datetimeFigureOut">
              <a:rPr lang="es-ES" smtClean="0"/>
              <a:t>22/05/2026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5A76A51-3BB4-56F2-A015-086631DA70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FBF8BC-5BAE-1E68-ED65-7CE445BB8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B8D56F-A2A2-43A0-8CA7-B1F0D0BAB8F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54596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CA12C00C-31B8-57BA-AE1B-7F0B6DDD503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0B0E1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8694A69-AED5-9D5A-6CAF-BEA870CD3C25}"/>
              </a:ext>
            </a:extLst>
          </p:cNvPr>
          <p:cNvSpPr txBox="1"/>
          <p:nvPr/>
        </p:nvSpPr>
        <p:spPr>
          <a:xfrm>
            <a:off x="736600" y="6858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DBA14D"/>
                </a:solidFill>
                <a:latin typeface="Segoe UI" panose="020B0502040204020203" pitchFamily="34" charset="0"/>
              </a:rPr>
              <a:t>Trabajo Final de Grado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E2A4B0B-DFF1-F818-1C09-6E54098339A1}"/>
              </a:ext>
            </a:extLst>
          </p:cNvPr>
          <p:cNvSpPr txBox="1"/>
          <p:nvPr/>
        </p:nvSpPr>
        <p:spPr>
          <a:xfrm>
            <a:off x="736600" y="1320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4200" b="1">
                <a:solidFill>
                  <a:srgbClr val="F6F8FC"/>
                </a:solidFill>
                <a:latin typeface="Segoe UI" panose="020B0502040204020203" pitchFamily="34" charset="0"/>
              </a:rPr>
              <a:t>Gestion de Empresas Colaboradoras para FP Dual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54BA1BA-F4BA-9AE1-5D5D-9053E0635E3B}"/>
              </a:ext>
            </a:extLst>
          </p:cNvPr>
          <p:cNvSpPr txBox="1"/>
          <p:nvPr/>
        </p:nvSpPr>
        <p:spPr>
          <a:xfrm>
            <a:off x="787400" y="3124200"/>
            <a:ext cx="8064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Plataforma web para centralizar empresas, convenios, practicas, solicitudes externas, seguimiento documental y comunicacion empresa-centro.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8C02F9F-A59F-E971-B686-AB6159C2730C}"/>
              </a:ext>
            </a:extLst>
          </p:cNvPr>
          <p:cNvSpPr txBox="1"/>
          <p:nvPr/>
        </p:nvSpPr>
        <p:spPr>
          <a:xfrm>
            <a:off x="787400" y="52324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Autor: Luis Angel</a:t>
            </a:r>
          </a:p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Tutora: Elena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DE0169B-C9B0-5450-F4DA-2530A2097B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968500"/>
            <a:ext cx="4064000" cy="2286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72215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6B59D31-B9DC-D760-A623-8B14531379E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01 / PROBLEMA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252884E-54A6-C4A4-C9AA-79C2474013B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Punto de partida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383C05F-D800-EA0C-FD31-D2B4376E4045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gestion anterior estaba repartida entre hojas de calculo, correos y documentos sin una vista unificada.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D7DC599-150E-F713-3725-C263E8FEE87A}"/>
              </a:ext>
            </a:extLst>
          </p:cNvPr>
          <p:cNvSpPr txBox="1"/>
          <p:nvPr/>
        </p:nvSpPr>
        <p:spPr>
          <a:xfrm>
            <a:off x="889000" y="2349500"/>
            <a:ext cx="520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Informacion dispersa entre varias fuentes.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Dificultad para conocer el estado real de convenios, solicitudes y asignaciones.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Dependencia del conocimiento manual de la persona que coordina las practicas.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Poca trazabilidad sobre mensajes, documentos y cambios.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E507C1D7-4307-CC2D-472B-B68D55694694}"/>
              </a:ext>
            </a:extLst>
          </p:cNvPr>
          <p:cNvSpPr/>
          <p:nvPr/>
        </p:nvSpPr>
        <p:spPr>
          <a:xfrm>
            <a:off x="7112000" y="2184400"/>
            <a:ext cx="3937000" cy="2413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6F03797-4F39-A9A2-7DD6-11568179228C}"/>
              </a:ext>
            </a:extLst>
          </p:cNvPr>
          <p:cNvSpPr txBox="1"/>
          <p:nvPr/>
        </p:nvSpPr>
        <p:spPr>
          <a:xfrm>
            <a:off x="7493000" y="2540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700" b="1">
                <a:solidFill>
                  <a:srgbClr val="DBA14D"/>
                </a:solidFill>
                <a:latin typeface="Segoe UI" panose="020B0502040204020203" pitchFamily="34" charset="0"/>
              </a:rPr>
              <a:t>Necesidad principal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5FC4BE5-DFE4-7689-BE27-E9882E191B66}"/>
              </a:ext>
            </a:extLst>
          </p:cNvPr>
          <p:cNvSpPr txBox="1"/>
          <p:nvPr/>
        </p:nvSpPr>
        <p:spPr>
          <a:xfrm>
            <a:off x="7493000" y="3149600"/>
            <a:ext cx="3124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Pasar de una gestion dispersa a una plataforma unica, trazable y defendible.</a:t>
            </a:r>
          </a:p>
        </p:txBody>
      </p:sp>
    </p:spTree>
    <p:extLst>
      <p:ext uri="{BB962C8B-B14F-4D97-AF65-F5344CB8AC3E}">
        <p14:creationId xmlns:p14="http://schemas.microsoft.com/office/powerpoint/2010/main" val="534607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241425E-B117-BD72-C001-C78EACF704A6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02 / OBJETIVOS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F66F0AF-F511-E88E-DC69-E191BC124F50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tenia que resolver la aplicacion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F6727A9-78DB-0557-20DD-B8EB7AF51AA6}"/>
              </a:ext>
            </a:extLst>
          </p:cNvPr>
          <p:cNvSpPr/>
          <p:nvPr/>
        </p:nvSpPr>
        <p:spPr>
          <a:xfrm>
            <a:off x="7366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2FE1F28-F6C0-E5FA-79B4-B95CF15496BE}"/>
              </a:ext>
            </a:extLst>
          </p:cNvPr>
          <p:cNvSpPr txBox="1"/>
          <p:nvPr/>
        </p:nvSpPr>
        <p:spPr>
          <a:xfrm>
            <a:off x="10160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Centralizar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E44E7F3-F077-3094-A294-5BD32C8BB583}"/>
              </a:ext>
            </a:extLst>
          </p:cNvPr>
          <p:cNvSpPr txBox="1"/>
          <p:nvPr/>
        </p:nvSpPr>
        <p:spPr>
          <a:xfrm>
            <a:off x="10160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Empresas, convenios, estudiantes, tutores y asignaciones.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D920454-09FC-2587-F0DE-D0A7DF7EA35E}"/>
              </a:ext>
            </a:extLst>
          </p:cNvPr>
          <p:cNvSpPr/>
          <p:nvPr/>
        </p:nvSpPr>
        <p:spPr>
          <a:xfrm>
            <a:off x="61341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E21D43D-16AD-F5F6-BDFB-84B3AA0B59D1}"/>
              </a:ext>
            </a:extLst>
          </p:cNvPr>
          <p:cNvSpPr txBox="1"/>
          <p:nvPr/>
        </p:nvSpPr>
        <p:spPr>
          <a:xfrm>
            <a:off x="64135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Abrir canal externo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122C4B1-94B8-A693-9DA5-AB18AA191273}"/>
              </a:ext>
            </a:extLst>
          </p:cNvPr>
          <p:cNvSpPr txBox="1"/>
          <p:nvPr/>
        </p:nvSpPr>
        <p:spPr>
          <a:xfrm>
            <a:off x="64135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Registro de empresas, verificacion, estado y cuenta persistente.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7B9BC611-C26C-96E2-D235-63F14F631CC1}"/>
              </a:ext>
            </a:extLst>
          </p:cNvPr>
          <p:cNvSpPr/>
          <p:nvPr/>
        </p:nvSpPr>
        <p:spPr>
          <a:xfrm>
            <a:off x="7366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C30CB73-ABC6-44CC-565E-93634F9E011C}"/>
              </a:ext>
            </a:extLst>
          </p:cNvPr>
          <p:cNvSpPr txBox="1"/>
          <p:nvPr/>
        </p:nvSpPr>
        <p:spPr>
          <a:xfrm>
            <a:off x="10160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Trazabilidad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17968D9-A624-0ACE-9308-6E8A18865E52}"/>
              </a:ext>
            </a:extLst>
          </p:cNvPr>
          <p:cNvSpPr txBox="1"/>
          <p:nvPr/>
        </p:nvSpPr>
        <p:spPr>
          <a:xfrm>
            <a:off x="10160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Mensajeria, documentos versionados, evidencias y evaluacion final.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257EB0C-D9D0-C184-6E5B-8BC484D52FC8}"/>
              </a:ext>
            </a:extLst>
          </p:cNvPr>
          <p:cNvSpPr/>
          <p:nvPr/>
        </p:nvSpPr>
        <p:spPr>
          <a:xfrm>
            <a:off x="61341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00A1AEA-3EC4-5724-0CEF-FA2ECD0BC3A8}"/>
              </a:ext>
            </a:extLst>
          </p:cNvPr>
          <p:cNvSpPr txBox="1"/>
          <p:nvPr/>
        </p:nvSpPr>
        <p:spPr>
          <a:xfrm>
            <a:off x="64135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Defensa tecnica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D9E5A2C-6A0C-B66E-456E-3AEC7D0D06FD}"/>
              </a:ext>
            </a:extLst>
          </p:cNvPr>
          <p:cNvSpPr txBox="1"/>
          <p:nvPr/>
        </p:nvSpPr>
        <p:spPr>
          <a:xfrm>
            <a:off x="64135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Arquitectura separada, pruebas, demo y documentacion final.</a:t>
            </a:r>
          </a:p>
        </p:txBody>
      </p:sp>
    </p:spTree>
    <p:extLst>
      <p:ext uri="{BB962C8B-B14F-4D97-AF65-F5344CB8AC3E}">
        <p14:creationId xmlns:p14="http://schemas.microsoft.com/office/powerpoint/2010/main" val="5877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D6894B9-7A09-9B95-3443-33E8638F14FF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03 / ARQUITECTURA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24071AC-9EBD-DC2D-76A6-0CFCFD103EBA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Topologia operativa y de despliegue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56B5DDA-6B1D-C10D-D5B4-82EB3A0A89FB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URL publica termina en una VM con HTTPS, persistencia real y una consola tecnica de escritorio separada del flujo funcional.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96BE8CE-6DD6-ED45-A0AD-47E5EFE336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078" y="1854200"/>
            <a:ext cx="6183443" cy="4191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6B58FB45-5211-D9EC-048A-E18C9E3845B2}"/>
              </a:ext>
            </a:extLst>
          </p:cNvPr>
          <p:cNvSpPr txBox="1"/>
          <p:nvPr/>
        </p:nvSpPr>
        <p:spPr>
          <a:xfrm>
            <a:off x="7937500" y="22098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Caddy expone HTTPS y enruta a la aplicacion.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Symfony concentra seguridad, negocio y APIs.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PostgreSQL y documentos persisten fuera del contenedor.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Agora Desktop trabaja en local o en cloud.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operacion tecnica queda fuera del flujo web principal.</a:t>
            </a:r>
          </a:p>
        </p:txBody>
      </p:sp>
    </p:spTree>
    <p:extLst>
      <p:ext uri="{BB962C8B-B14F-4D97-AF65-F5344CB8AC3E}">
        <p14:creationId xmlns:p14="http://schemas.microsoft.com/office/powerpoint/2010/main" val="1522771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B937256-65C2-D3F4-12CB-5C1F28970552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04 / MODELO DE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D1DA558-0C53-9A96-0172-9248F5125B1A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De la cuenta de empresa a la asignacion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08FC2B9-DF8B-C8FD-E903-70C4CCAE42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1784350"/>
            <a:ext cx="5969000" cy="41783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7C21CA9-0A5D-01A1-051D-CB7C862EF4EA}"/>
              </a:ext>
            </a:extLst>
          </p:cNvPr>
          <p:cNvSpPr txBox="1"/>
          <p:nvPr/>
        </p:nvSpPr>
        <p:spPr>
          <a:xfrm>
            <a:off x="7239000" y="2006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Regla de negocio defendible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2A5F55E-01D6-0AF1-E583-370E61672D15}"/>
              </a:ext>
            </a:extLst>
          </p:cNvPr>
          <p:cNvSpPr txBox="1"/>
          <p:nvPr/>
        </p:nvSpPr>
        <p:spPr>
          <a:xfrm>
            <a:off x="7493000" y="2667000"/>
            <a:ext cx="3619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cuenta portal sobrevive al preregistro inicial.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solicitud concentra verificacion, estado y mensajes.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La empresa aprobada hereda convenios, documentos y tutores.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Asignacion, seguimiento y evaluacion cierran el ciclo.</a:t>
            </a:r>
          </a:p>
        </p:txBody>
      </p:sp>
    </p:spTree>
    <p:extLst>
      <p:ext uri="{BB962C8B-B14F-4D97-AF65-F5344CB8AC3E}">
        <p14:creationId xmlns:p14="http://schemas.microsoft.com/office/powerpoint/2010/main" val="2474189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E924B84-F47B-DC01-D66B-8597F0544946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05 / PANEL INTERNO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CCD5A62-B1D5-86D1-E2E2-6856DBFD033A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Gestion diaria del centro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237BC69-FB99-BB6B-A6CF-E358ACAB9EE2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Dashboard, CRUD operativo, solicitudes, bandeja, documentos, seguimientos y exportacion.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C211F6E-0CB9-616B-D161-7A43066C0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1905000"/>
            <a:ext cx="7112000" cy="40005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D4C2ECB-527E-C92D-2CF7-C4A0507F42D2}"/>
              </a:ext>
            </a:extLst>
          </p:cNvPr>
          <p:cNvSpPr/>
          <p:nvPr/>
        </p:nvSpPr>
        <p:spPr>
          <a:xfrm>
            <a:off x="8407400" y="20955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B705E7E-0D0B-D236-87BF-F998B6142B05}"/>
              </a:ext>
            </a:extLst>
          </p:cNvPr>
          <p:cNvSpPr txBox="1"/>
          <p:nvPr/>
        </p:nvSpPr>
        <p:spPr>
          <a:xfrm>
            <a:off x="8636000" y="22606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20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9ED82ED-2EFC-6CC0-F648-303E0681C4C1}"/>
              </a:ext>
            </a:extLst>
          </p:cNvPr>
          <p:cNvSpPr txBox="1"/>
          <p:nvPr/>
        </p:nvSpPr>
        <p:spPr>
          <a:xfrm>
            <a:off x="8636000" y="27559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empresas demo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1DE4E781-9C1B-E4B5-FD86-D174387B19A1}"/>
              </a:ext>
            </a:extLst>
          </p:cNvPr>
          <p:cNvSpPr/>
          <p:nvPr/>
        </p:nvSpPr>
        <p:spPr>
          <a:xfrm>
            <a:off x="8407400" y="35306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03CE05D-E38E-6F32-0775-3951BDF6BF85}"/>
              </a:ext>
            </a:extLst>
          </p:cNvPr>
          <p:cNvSpPr txBox="1"/>
          <p:nvPr/>
        </p:nvSpPr>
        <p:spPr>
          <a:xfrm>
            <a:off x="8636000" y="36957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DBA14D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CAFEFC4-6D7F-6657-1D86-B897FCC65027}"/>
              </a:ext>
            </a:extLst>
          </p:cNvPr>
          <p:cNvSpPr txBox="1"/>
          <p:nvPr/>
        </p:nvSpPr>
        <p:spPr>
          <a:xfrm>
            <a:off x="8636000" y="41910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convenios demo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C0694DD7-D23F-964D-BDC0-D9661DFF88CB}"/>
              </a:ext>
            </a:extLst>
          </p:cNvPr>
          <p:cNvSpPr/>
          <p:nvPr/>
        </p:nvSpPr>
        <p:spPr>
          <a:xfrm>
            <a:off x="8407400" y="49657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F53BB6E-3CE6-BE1D-D40F-FBBE7A1F69DA}"/>
              </a:ext>
            </a:extLst>
          </p:cNvPr>
          <p:cNvSpPr txBox="1"/>
          <p:nvPr/>
        </p:nvSpPr>
        <p:spPr>
          <a:xfrm>
            <a:off x="8636000" y="5130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CSV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647B05A-A1B2-4D0D-33A7-57439AFD4287}"/>
              </a:ext>
            </a:extLst>
          </p:cNvPr>
          <p:cNvSpPr txBox="1"/>
          <p:nvPr/>
        </p:nvSpPr>
        <p:spPr>
          <a:xfrm>
            <a:off x="8636000" y="56261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exportacion operativa</a:t>
            </a:r>
          </a:p>
        </p:txBody>
      </p:sp>
    </p:spTree>
    <p:extLst>
      <p:ext uri="{BB962C8B-B14F-4D97-AF65-F5344CB8AC3E}">
        <p14:creationId xmlns:p14="http://schemas.microsoft.com/office/powerpoint/2010/main" val="415349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33B6185-2DF4-B3B1-8E9A-F2D4F92F2A1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06 / FLUJO EMPRESA-CENTRO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3215777-F41E-4C87-F27F-5ED5F66E324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Solicitudes, aprobacion y bandeja unificada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B9A3945-4CA6-082C-858F-D90AA64C8A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11747"/>
            <a:ext cx="6794500" cy="38219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A48C1D83-A83C-BF1F-70C9-21016D01D0C7}"/>
              </a:ext>
            </a:extLst>
          </p:cNvPr>
          <p:cNvSpPr txBox="1"/>
          <p:nvPr/>
        </p:nvSpPr>
        <p:spPr>
          <a:xfrm>
            <a:off x="7937500" y="2108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empresa solicita colaborar desde el portal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correo queda verificado antes de la revision.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centro aprueba o rechaza desde el panel interno.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conversacion queda ligada a la solicitud y a la empresa.</a:t>
            </a:r>
          </a:p>
        </p:txBody>
      </p:sp>
    </p:spTree>
    <p:extLst>
      <p:ext uri="{BB962C8B-B14F-4D97-AF65-F5344CB8AC3E}">
        <p14:creationId xmlns:p14="http://schemas.microsoft.com/office/powerpoint/2010/main" val="3417312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F0FD4DE-A572-69EC-1608-A148201CE7E2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07 / PORTAL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4C9808F-684E-9BD9-488C-77D40B2CD85F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Experiencia de la empresa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28DD375-7F2F-94BA-46C2-EF4033BBC827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Alta, seguimiento de estado, activacion de cuenta, recuperacion de contrasena y area privada.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5C57F26-8802-0313-AE41-98E1383A3C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55" y="1854200"/>
            <a:ext cx="7224889" cy="4064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0B5CC5D-89EF-79C9-4AF4-E897D2E70ACB}"/>
              </a:ext>
            </a:extLst>
          </p:cNvPr>
          <p:cNvSpPr/>
          <p:nvPr/>
        </p:nvSpPr>
        <p:spPr>
          <a:xfrm>
            <a:off x="8763000" y="2082800"/>
            <a:ext cx="2286000" cy="914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8DFE88-AC85-6507-44A3-331D75BCEE55}"/>
              </a:ext>
            </a:extLst>
          </p:cNvPr>
          <p:cNvSpPr txBox="1"/>
          <p:nvPr/>
        </p:nvSpPr>
        <p:spPr>
          <a:xfrm>
            <a:off x="9042400" y="23368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Sin acceso interno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D288753-8414-2AC0-F936-58787869B2F6}"/>
              </a:ext>
            </a:extLst>
          </p:cNvPr>
          <p:cNvSpPr txBox="1"/>
          <p:nvPr/>
        </p:nvSpPr>
        <p:spPr>
          <a:xfrm>
            <a:off x="87630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portal externo tiene su propio recorrido y no mezcla credenciales de empresa con el panel del centro.</a:t>
            </a:r>
          </a:p>
        </p:txBody>
      </p:sp>
    </p:spTree>
    <p:extLst>
      <p:ext uri="{BB962C8B-B14F-4D97-AF65-F5344CB8AC3E}">
        <p14:creationId xmlns:p14="http://schemas.microsoft.com/office/powerpoint/2010/main" val="19656590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80B07DD-CC23-8706-3431-86AD8212814B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08 / DESARROLLO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28EEFA2-265D-AC07-5F82-F0037E3AC65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lo he desarrollado y que partes tiene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A9C0075-714F-CC23-DC53-DBA99F67999C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presentacion se apoya en bloques funcionales y decisiones de arquitectura, no en fragmentos de codigo.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0C19EB6-6556-325A-BC62-46F8CCBB7F3D}"/>
              </a:ext>
            </a:extLst>
          </p:cNvPr>
          <p:cNvSpPr/>
          <p:nvPr/>
        </p:nvSpPr>
        <p:spPr>
          <a:xfrm>
            <a:off x="762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C6FC31A-C276-07A6-83B1-ECA11B3FD75E}"/>
              </a:ext>
            </a:extLst>
          </p:cNvPr>
          <p:cNvSpPr txBox="1"/>
          <p:nvPr/>
        </p:nvSpPr>
        <p:spPr>
          <a:xfrm>
            <a:off x="990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Analisis del 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B54BA2B-08B6-BE01-F079-60061C08C708}"/>
              </a:ext>
            </a:extLst>
          </p:cNvPr>
          <p:cNvSpPr txBox="1"/>
          <p:nvPr/>
        </p:nvSpPr>
        <p:spPr>
          <a:xfrm>
            <a:off x="990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Necesidad real del centro y alcance viable para el TFG.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EBF0AD2-CDF2-F01F-70D1-E91CD7A7DD7B}"/>
              </a:ext>
            </a:extLst>
          </p:cNvPr>
          <p:cNvSpPr/>
          <p:nvPr/>
        </p:nvSpPr>
        <p:spPr>
          <a:xfrm>
            <a:off x="6096000" y="19558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8967BEB-B7E1-E56D-8A03-786CB7503607}"/>
              </a:ext>
            </a:extLst>
          </p:cNvPr>
          <p:cNvSpPr txBox="1"/>
          <p:nvPr/>
        </p:nvSpPr>
        <p:spPr>
          <a:xfrm>
            <a:off x="6324600" y="213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Modelo y reglas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E3F8F6D-FD23-7789-E9ED-1063D1A95BCD}"/>
              </a:ext>
            </a:extLst>
          </p:cNvPr>
          <p:cNvSpPr txBox="1"/>
          <p:nvPr/>
        </p:nvSpPr>
        <p:spPr>
          <a:xfrm>
            <a:off x="6324600" y="2489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Empresa, convenio, asignacion, seguimiento y evaluacion.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333A217-60C6-F9DA-7DE5-3273F9DFAE2B}"/>
              </a:ext>
            </a:extLst>
          </p:cNvPr>
          <p:cNvSpPr/>
          <p:nvPr/>
        </p:nvSpPr>
        <p:spPr>
          <a:xfrm>
            <a:off x="762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ED88DF8-8179-2C5F-A0A9-73DBD73DCDE0}"/>
              </a:ext>
            </a:extLst>
          </p:cNvPr>
          <p:cNvSpPr txBox="1"/>
          <p:nvPr/>
        </p:nvSpPr>
        <p:spPr>
          <a:xfrm>
            <a:off x="990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Backend Symfony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B112D6E-CB2E-0EFB-19C3-9726970F7664}"/>
              </a:ext>
            </a:extLst>
          </p:cNvPr>
          <p:cNvSpPr txBox="1"/>
          <p:nvPr/>
        </p:nvSpPr>
        <p:spPr>
          <a:xfrm>
            <a:off x="990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API, seguridad, correo, tokens, auditoria y persistencia.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842ED75-80EE-6CE7-5FA0-6BC71FE444A2}"/>
              </a:ext>
            </a:extLst>
          </p:cNvPr>
          <p:cNvSpPr/>
          <p:nvPr/>
        </p:nvSpPr>
        <p:spPr>
          <a:xfrm>
            <a:off x="6096000" y="32766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14AF3F0-407F-5076-6C71-0534F90D1895}"/>
              </a:ext>
            </a:extLst>
          </p:cNvPr>
          <p:cNvSpPr txBox="1"/>
          <p:nvPr/>
        </p:nvSpPr>
        <p:spPr>
          <a:xfrm>
            <a:off x="6324600" y="345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interno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0BA1C4D-F3EC-3959-933A-B3D1DADBB214}"/>
              </a:ext>
            </a:extLst>
          </p:cNvPr>
          <p:cNvSpPr txBox="1"/>
          <p:nvPr/>
        </p:nvSpPr>
        <p:spPr>
          <a:xfrm>
            <a:off x="6324600" y="3810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Gestion academica, bandeja, documentos y exportacion CSV.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BE43186C-06C5-4633-B185-1519E17A5942}"/>
              </a:ext>
            </a:extLst>
          </p:cNvPr>
          <p:cNvSpPr/>
          <p:nvPr/>
        </p:nvSpPr>
        <p:spPr>
          <a:xfrm>
            <a:off x="762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348EC1A2-FF8F-191C-74D6-0CA65E360857}"/>
              </a:ext>
            </a:extLst>
          </p:cNvPr>
          <p:cNvSpPr txBox="1"/>
          <p:nvPr/>
        </p:nvSpPr>
        <p:spPr>
          <a:xfrm>
            <a:off x="990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Portal externo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47B51CF-EB24-88AC-F4AC-00F45C4C5859}"/>
              </a:ext>
            </a:extLst>
          </p:cNvPr>
          <p:cNvSpPr txBox="1"/>
          <p:nvPr/>
        </p:nvSpPr>
        <p:spPr>
          <a:xfrm>
            <a:off x="990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Registro, verificacion, estado, acceso empresa y chat.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4F3917CC-2989-10E3-5A63-461C4CADE5B8}"/>
              </a:ext>
            </a:extLst>
          </p:cNvPr>
          <p:cNvSpPr/>
          <p:nvPr/>
        </p:nvSpPr>
        <p:spPr>
          <a:xfrm>
            <a:off x="6096000" y="4597400"/>
            <a:ext cx="4572000" cy="1041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AF1EBAA-28C0-396A-C89C-E8851E4224F6}"/>
              </a:ext>
            </a:extLst>
          </p:cNvPr>
          <p:cNvSpPr txBox="1"/>
          <p:nvPr/>
        </p:nvSpPr>
        <p:spPr>
          <a:xfrm>
            <a:off x="6324600" y="47752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Operacion final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C5F6D84-BE3E-CD72-653E-18210851BA33}"/>
              </a:ext>
            </a:extLst>
          </p:cNvPr>
          <p:cNvSpPr txBox="1"/>
          <p:nvPr/>
        </p:nvSpPr>
        <p:spPr>
          <a:xfrm>
            <a:off x="6324600" y="5130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App de escritorio, pruebas, logs, backups y empaquetado.</a:t>
            </a:r>
          </a:p>
        </p:txBody>
      </p:sp>
    </p:spTree>
    <p:extLst>
      <p:ext uri="{BB962C8B-B14F-4D97-AF65-F5344CB8AC3E}">
        <p14:creationId xmlns:p14="http://schemas.microsoft.com/office/powerpoint/2010/main" val="2556743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401F12A-9BD6-9813-B0F8-BFA0D273FA7E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09 / CORREO Y RECHAZO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44A9632-27FC-CA47-4923-739611D3D20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Gestor de correos y comunicaciones transaccionales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19469AF-74E0-545A-7EE2-3321F726B710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proveedor configurado es Brevo y cubre tanto correo funcional como operaciones sensibles.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711DDAD-F082-BCA4-9ED1-837EFA9EB665}"/>
              </a:ext>
            </a:extLst>
          </p:cNvPr>
          <p:cNvSpPr/>
          <p:nvPr/>
        </p:nvSpPr>
        <p:spPr>
          <a:xfrm>
            <a:off x="736600" y="2032000"/>
            <a:ext cx="3175000" cy="28702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6A13E2F-B7DB-09AE-0DEA-611461763BA0}"/>
              </a:ext>
            </a:extLst>
          </p:cNvPr>
          <p:cNvSpPr txBox="1"/>
          <p:nvPr/>
        </p:nvSpPr>
        <p:spPr>
          <a:xfrm>
            <a:off x="1168400" y="2438400"/>
            <a:ext cx="231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800" b="1">
                <a:solidFill>
                  <a:srgbClr val="DBA14D"/>
                </a:solidFill>
                <a:latin typeface="Segoe UI" panose="020B0502040204020203" pitchFamily="34" charset="0"/>
              </a:rPr>
              <a:t>Brevo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7C53391-5E60-7DB8-BF96-2A8BD44BB41B}"/>
              </a:ext>
            </a:extLst>
          </p:cNvPr>
          <p:cNvSpPr txBox="1"/>
          <p:nvPr/>
        </p:nvSpPr>
        <p:spPr>
          <a:xfrm>
            <a:off x="1092200" y="3124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Verificacion de solicitud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Activacion de cuenta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Recuperacion de contrasena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MFA tecnico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F6F8FC"/>
                </a:solidFill>
                <a:latin typeface="Segoe UI" panose="020B0502040204020203" pitchFamily="34" charset="0"/>
              </a:rPr>
              <a:t>Aviso de rechazo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3EA4F40-A00D-4014-B74E-E0942500B6D5}"/>
              </a:ext>
            </a:extLst>
          </p:cNvPr>
          <p:cNvSpPr/>
          <p:nvPr/>
        </p:nvSpPr>
        <p:spPr>
          <a:xfrm>
            <a:off x="4597400" y="20320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05FA132-06B5-98AA-2252-642A93FC30F0}"/>
              </a:ext>
            </a:extLst>
          </p:cNvPr>
          <p:cNvSpPr txBox="1"/>
          <p:nvPr/>
        </p:nvSpPr>
        <p:spPr>
          <a:xfrm>
            <a:off x="4876800" y="21590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1. Registro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6DF0045-A309-75DB-E583-BC19BE3DBE6F}"/>
              </a:ext>
            </a:extLst>
          </p:cNvPr>
          <p:cNvSpPr txBox="1"/>
          <p:nvPr/>
        </p:nvSpPr>
        <p:spPr>
          <a:xfrm>
            <a:off x="6604000" y="21590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empresa envia la solicitud.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D2E0A56-6D22-4A0F-E246-95645F83C1B2}"/>
              </a:ext>
            </a:extLst>
          </p:cNvPr>
          <p:cNvSpPr/>
          <p:nvPr/>
        </p:nvSpPr>
        <p:spPr>
          <a:xfrm>
            <a:off x="4597400" y="28956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508AFE7-8CFD-0FF6-B5D8-6A1F1ABFF0B8}"/>
              </a:ext>
            </a:extLst>
          </p:cNvPr>
          <p:cNvSpPr txBox="1"/>
          <p:nvPr/>
        </p:nvSpPr>
        <p:spPr>
          <a:xfrm>
            <a:off x="4876800" y="30226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2. Verificacion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B30D510A-3075-BACE-8938-17866590C4C0}"/>
              </a:ext>
            </a:extLst>
          </p:cNvPr>
          <p:cNvSpPr txBox="1"/>
          <p:nvPr/>
        </p:nvSpPr>
        <p:spPr>
          <a:xfrm>
            <a:off x="6604000" y="30226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Recibe enlace y confirma correo.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DB74B9A-DC97-8FB9-3B55-1CE9D0431FC9}"/>
              </a:ext>
            </a:extLst>
          </p:cNvPr>
          <p:cNvSpPr/>
          <p:nvPr/>
        </p:nvSpPr>
        <p:spPr>
          <a:xfrm>
            <a:off x="4597400" y="37592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C09EDE9-1D72-935B-4F1D-208CB3808437}"/>
              </a:ext>
            </a:extLst>
          </p:cNvPr>
          <p:cNvSpPr txBox="1"/>
          <p:nvPr/>
        </p:nvSpPr>
        <p:spPr>
          <a:xfrm>
            <a:off x="4876800" y="38862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3. Revision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504C2AB-32D7-51B0-8D8D-63B622801529}"/>
              </a:ext>
            </a:extLst>
          </p:cNvPr>
          <p:cNvSpPr txBox="1"/>
          <p:nvPr/>
        </p:nvSpPr>
        <p:spPr>
          <a:xfrm>
            <a:off x="6604000" y="38862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El centro aprueba o rechaza.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B58F593-AD63-B552-0688-7DB6DAF48C2E}"/>
              </a:ext>
            </a:extLst>
          </p:cNvPr>
          <p:cNvSpPr/>
          <p:nvPr/>
        </p:nvSpPr>
        <p:spPr>
          <a:xfrm>
            <a:off x="4597400" y="4622800"/>
            <a:ext cx="6477000" cy="685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307EEDE5-3F42-E0C3-85B0-EEEEDBBE1196}"/>
              </a:ext>
            </a:extLst>
          </p:cNvPr>
          <p:cNvSpPr txBox="1"/>
          <p:nvPr/>
        </p:nvSpPr>
        <p:spPr>
          <a:xfrm>
            <a:off x="4876800" y="4749800"/>
            <a:ext cx="1676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4975B0"/>
                </a:solidFill>
                <a:latin typeface="Segoe UI" panose="020B0502040204020203" pitchFamily="34" charset="0"/>
              </a:rPr>
              <a:t>4. Resultado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C9DC3D6-AFBF-D787-D231-DD172FA254D4}"/>
              </a:ext>
            </a:extLst>
          </p:cNvPr>
          <p:cNvSpPr txBox="1"/>
          <p:nvPr/>
        </p:nvSpPr>
        <p:spPr>
          <a:xfrm>
            <a:off x="6604000" y="4749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Si se rechaza llega correo y el estado sigue visible en el portal.</a:t>
            </a:r>
          </a:p>
        </p:txBody>
      </p:sp>
    </p:spTree>
    <p:extLst>
      <p:ext uri="{BB962C8B-B14F-4D97-AF65-F5344CB8AC3E}">
        <p14:creationId xmlns:p14="http://schemas.microsoft.com/office/powerpoint/2010/main" val="3163905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35F3ACD-6D7E-558F-DCCC-3153F82008B0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10 / DOMINIO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9B93B46-68C3-01DA-F96E-996FF02A0DD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resuelvo el acceso publico y los enlaces de correo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09939A8-2448-44CA-16EA-FE600681691A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problema ya no es una IP local incrustada: la plataforma publica una URL HTTPS estable sobre la VM cloud.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E36CB12-3F6B-8C73-109F-8925106B4365}"/>
              </a:ext>
            </a:extLst>
          </p:cNvPr>
          <p:cNvSpPr/>
          <p:nvPr/>
        </p:nvSpPr>
        <p:spPr>
          <a:xfrm>
            <a:off x="9144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064C8B6-4FC8-72DF-DB7D-38C0B54EEB90}"/>
              </a:ext>
            </a:extLst>
          </p:cNvPr>
          <p:cNvSpPr txBox="1"/>
          <p:nvPr/>
        </p:nvSpPr>
        <p:spPr>
          <a:xfrm>
            <a:off x="12192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Infraestructura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4FBAB40-7507-AABA-BD78-3A210EDF719B}"/>
              </a:ext>
            </a:extLst>
          </p:cNvPr>
          <p:cNvSpPr txBox="1"/>
          <p:nvPr/>
        </p:nvSpPr>
        <p:spPr>
          <a:xfrm>
            <a:off x="1219200" y="31242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>
                <a:solidFill>
                  <a:srgbClr val="1F2937"/>
                </a:solidFill>
                <a:latin typeface="Consolas" panose="020B0609020204030204" pitchFamily="49" charset="0"/>
              </a:rPr>
              <a:t>GCP + Docker Compose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066D45E-EB66-0063-7ABA-758AC6A4EC3A}"/>
              </a:ext>
            </a:extLst>
          </p:cNvPr>
          <p:cNvSpPr/>
          <p:nvPr/>
        </p:nvSpPr>
        <p:spPr>
          <a:xfrm>
            <a:off x="4775200" y="2463800"/>
            <a:ext cx="24130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EA7E78D-7589-43E1-79CE-8B4EA40E8A4A}"/>
              </a:ext>
            </a:extLst>
          </p:cNvPr>
          <p:cNvSpPr txBox="1"/>
          <p:nvPr/>
        </p:nvSpPr>
        <p:spPr>
          <a:xfrm>
            <a:off x="5130800" y="2717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Borde HTTPS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2F702A2-5CEB-7576-A787-8A61EFA2127E}"/>
              </a:ext>
            </a:extLst>
          </p:cNvPr>
          <p:cNvSpPr txBox="1"/>
          <p:nvPr/>
        </p:nvSpPr>
        <p:spPr>
          <a:xfrm>
            <a:off x="5410200" y="3124200"/>
            <a:ext cx="114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Consolas" panose="020B0609020204030204" pitchFamily="49" charset="0"/>
              </a:rPr>
              <a:t>Caddy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F3E7393-FB97-F29D-F9BB-FBBFB5EDC115}"/>
              </a:ext>
            </a:extLst>
          </p:cNvPr>
          <p:cNvSpPr/>
          <p:nvPr/>
        </p:nvSpPr>
        <p:spPr>
          <a:xfrm>
            <a:off x="8255000" y="2463800"/>
            <a:ext cx="3073400" cy="11684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1DF95A3-3B8C-BBCB-440D-FF242319D753}"/>
              </a:ext>
            </a:extLst>
          </p:cNvPr>
          <p:cNvSpPr txBox="1"/>
          <p:nvPr/>
        </p:nvSpPr>
        <p:spPr>
          <a:xfrm>
            <a:off x="8559800" y="2717800"/>
            <a:ext cx="228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DBA14D"/>
                </a:solidFill>
                <a:latin typeface="Segoe UI" panose="020B0502040204020203" pitchFamily="34" charset="0"/>
              </a:rPr>
              <a:t>URL publica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96EBE17-31C8-2466-B02D-8F17579092DD}"/>
              </a:ext>
            </a:extLst>
          </p:cNvPr>
          <p:cNvSpPr txBox="1"/>
          <p:nvPr/>
        </p:nvSpPr>
        <p:spPr>
          <a:xfrm>
            <a:off x="8483600" y="3124200"/>
            <a:ext cx="2641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900">
                <a:solidFill>
                  <a:srgbClr val="F6F8FC"/>
                </a:solidFill>
                <a:latin typeface="Consolas" panose="020B0609020204030204" pitchFamily="49" charset="0"/>
              </a:rPr>
              <a:t>https://agora.34.175.225.98...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18D0947-2F0A-2FE3-C043-548405AC1F5D}"/>
              </a:ext>
            </a:extLst>
          </p:cNvPr>
          <p:cNvSpPr txBox="1"/>
          <p:nvPr/>
        </p:nvSpPr>
        <p:spPr>
          <a:xfrm>
            <a:off x="1168400" y="4216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portal externo y los correos usan ya el origen publico correcto de la VM.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APP_EXTERNAL_BASE_URL fija la URL canonica para enlaces y notificaciones.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siguiente paso natural seria cambiar nip.io por dominio institucional propio.</a:t>
            </a:r>
          </a:p>
        </p:txBody>
      </p:sp>
    </p:spTree>
    <p:extLst>
      <p:ext uri="{BB962C8B-B14F-4D97-AF65-F5344CB8AC3E}">
        <p14:creationId xmlns:p14="http://schemas.microsoft.com/office/powerpoint/2010/main" val="14787266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D226011-882C-5D32-E9F7-E07A5A18B3EE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11 / MENSAJERIA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EBBE66B-C209-06AB-7B21-134AF129D97E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Bandeja y chat con actualizacion automatica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B7CD03D-62F3-7881-498F-DFEEF490B40D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comunicacion entre centro y empresa no depende ya de recargar la pagina a mano.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FD68646-2437-6E7B-BC5A-E81618CDDD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2028825"/>
            <a:ext cx="6604000" cy="37147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DBFDBCC1-E1EF-D77B-8FE3-CE19CEAE6F0F}"/>
              </a:ext>
            </a:extLst>
          </p:cNvPr>
          <p:cNvSpPr/>
          <p:nvPr/>
        </p:nvSpPr>
        <p:spPr>
          <a:xfrm>
            <a:off x="7874000" y="2082800"/>
            <a:ext cx="3175000" cy="10668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0ACC945-01BD-D4E7-6294-F7EF4B534FDF}"/>
              </a:ext>
            </a:extLst>
          </p:cNvPr>
          <p:cNvSpPr txBox="1"/>
          <p:nvPr/>
        </p:nvSpPr>
        <p:spPr>
          <a:xfrm>
            <a:off x="8255000" y="2336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Actualizacion automatica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7AC6533-69F5-F6BB-1B20-2EADCB7D8E47}"/>
              </a:ext>
            </a:extLst>
          </p:cNvPr>
          <p:cNvSpPr txBox="1"/>
          <p:nvPr/>
        </p:nvSpPr>
        <p:spPr>
          <a:xfrm>
            <a:off x="8813800" y="27178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F6F8FC"/>
                </a:solidFill>
                <a:latin typeface="Segoe UI" panose="020B0502040204020203" pitchFamily="34" charset="0"/>
              </a:rPr>
              <a:t>5 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0213126-36BE-9D61-BB6F-48D2DAA61D48}"/>
              </a:ext>
            </a:extLst>
          </p:cNvPr>
          <p:cNvSpPr txBox="1"/>
          <p:nvPr/>
        </p:nvSpPr>
        <p:spPr>
          <a:xfrm>
            <a:off x="7924800" y="3479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Refresco periodico del chat y de la bandeja.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Nueva carga cuando la ventana recupera el foco.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La empresa tambien ve cambios en su panel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El rechazo queda comunicado por correo y visible en estado.</a:t>
            </a:r>
          </a:p>
        </p:txBody>
      </p:sp>
    </p:spTree>
    <p:extLst>
      <p:ext uri="{BB962C8B-B14F-4D97-AF65-F5344CB8AC3E}">
        <p14:creationId xmlns:p14="http://schemas.microsoft.com/office/powerpoint/2010/main" val="1591126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0FEA101-1787-D34F-EBCE-81821753563A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12 / AGORA DESKTOP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BE57B89-4ECA-778F-091E-780B6A53E81A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Consola tecnica local y cloud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8359D4C-15E0-EF2F-320C-1AECD8A8143D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parte tecnica ya no depende de varios terminales sueltos ni de una pagina web separada: queda centralizada en una sola app.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368E9F4-87A0-5B38-0FA9-F674CD3CCE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560" y="1879600"/>
            <a:ext cx="5679281" cy="40386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D8ED3307-E8D5-7A56-34A1-97FA5618ED28}"/>
              </a:ext>
            </a:extLst>
          </p:cNvPr>
          <p:cNvSpPr txBox="1"/>
          <p:nvPr/>
        </p:nvSpPr>
        <p:spPr>
          <a:xfrm>
            <a:off x="6858000" y="20574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local para backend, SQLite y demo offline.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Modo cloud para estado, smoke, logs y reinicios remotos.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MFA en operaciones sensibles del flujo local.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Diagnostico, logs y backups desde una sola interfaz.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Empaquetado Windows listo para la defensa.</a:t>
            </a:r>
          </a:p>
        </p:txBody>
      </p:sp>
    </p:spTree>
    <p:extLst>
      <p:ext uri="{BB962C8B-B14F-4D97-AF65-F5344CB8AC3E}">
        <p14:creationId xmlns:p14="http://schemas.microsoft.com/office/powerpoint/2010/main" val="4092572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C079CF6-847E-B171-8FC9-EE51868AA9FC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13 / VALIDACION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313C642-87F1-721E-4386-6FE868113DC6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Comprobaciones ejecutadas antes de la revision final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85BECDB7-B362-8231-9619-F2E5D58A1005}"/>
              </a:ext>
            </a:extLst>
          </p:cNvPr>
          <p:cNvSpPr/>
          <p:nvPr/>
        </p:nvSpPr>
        <p:spPr>
          <a:xfrm>
            <a:off x="8890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E29C3F1-5EA6-5F0B-438B-8715970D4802}"/>
              </a:ext>
            </a:extLst>
          </p:cNvPr>
          <p:cNvSpPr txBox="1"/>
          <p:nvPr/>
        </p:nvSpPr>
        <p:spPr>
          <a:xfrm>
            <a:off x="11176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110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D0116EA-CA58-8658-8A63-448B22684393}"/>
              </a:ext>
            </a:extLst>
          </p:cNvPr>
          <p:cNvSpPr txBox="1"/>
          <p:nvPr/>
        </p:nvSpPr>
        <p:spPr>
          <a:xfrm>
            <a:off x="11176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backend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FE84D8D8-90E1-8533-7204-D3D2A4BF27ED}"/>
              </a:ext>
            </a:extLst>
          </p:cNvPr>
          <p:cNvSpPr/>
          <p:nvPr/>
        </p:nvSpPr>
        <p:spPr>
          <a:xfrm>
            <a:off x="37084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87F0B20-E7AC-6505-CF65-3BA1DF35B8D6}"/>
              </a:ext>
            </a:extLst>
          </p:cNvPr>
          <p:cNvSpPr txBox="1"/>
          <p:nvPr/>
        </p:nvSpPr>
        <p:spPr>
          <a:xfrm>
            <a:off x="39370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628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C214E30-597D-FEC0-05E2-F3AC74E7DEB8}"/>
              </a:ext>
            </a:extLst>
          </p:cNvPr>
          <p:cNvSpPr txBox="1"/>
          <p:nvPr/>
        </p:nvSpPr>
        <p:spPr>
          <a:xfrm>
            <a:off x="39370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aserciones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98FCAEE6-CF8C-4E2F-0F19-93531F6094D9}"/>
              </a:ext>
            </a:extLst>
          </p:cNvPr>
          <p:cNvSpPr/>
          <p:nvPr/>
        </p:nvSpPr>
        <p:spPr>
          <a:xfrm>
            <a:off x="65278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9DD5221-CB77-3946-945B-ED03C56B4F18}"/>
              </a:ext>
            </a:extLst>
          </p:cNvPr>
          <p:cNvSpPr txBox="1"/>
          <p:nvPr/>
        </p:nvSpPr>
        <p:spPr>
          <a:xfrm>
            <a:off x="67564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14/14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6A59FD6-B3A1-CD70-9DE0-3E8780A7FAA4}"/>
              </a:ext>
            </a:extLst>
          </p:cNvPr>
          <p:cNvSpPr txBox="1"/>
          <p:nvPr/>
        </p:nvSpPr>
        <p:spPr>
          <a:xfrm>
            <a:off x="67564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frontend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B1F8AD1-7F45-EF05-0EFE-43C74B89FCF5}"/>
              </a:ext>
            </a:extLst>
          </p:cNvPr>
          <p:cNvSpPr/>
          <p:nvPr/>
        </p:nvSpPr>
        <p:spPr>
          <a:xfrm>
            <a:off x="93472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F364583-14F5-A4A3-5040-F37EDCE902B2}"/>
              </a:ext>
            </a:extLst>
          </p:cNvPr>
          <p:cNvSpPr txBox="1"/>
          <p:nvPr/>
        </p:nvSpPr>
        <p:spPr>
          <a:xfrm>
            <a:off x="95758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6/6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F160FCF-4064-F354-0757-E15C94A23CEA}"/>
              </a:ext>
            </a:extLst>
          </p:cNvPr>
          <p:cNvSpPr txBox="1"/>
          <p:nvPr/>
        </p:nvSpPr>
        <p:spPr>
          <a:xfrm>
            <a:off x="95758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E2E Playwright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42B4C6B-081C-983E-4721-C578D827C133}"/>
              </a:ext>
            </a:extLst>
          </p:cNvPr>
          <p:cNvSpPr txBox="1"/>
          <p:nvPr/>
        </p:nvSpPr>
        <p:spPr>
          <a:xfrm>
            <a:off x="1193800" y="39878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Build integrada de /app y /externo publicada en Symfony.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Verificados correo, rechazo, URLs publicas, chat y consola tecnica de escritorio.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Tambien se ha validado el empaquetado Windows con PHP embebido y SQLite.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DAC2496-CB21-BB79-6A8F-1736264AA6EB}"/>
              </a:ext>
            </a:extLst>
          </p:cNvPr>
          <p:cNvSpPr txBox="1"/>
          <p:nvPr/>
        </p:nvSpPr>
        <p:spPr>
          <a:xfrm>
            <a:off x="1193800" y="5562600"/>
            <a:ext cx="927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Queda una deprecacion tecnica de PHPUnit, no bloqueante para la demo ni para la funcionalidad.</a:t>
            </a:r>
          </a:p>
        </p:txBody>
      </p:sp>
    </p:spTree>
    <p:extLst>
      <p:ext uri="{BB962C8B-B14F-4D97-AF65-F5344CB8AC3E}">
        <p14:creationId xmlns:p14="http://schemas.microsoft.com/office/powerpoint/2010/main" val="759711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F0FB4CF-CD89-070F-975D-674DF1115C7B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14 / ACCESO DE EVALUACION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C7F7206-889E-083C-0320-557B21F7B36B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puede probarla la profesora desde fuera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1BC3496-DE1B-F1DC-BE3A-CA6209C02ADB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Con la VM levantada no necesita instalar dependencias en su equipo.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3E13D95-BD0D-3E84-2634-A940742D71A5}"/>
              </a:ext>
            </a:extLst>
          </p:cNvPr>
          <p:cNvSpPr/>
          <p:nvPr/>
        </p:nvSpPr>
        <p:spPr>
          <a:xfrm>
            <a:off x="863600" y="2006600"/>
            <a:ext cx="10464800" cy="1168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E7E188B-4D9F-3058-AD3A-65F08844F2E9}"/>
              </a:ext>
            </a:extLst>
          </p:cNvPr>
          <p:cNvSpPr txBox="1"/>
          <p:nvPr/>
        </p:nvSpPr>
        <p:spPr>
          <a:xfrm>
            <a:off x="1244600" y="2362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 b="1">
                <a:solidFill>
                  <a:srgbClr val="4975B0"/>
                </a:solidFill>
                <a:latin typeface="Consolas" panose="020B0609020204030204" pitchFamily="49" charset="0"/>
              </a:rPr>
              <a:t>\https://agora.34.175.225.98.nip.io/app   |   https://agora.34.175.225.98.nip.io/externo\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F17D35A-B719-4E36-CAF5-9BF82D8F1071}"/>
              </a:ext>
            </a:extLst>
          </p:cNvPr>
          <p:cNvSpPr txBox="1"/>
          <p:nvPr/>
        </p:nvSpPr>
        <p:spPr>
          <a:xfrm>
            <a:off x="1295400" y="2794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La misma base sirve panel interno, portal externo y documentacion; la operacion tecnica se hace desde Agora Desktop.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777739E0-3CDD-0B09-60EB-C69716BC7E69}"/>
              </a:ext>
            </a:extLst>
          </p:cNvPr>
          <p:cNvSpPr/>
          <p:nvPr/>
        </p:nvSpPr>
        <p:spPr>
          <a:xfrm>
            <a:off x="1092200" y="3835400"/>
            <a:ext cx="4064000" cy="14986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051E15C-4CDE-E078-CF5F-A8410C9D6F57}"/>
              </a:ext>
            </a:extLst>
          </p:cNvPr>
          <p:cNvSpPr txBox="1"/>
          <p:nvPr/>
        </p:nvSpPr>
        <p:spPr>
          <a:xfrm>
            <a:off x="1498600" y="4165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Usuario de prueba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B9FCC05-FE2F-3DDE-EB22-D8A363E94EDD}"/>
              </a:ext>
            </a:extLst>
          </p:cNvPr>
          <p:cNvSpPr txBox="1"/>
          <p:nvPr/>
        </p:nvSpPr>
        <p:spPr>
          <a:xfrm>
            <a:off x="1498600" y="45974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F6F8FC"/>
                </a:solidFill>
                <a:latin typeface="Consolas" panose="020B0609020204030204" pitchFamily="49" charset="0"/>
              </a:rPr>
              <a:t>profesora / Abrete01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89B4889-BC9D-173C-5933-8C4A572F9949}"/>
              </a:ext>
            </a:extLst>
          </p:cNvPr>
          <p:cNvSpPr txBox="1"/>
          <p:nvPr/>
        </p:nvSpPr>
        <p:spPr>
          <a:xfrm>
            <a:off x="1498600" y="497840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Rol: coordinacion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F05B17B-A3B5-A69E-0981-D3466A3B8E1B}"/>
              </a:ext>
            </a:extLst>
          </p:cNvPr>
          <p:cNvSpPr txBox="1"/>
          <p:nvPr/>
        </p:nvSpPr>
        <p:spPr>
          <a:xfrm>
            <a:off x="5969000" y="38862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Puede revisar solicitudes, convenios, asignaciones y mensajes.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La empresa prueba el recorrido por /externo.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acceso remoto depende de que la VM siga activa.</a:t>
            </a:r>
          </a:p>
        </p:txBody>
      </p:sp>
    </p:spTree>
    <p:extLst>
      <p:ext uri="{BB962C8B-B14F-4D97-AF65-F5344CB8AC3E}">
        <p14:creationId xmlns:p14="http://schemas.microsoft.com/office/powerpoint/2010/main" val="3028307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E51F231-1E7D-E7AD-827B-E4C65A6DCF35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15 / ALCANCE Y FUTURO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6A07F55-8824-6286-A146-199FCAA61FFB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cerrado y que se deja para despues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78925B0-E651-5AE9-EFB4-EA603AB409C8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nucleo funcional y tecnico ya esta entregado; las mejoras futuras endurecen o amplian, pero no bloquean la defensa.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AA852CD0-3EE1-5723-C376-C21446197A0A}"/>
              </a:ext>
            </a:extLst>
          </p:cNvPr>
          <p:cNvSpPr/>
          <p:nvPr/>
        </p:nvSpPr>
        <p:spPr>
          <a:xfrm>
            <a:off x="711200" y="2159000"/>
            <a:ext cx="3429000" cy="27178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DE079E2-AE49-42F3-66A0-AAA119027BDB}"/>
              </a:ext>
            </a:extLst>
          </p:cNvPr>
          <p:cNvSpPr txBox="1"/>
          <p:nvPr/>
        </p:nvSpPr>
        <p:spPr>
          <a:xfrm>
            <a:off x="1016000" y="2438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Cerrado en esta entrega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6F98B91-B093-46C9-3661-843B002CF8BB}"/>
              </a:ext>
            </a:extLst>
          </p:cNvPr>
          <p:cNvSpPr txBox="1"/>
          <p:nvPr/>
        </p:nvSpPr>
        <p:spPr>
          <a:xfrm>
            <a:off x="1041400" y="2946400"/>
            <a:ext cx="269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Portales /app y /externo bajo HTTPS.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Correo real, documentos, chat y exportacion.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Agora Desktop local/cloud como consola tecnica.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400">
                <a:solidFill>
                  <a:srgbClr val="F6F8FC"/>
                </a:solidFill>
                <a:latin typeface="Segoe UI" panose="020B0502040204020203" pitchFamily="34" charset="0"/>
              </a:rPr>
              <a:t>VM publica con arranque automatico y URL efectiva visible.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74C16484-179F-948D-1235-7EF55B1AC959}"/>
              </a:ext>
            </a:extLst>
          </p:cNvPr>
          <p:cNvSpPr/>
          <p:nvPr/>
        </p:nvSpPr>
        <p:spPr>
          <a:xfrm>
            <a:off x="4521200" y="2235200"/>
            <a:ext cx="3098800" cy="1219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51C70E0-2004-1722-7EA1-48395F4ABB40}"/>
              </a:ext>
            </a:extLst>
          </p:cNvPr>
          <p:cNvSpPr txBox="1"/>
          <p:nvPr/>
        </p:nvSpPr>
        <p:spPr>
          <a:xfrm>
            <a:off x="4749800" y="2413000"/>
            <a:ext cx="238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1A772"/>
                </a:solidFill>
                <a:latin typeface="Segoe UI" panose="020B0502040204020203" pitchFamily="34" charset="0"/>
              </a:rPr>
              <a:t>Dominio propio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45528F9-0721-F0D3-0105-E496A9E7C058}"/>
              </a:ext>
            </a:extLst>
          </p:cNvPr>
          <p:cNvSpPr txBox="1"/>
          <p:nvPr/>
        </p:nvSpPr>
        <p:spPr>
          <a:xfrm>
            <a:off x="4749800" y="2768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Sustituir nip.io por dominio institucional y reforzar TLS.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550BF39-F121-99FE-187D-A38C3EC382E5}"/>
              </a:ext>
            </a:extLst>
          </p:cNvPr>
          <p:cNvSpPr/>
          <p:nvPr/>
        </p:nvSpPr>
        <p:spPr>
          <a:xfrm>
            <a:off x="7975600" y="2235200"/>
            <a:ext cx="3098800" cy="1219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ACB2135-DC71-12CE-5D2E-A01E7101CA06}"/>
              </a:ext>
            </a:extLst>
          </p:cNvPr>
          <p:cNvSpPr txBox="1"/>
          <p:nvPr/>
        </p:nvSpPr>
        <p:spPr>
          <a:xfrm>
            <a:off x="8204200" y="2413000"/>
            <a:ext cx="238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B1D2"/>
                </a:solidFill>
                <a:latin typeface="Segoe UI" panose="020B0502040204020203" pitchFamily="34" charset="0"/>
              </a:rPr>
              <a:t>Servicios gestionados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7E33394-9BF3-B256-128E-9B844C9D4A76}"/>
              </a:ext>
            </a:extLst>
          </p:cNvPr>
          <p:cNvSpPr txBox="1"/>
          <p:nvPr/>
        </p:nvSpPr>
        <p:spPr>
          <a:xfrm>
            <a:off x="8204200" y="2768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Mover documentos, backups y observabilidad a piezas gestionadas.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74F87670-A0B0-8C8D-8B45-F97D1FF83B13}"/>
              </a:ext>
            </a:extLst>
          </p:cNvPr>
          <p:cNvSpPr/>
          <p:nvPr/>
        </p:nvSpPr>
        <p:spPr>
          <a:xfrm>
            <a:off x="4521200" y="3733800"/>
            <a:ext cx="3098800" cy="12192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F959876-15DF-D6F2-74ED-3C3464558EF5}"/>
              </a:ext>
            </a:extLst>
          </p:cNvPr>
          <p:cNvSpPr txBox="1"/>
          <p:nvPr/>
        </p:nvSpPr>
        <p:spPr>
          <a:xfrm>
            <a:off x="4749800" y="3911600"/>
            <a:ext cx="2387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DBA14D"/>
                </a:solidFill>
                <a:latin typeface="Segoe UI" panose="020B0502040204020203" pitchFamily="34" charset="0"/>
              </a:rPr>
              <a:t>Cliente tecnico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0E17913-F8FB-67D2-AE0E-5139B0B29B4D}"/>
              </a:ext>
            </a:extLst>
          </p:cNvPr>
          <p:cNvSpPr txBox="1"/>
          <p:nvPr/>
        </p:nvSpPr>
        <p:spPr>
          <a:xfrm>
            <a:off x="4749800" y="42672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Ampliar Agora Desktop sin mezclar soporte con negocio.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B378EAFC-3006-CD25-E501-646865FCD7EF}"/>
              </a:ext>
            </a:extLst>
          </p:cNvPr>
          <p:cNvSpPr txBox="1"/>
          <p:nvPr/>
        </p:nvSpPr>
        <p:spPr>
          <a:xfrm>
            <a:off x="1016000" y="5257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prioridad futura no es anadir modulos sin control, sino endurecer despliegue, seguridad y soporte.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Las funciones secundarias quedan identificadas para justificar con claridad el recorte de alcance.</a:t>
            </a:r>
          </a:p>
        </p:txBody>
      </p:sp>
    </p:spTree>
    <p:extLst>
      <p:ext uri="{BB962C8B-B14F-4D97-AF65-F5344CB8AC3E}">
        <p14:creationId xmlns:p14="http://schemas.microsoft.com/office/powerpoint/2010/main" val="1522264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069A607-44EF-AE13-4F64-E9B2D84C16DE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16 / LIMITACIONES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9A40C62-02FE-C640-BD1E-90404F80B611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fuera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01787B8-5160-C0C1-1826-57FA5A07D3FB}"/>
              </a:ext>
            </a:extLst>
          </p:cNvPr>
          <p:cNvSpPr txBox="1"/>
          <p:nvPr/>
        </p:nvSpPr>
        <p:spPr>
          <a:xfrm>
            <a:off x="990600" y="20320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Despliegue permanente completamente automatizado.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Integracion con SSO o identidad corporativa.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Firma electronica avanzada.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Almacenamiento documental en nube gestionada.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Perfilado profundo de rendimiento en produccion.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F55DC18-479C-7B46-E29B-BFFB7497920C}"/>
              </a:ext>
            </a:extLst>
          </p:cNvPr>
          <p:cNvSpPr/>
          <p:nvPr/>
        </p:nvSpPr>
        <p:spPr>
          <a:xfrm>
            <a:off x="6807200" y="2057400"/>
            <a:ext cx="4064000" cy="2667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34E4C24-1246-CA54-8DEA-08216E760F0A}"/>
              </a:ext>
            </a:extLst>
          </p:cNvPr>
          <p:cNvSpPr txBox="1"/>
          <p:nvPr/>
        </p:nvSpPr>
        <p:spPr>
          <a:xfrm>
            <a:off x="7213600" y="24384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Siguiente iteracion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39A1E91-491A-279E-8A09-581774AD200B}"/>
              </a:ext>
            </a:extLst>
          </p:cNvPr>
          <p:cNvSpPr txBox="1"/>
          <p:nvPr/>
        </p:nvSpPr>
        <p:spPr>
          <a:xfrm>
            <a:off x="7213600" y="3098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Despliegue estable, dominio propio, base de datos de servidor y seguridad endurecida.</a:t>
            </a:r>
          </a:p>
        </p:txBody>
      </p:sp>
    </p:spTree>
    <p:extLst>
      <p:ext uri="{BB962C8B-B14F-4D97-AF65-F5344CB8AC3E}">
        <p14:creationId xmlns:p14="http://schemas.microsoft.com/office/powerpoint/2010/main" val="41609433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B170C3C-125F-D818-9099-2A01248F5CD8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17 / CIERRE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6462AC4-4513-67D4-328B-184046AC558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Resultado defendible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2DCA2D6-AEFB-3994-FA2E-D9BA73A9A5DF}"/>
              </a:ext>
            </a:extLst>
          </p:cNvPr>
          <p:cNvSpPr txBox="1"/>
          <p:nvPr/>
        </p:nvSpPr>
        <p:spPr>
          <a:xfrm>
            <a:off x="1168400" y="200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El proyecto transforma una gestion dispersa en una plataforma web funcional, trazable y documentada para empresas colaboradoras y practicas de FP Dual.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ECA0BE7-DC2E-2E0E-C7D7-53526AC36FF1}"/>
              </a:ext>
            </a:extLst>
          </p:cNvPr>
          <p:cNvSpPr txBox="1"/>
          <p:nvPr/>
        </p:nvSpPr>
        <p:spPr>
          <a:xfrm>
            <a:off x="1625600" y="40894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Problema real del centro.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Arquitectura completa con backend, dos frontends y operacion local.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Validacion tecnica, empaquetado y demo preparados.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E5B1483-6593-DFB2-7D9A-8932703E00E6}"/>
              </a:ext>
            </a:extLst>
          </p:cNvPr>
          <p:cNvSpPr txBox="1"/>
          <p:nvPr/>
        </p:nvSpPr>
        <p:spPr>
          <a:xfrm>
            <a:off x="4191000" y="594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200" b="1">
                <a:solidFill>
                  <a:srgbClr val="DBA14D"/>
                </a:solidFill>
                <a:latin typeface="Segoe UI" panose="020B0502040204020203" pitchFamily="34" charset="0"/>
              </a:rPr>
              <a:t>Demo y preguntas</a:t>
            </a:r>
          </a:p>
        </p:txBody>
      </p:sp>
    </p:spTree>
    <p:extLst>
      <p:ext uri="{BB962C8B-B14F-4D97-AF65-F5344CB8AC3E}">
        <p14:creationId xmlns:p14="http://schemas.microsoft.com/office/powerpoint/2010/main" val="35519990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1313</Words>
  <Application>Microsoft Office PowerPoint</Application>
  <PresentationFormat>Personalizado</PresentationFormat>
  <Paragraphs>177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Consolas</vt:lpstr>
      <vt:lpstr>Segoe UI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Ángel Méndez Minda</dc:creator>
  <cp:lastModifiedBy>Luis Ángel Méndez Minda</cp:lastModifiedBy>
  <cp:revision>1</cp:revision>
  <dcterms:created xsi:type="dcterms:W3CDTF">2026-05-22T18:13:30Z</dcterms:created>
  <dcterms:modified xsi:type="dcterms:W3CDTF">2026-05-22T18:13:30Z</dcterms:modified>
</cp:coreProperties>
</file>