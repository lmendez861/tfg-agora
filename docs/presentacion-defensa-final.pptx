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0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1424A8-F5C0-2E5A-7814-8D5A788F2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DC4E564-14D9-30EF-F5A4-D8BE222FAF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26D437-9BD3-D275-C312-7EFE00BC0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8AD1E9-22FA-53E1-4A6E-34128EB13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FADB54-69CA-37C3-9538-2AC92ED7D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5286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901D5-99B4-D2C9-591A-7945BF313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654976-33B1-F68D-E6B4-006C837BE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5925D9-FDA0-86C7-9E16-CDEEAF772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AEFEF87-8119-67D1-7B26-1521E2CC6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C2EFF3-79AA-17A1-9994-4EEE79A5F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3255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B81FE2-7FCE-0707-0361-7ADD3D92D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A60D1A-DF2F-E574-0BB9-D3969FF18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8921F6F-1AF9-E840-E797-167C49AAB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A560AC-EF8C-A398-E175-A2198074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EDA3FF6-60ED-E272-21BA-E63161F10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3343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5B08C1-E993-F59D-8651-1EBF9280D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7DAD8D-0B1F-479E-82AC-904393E287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07CEBD-204B-961F-E875-AC71F6165D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F9C0AC7-2DB1-97E6-C226-76FBE8A3A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A0DC87-BCEE-DD42-6B44-7CCA524F0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111691C-B91A-89B6-76AD-43C7853A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5307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A94CD3-0710-86CC-1AB2-F851BA958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98A71FB-2B84-8180-1FB3-0700CCD08A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84B4773-6CEB-8828-66FA-53DEE6BEBD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9EF8C5-7F81-49BF-21E4-6E07B4334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2DB43AB-E1B7-2B01-557F-9048B2D423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7744151-C34B-F7D3-75F9-9183D79F2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CA972AB-39BB-4DDB-677C-7C2426DAB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E8B46AC-7FF1-E539-E9A2-5E7B13B5E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20174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5024DB-1CD0-312B-3E29-F0DCB4880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693750E-1BE2-EF46-8C03-C8AB0BBAA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00E8E06-FABC-1FB6-2B66-EE56AF013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8A052CE-71D7-F68A-5D06-2099A1659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6946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7A54D4B-EB29-606E-D8CF-3C2A3BE2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E4290FF-1038-24E8-33DA-35749590B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C46CCFC-C651-193F-028A-BAFA9435E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829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B4FA0B-48DB-7AC2-4C1B-451D82DDC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0A71B3-C987-79F9-8923-060AB45B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639A1A8-196E-F16B-A24F-D58EAD950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D572331-9D4E-4D29-9B46-71E48925D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7826676-BF9C-EB38-DE94-C20CC5929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82BAF8-87D6-7467-E7CA-FBCF4CA7A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0091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12B5EA-75CA-BB8B-3D35-87E0DAC7E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8677383-2743-A849-F31D-A3D47B8A60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AAFB2E-6E91-D04B-87CA-4CAFEA47C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D97579-AD36-B586-2CD4-1DFB26382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AA44D61-788E-A726-58E2-54F3A8AA7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9683E1-C1B3-49D0-1914-E51C26683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2130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C83AF2-7E6C-0F9E-3C1D-65AA33168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4546AAA-CAA5-A831-F197-F57E1E3EB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A01D50-6F6A-F01F-DFFE-49C0E92D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CAB07D-DE00-00AA-5692-CB27E034E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6F0C28-EA5A-89CE-04EC-17135B274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49378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6AB338E-FEFD-A8AF-18DE-56185C2409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088E667-B029-3E92-F0EE-0F45EDC6AE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8F641FF-0C49-5058-E882-C1C66745F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E36D7E-FACE-12B9-9203-D1613FBB1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EEE139-E64A-3F7C-E8BF-6754CBA6B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8850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87FEB4-0BB9-E195-F732-8C7ABE7BF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0936A3-8B0F-0B92-C1B9-28709DF67D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6135521-3597-C0E8-C2D2-08D76DF2FA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94F67B-593D-4384-8F95-2FBEEBEEB27A}" type="datetimeFigureOut">
              <a:rPr lang="es-ES" smtClean="0"/>
              <a:t>01/06/2026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F63953-D0FE-0737-3EB9-0ECEC8641A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DDB0455-9A68-BF0F-C35E-57904400E0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16418-6303-4DF4-80EB-715B8707D4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0018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913392A5-DAD7-00CE-8C62-AF4441EFB2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0B0E1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C6E0A4B-BC99-08BD-5903-28A0EAD657EB}"/>
              </a:ext>
            </a:extLst>
          </p:cNvPr>
          <p:cNvSpPr txBox="1"/>
          <p:nvPr/>
        </p:nvSpPr>
        <p:spPr>
          <a:xfrm>
            <a:off x="736600" y="6858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DBA14D"/>
                </a:solidFill>
                <a:latin typeface="Segoe UI" panose="020B0502040204020203" pitchFamily="34" charset="0"/>
              </a:rPr>
              <a:t>Trabajo Final de Grado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CB2720E-52A3-DF62-9339-FF6F64BCCA76}"/>
              </a:ext>
            </a:extLst>
          </p:cNvPr>
          <p:cNvSpPr txBox="1"/>
          <p:nvPr/>
        </p:nvSpPr>
        <p:spPr>
          <a:xfrm>
            <a:off x="736600" y="1320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4200" b="1">
                <a:solidFill>
                  <a:srgbClr val="F6F8FC"/>
                </a:solidFill>
                <a:latin typeface="Segoe UI" panose="020B0502040204020203" pitchFamily="34" charset="0"/>
              </a:rPr>
              <a:t>Gestion de Empresas Colaboradoras para FP Dual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B9648D0-46DE-E745-F09E-08DC587B28FF}"/>
              </a:ext>
            </a:extLst>
          </p:cNvPr>
          <p:cNvSpPr txBox="1"/>
          <p:nvPr/>
        </p:nvSpPr>
        <p:spPr>
          <a:xfrm>
            <a:off x="787400" y="3124200"/>
            <a:ext cx="8064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Plataforma web para centralizar empresas, convenios, practicas, solicitudes externas, seguimiento documental y comunicacion empresa-centro.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4D9DBF7-DC5D-337C-2E1B-DDA58DCDCDCC}"/>
              </a:ext>
            </a:extLst>
          </p:cNvPr>
          <p:cNvSpPr txBox="1"/>
          <p:nvPr/>
        </p:nvSpPr>
        <p:spPr>
          <a:xfrm>
            <a:off x="787400" y="52324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Autor: Luis Angel</a:t>
            </a:r>
          </a:p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Tutora: Elena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B41F678-91DD-15AE-8E90-19E5CC51A6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968500"/>
            <a:ext cx="4064000" cy="2286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07875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4E27492-A7A3-0D12-57CD-41E2ED4F21D1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01 / PROBLEMA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3E06C6C-EEA9-DEEB-FAE9-72DC507AFB52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Punto de partida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5FBA7B2-0364-0349-0B91-A756B41E6A20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gestion anterior estaba repartida entre hojas de calculo, correos y documentos sin una vista unificada.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F38E413-996F-A107-60F8-A6EFC9312F91}"/>
              </a:ext>
            </a:extLst>
          </p:cNvPr>
          <p:cNvSpPr txBox="1"/>
          <p:nvPr/>
        </p:nvSpPr>
        <p:spPr>
          <a:xfrm>
            <a:off x="889000" y="2349500"/>
            <a:ext cx="520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Informacion dispersa entre varias fuentes.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Dificultad para conocer el estado real de convenios, solicitudes y asignaciones.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Dependencia del conocimiento manual de la persona que coordina las practicas.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Poca trazabilidad sobre mensajes, documentos y cambios.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2893821-8623-6FD0-DD8B-866EFB1DED72}"/>
              </a:ext>
            </a:extLst>
          </p:cNvPr>
          <p:cNvSpPr/>
          <p:nvPr/>
        </p:nvSpPr>
        <p:spPr>
          <a:xfrm>
            <a:off x="7112000" y="2184400"/>
            <a:ext cx="3937000" cy="2413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2E33C88-4DB7-8906-3FC1-FDB4DBF69075}"/>
              </a:ext>
            </a:extLst>
          </p:cNvPr>
          <p:cNvSpPr txBox="1"/>
          <p:nvPr/>
        </p:nvSpPr>
        <p:spPr>
          <a:xfrm>
            <a:off x="7493000" y="2540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700" b="1">
                <a:solidFill>
                  <a:srgbClr val="DBA14D"/>
                </a:solidFill>
                <a:latin typeface="Segoe UI" panose="020B0502040204020203" pitchFamily="34" charset="0"/>
              </a:rPr>
              <a:t>Necesidad principal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F938DFF-9610-AC69-29B2-7C248A6DF573}"/>
              </a:ext>
            </a:extLst>
          </p:cNvPr>
          <p:cNvSpPr txBox="1"/>
          <p:nvPr/>
        </p:nvSpPr>
        <p:spPr>
          <a:xfrm>
            <a:off x="7493000" y="3149600"/>
            <a:ext cx="3124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Pasar de una gestion dispersa a una plataforma unica, trazable y defendible.</a:t>
            </a:r>
          </a:p>
        </p:txBody>
      </p:sp>
    </p:spTree>
    <p:extLst>
      <p:ext uri="{BB962C8B-B14F-4D97-AF65-F5344CB8AC3E}">
        <p14:creationId xmlns:p14="http://schemas.microsoft.com/office/powerpoint/2010/main" val="4215167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BEC7AA4-81EF-2469-9784-24AB345E6FC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02 / OBJETIVOS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BB9499E-2909-8385-F043-F1110E8C5036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tenia que resolver la aplicacion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00214D9E-C2DD-EA2E-E4C7-CB32BA3850A5}"/>
              </a:ext>
            </a:extLst>
          </p:cNvPr>
          <p:cNvSpPr/>
          <p:nvPr/>
        </p:nvSpPr>
        <p:spPr>
          <a:xfrm>
            <a:off x="7366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4D3C474-9CC6-2446-2CAF-0E551791E94E}"/>
              </a:ext>
            </a:extLst>
          </p:cNvPr>
          <p:cNvSpPr txBox="1"/>
          <p:nvPr/>
        </p:nvSpPr>
        <p:spPr>
          <a:xfrm>
            <a:off x="10160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Centralizar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798D3C1-A2D5-4986-7C5F-6431932C8381}"/>
              </a:ext>
            </a:extLst>
          </p:cNvPr>
          <p:cNvSpPr txBox="1"/>
          <p:nvPr/>
        </p:nvSpPr>
        <p:spPr>
          <a:xfrm>
            <a:off x="10160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Empresas, convenios, estudiantes, tutores y asignaciones.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228C5F9-AA92-80A4-74FD-47C8356DD9B2}"/>
              </a:ext>
            </a:extLst>
          </p:cNvPr>
          <p:cNvSpPr/>
          <p:nvPr/>
        </p:nvSpPr>
        <p:spPr>
          <a:xfrm>
            <a:off x="61341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AC3E129-5CA3-4EF4-D9A4-7AE8CCDC34E0}"/>
              </a:ext>
            </a:extLst>
          </p:cNvPr>
          <p:cNvSpPr txBox="1"/>
          <p:nvPr/>
        </p:nvSpPr>
        <p:spPr>
          <a:xfrm>
            <a:off x="64135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Abrir canal externo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C0CFB52-B02C-D7B6-84A3-3809225BF347}"/>
              </a:ext>
            </a:extLst>
          </p:cNvPr>
          <p:cNvSpPr txBox="1"/>
          <p:nvPr/>
        </p:nvSpPr>
        <p:spPr>
          <a:xfrm>
            <a:off x="64135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Registro de empresas, verificacion, estado y cuenta persistente.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9FE064D-A9BD-AB47-3541-3064BEBD6E1D}"/>
              </a:ext>
            </a:extLst>
          </p:cNvPr>
          <p:cNvSpPr/>
          <p:nvPr/>
        </p:nvSpPr>
        <p:spPr>
          <a:xfrm>
            <a:off x="7366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EF7B20E-2DF7-2091-9F0F-AD9C6B7653BD}"/>
              </a:ext>
            </a:extLst>
          </p:cNvPr>
          <p:cNvSpPr txBox="1"/>
          <p:nvPr/>
        </p:nvSpPr>
        <p:spPr>
          <a:xfrm>
            <a:off x="10160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Trazabilidad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0867096-A9E8-5AA3-DA5F-E2181B8B5940}"/>
              </a:ext>
            </a:extLst>
          </p:cNvPr>
          <p:cNvSpPr txBox="1"/>
          <p:nvPr/>
        </p:nvSpPr>
        <p:spPr>
          <a:xfrm>
            <a:off x="10160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Mensajeria, documentos versionados, evidencias y evaluacion final.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01673A6-FF1D-2843-A844-2FE2E60905B7}"/>
              </a:ext>
            </a:extLst>
          </p:cNvPr>
          <p:cNvSpPr/>
          <p:nvPr/>
        </p:nvSpPr>
        <p:spPr>
          <a:xfrm>
            <a:off x="61341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1BB2C5F-23EA-F264-6974-9C5B647EC529}"/>
              </a:ext>
            </a:extLst>
          </p:cNvPr>
          <p:cNvSpPr txBox="1"/>
          <p:nvPr/>
        </p:nvSpPr>
        <p:spPr>
          <a:xfrm>
            <a:off x="64135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Defensa tecnica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8A3BF4F-5949-E8B5-5670-23DA30C81D1C}"/>
              </a:ext>
            </a:extLst>
          </p:cNvPr>
          <p:cNvSpPr txBox="1"/>
          <p:nvPr/>
        </p:nvSpPr>
        <p:spPr>
          <a:xfrm>
            <a:off x="64135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Arquitectura separada, pruebas, demo y documentacion final.</a:t>
            </a:r>
          </a:p>
        </p:txBody>
      </p:sp>
    </p:spTree>
    <p:extLst>
      <p:ext uri="{BB962C8B-B14F-4D97-AF65-F5344CB8AC3E}">
        <p14:creationId xmlns:p14="http://schemas.microsoft.com/office/powerpoint/2010/main" val="3051532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9939E1B-1B81-476F-413F-903FA188E0CC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03 / ARQUITECTURA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3AEA742-41F0-5830-6E5B-998840A3683F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Topologia operativa y de despliegue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4626C56-D53D-8E20-1BC8-490C3A909C38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URL publica termina en una VM con HTTPS, persistencia real y una consola tecnica de escritorio separada del flujo funcional.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762B756-0677-432F-71D0-BECB806296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078" y="1854200"/>
            <a:ext cx="6183443" cy="4191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24DCFCD-49EF-3195-E6FB-8A6238B61883}"/>
              </a:ext>
            </a:extLst>
          </p:cNvPr>
          <p:cNvSpPr txBox="1"/>
          <p:nvPr/>
        </p:nvSpPr>
        <p:spPr>
          <a:xfrm>
            <a:off x="7937500" y="22098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Caddy expone HTTPS y enruta a la aplicacion.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Symfony concentra seguridad, negocio y APIs.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PostgreSQL y documentos persisten fuera del contenedor.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Agora Desktop trabaja en local o en cloud.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operacion tecnica queda fuera del flujo web principal.</a:t>
            </a:r>
          </a:p>
        </p:txBody>
      </p:sp>
    </p:spTree>
    <p:extLst>
      <p:ext uri="{BB962C8B-B14F-4D97-AF65-F5344CB8AC3E}">
        <p14:creationId xmlns:p14="http://schemas.microsoft.com/office/powerpoint/2010/main" val="2286205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E19BC6A-65AF-E39F-05D5-8CAD3073325C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04 / MODELO DE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41AD3E0-72D6-D3DD-F994-1D3CAB682462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De la cuenta de empresa a la asignacion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A7B3142-ECBA-E906-D98A-A2E54830F2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1784350"/>
            <a:ext cx="5969000" cy="41783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07A5D5B-CCCB-54C6-625C-8F92B2896F54}"/>
              </a:ext>
            </a:extLst>
          </p:cNvPr>
          <p:cNvSpPr txBox="1"/>
          <p:nvPr/>
        </p:nvSpPr>
        <p:spPr>
          <a:xfrm>
            <a:off x="7239000" y="2006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Regla de negocio defendible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0F97448-9487-DD3C-59A2-19BEC488E8BE}"/>
              </a:ext>
            </a:extLst>
          </p:cNvPr>
          <p:cNvSpPr txBox="1"/>
          <p:nvPr/>
        </p:nvSpPr>
        <p:spPr>
          <a:xfrm>
            <a:off x="7493000" y="2667000"/>
            <a:ext cx="3619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cuenta portal sobrevive al preregistro inicial.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solicitud concentra verificacion, estado y mensajes.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empresa aprobada hereda convenios, documentos y tutores.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Asignacion, seguimiento y evaluacion cierran el ciclo.</a:t>
            </a:r>
          </a:p>
        </p:txBody>
      </p:sp>
    </p:spTree>
    <p:extLst>
      <p:ext uri="{BB962C8B-B14F-4D97-AF65-F5344CB8AC3E}">
        <p14:creationId xmlns:p14="http://schemas.microsoft.com/office/powerpoint/2010/main" val="4129019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4A11209-CAC7-C8A5-A2F2-18CA3541D221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05 / PANEL INTERNO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C70755B-C845-6DF4-2939-11EB004A05D0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Gestion diaria del centro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42BC8AC-E592-65F1-04AB-FBD809643C13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Dashboard, CRUD operativo, solicitudes, bandeja, documentos, seguimientos y exportacion.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5A2D297-BAC3-6453-8D8A-E27A4CE36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905000"/>
            <a:ext cx="7112000" cy="40005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9F3FFA1-AFBB-D710-928D-153EBCD7CC42}"/>
              </a:ext>
            </a:extLst>
          </p:cNvPr>
          <p:cNvSpPr/>
          <p:nvPr/>
        </p:nvSpPr>
        <p:spPr>
          <a:xfrm>
            <a:off x="8407400" y="20955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CE8D4FA-5926-7692-802D-1D74CAF809CC}"/>
              </a:ext>
            </a:extLst>
          </p:cNvPr>
          <p:cNvSpPr txBox="1"/>
          <p:nvPr/>
        </p:nvSpPr>
        <p:spPr>
          <a:xfrm>
            <a:off x="8636000" y="2260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AD28811-FBD8-63EB-67C1-D67092E802BC}"/>
              </a:ext>
            </a:extLst>
          </p:cNvPr>
          <p:cNvSpPr txBox="1"/>
          <p:nvPr/>
        </p:nvSpPr>
        <p:spPr>
          <a:xfrm>
            <a:off x="8636000" y="27559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empresas demo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4F13AADD-2FE5-C63F-1C53-993D8C11C3CD}"/>
              </a:ext>
            </a:extLst>
          </p:cNvPr>
          <p:cNvSpPr/>
          <p:nvPr/>
        </p:nvSpPr>
        <p:spPr>
          <a:xfrm>
            <a:off x="8407400" y="35306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8D6-11BE-99D0-921E-DD2DCCC6F000}"/>
              </a:ext>
            </a:extLst>
          </p:cNvPr>
          <p:cNvSpPr txBox="1"/>
          <p:nvPr/>
        </p:nvSpPr>
        <p:spPr>
          <a:xfrm>
            <a:off x="8636000" y="36957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DBA14D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E0293A7-6372-1514-929F-4B95306EB22B}"/>
              </a:ext>
            </a:extLst>
          </p:cNvPr>
          <p:cNvSpPr txBox="1"/>
          <p:nvPr/>
        </p:nvSpPr>
        <p:spPr>
          <a:xfrm>
            <a:off x="8636000" y="41910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convenios demo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2806D98-5D94-B821-EF2B-F62242900F6C}"/>
              </a:ext>
            </a:extLst>
          </p:cNvPr>
          <p:cNvSpPr/>
          <p:nvPr/>
        </p:nvSpPr>
        <p:spPr>
          <a:xfrm>
            <a:off x="8407400" y="49657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0893BA7-D647-8606-0E5E-688994CED508}"/>
              </a:ext>
            </a:extLst>
          </p:cNvPr>
          <p:cNvSpPr txBox="1"/>
          <p:nvPr/>
        </p:nvSpPr>
        <p:spPr>
          <a:xfrm>
            <a:off x="8636000" y="5130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CSV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CB0A65C-F63E-5F80-8260-587DDCD9B03B}"/>
              </a:ext>
            </a:extLst>
          </p:cNvPr>
          <p:cNvSpPr txBox="1"/>
          <p:nvPr/>
        </p:nvSpPr>
        <p:spPr>
          <a:xfrm>
            <a:off x="8636000" y="56261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exportacion operativa</a:t>
            </a:r>
          </a:p>
        </p:txBody>
      </p:sp>
    </p:spTree>
    <p:extLst>
      <p:ext uri="{BB962C8B-B14F-4D97-AF65-F5344CB8AC3E}">
        <p14:creationId xmlns:p14="http://schemas.microsoft.com/office/powerpoint/2010/main" val="3497341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A79D961-E08F-4858-96FA-A6D8C7A8D870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06 / FLUJO EMPRESA-CENTRO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B1B2539-7EAA-D965-8623-42F44415337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Solicitudes, aprobacion y bandeja unificada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2AA2E8A-CB30-4029-91C4-1E1CB880F8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11747"/>
            <a:ext cx="6794500" cy="38219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DA13D5F-1396-1564-4634-76D19C7A308F}"/>
              </a:ext>
            </a:extLst>
          </p:cNvPr>
          <p:cNvSpPr txBox="1"/>
          <p:nvPr/>
        </p:nvSpPr>
        <p:spPr>
          <a:xfrm>
            <a:off x="7937500" y="2108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empresa solicita colaborar desde el portal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correo queda verificado antes de la revision.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centro aprueba o rechaza desde el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conversacion queda ligada a la solicitud y a la empresa.</a:t>
            </a:r>
          </a:p>
        </p:txBody>
      </p:sp>
    </p:spTree>
    <p:extLst>
      <p:ext uri="{BB962C8B-B14F-4D97-AF65-F5344CB8AC3E}">
        <p14:creationId xmlns:p14="http://schemas.microsoft.com/office/powerpoint/2010/main" val="678131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C7D87DD-29AA-3C83-3C1E-2E4867E61651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07 / PORTAL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7FA38A7-5B0E-EC4C-0298-DE5CD5D7769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Experiencia de la empresa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132B8C2-F411-3FC4-6FD2-5C9336F710F1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Alta, seguimiento de estado, activacion de cuenta, recuperacion de contrasena y area privada.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3E56FE5-2A74-A348-92BC-49322CFF6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55" y="1854200"/>
            <a:ext cx="7224889" cy="4064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D4FF35B6-A579-E4EF-DD81-7260D14BE468}"/>
              </a:ext>
            </a:extLst>
          </p:cNvPr>
          <p:cNvSpPr/>
          <p:nvPr/>
        </p:nvSpPr>
        <p:spPr>
          <a:xfrm>
            <a:off x="8763000" y="2082800"/>
            <a:ext cx="228600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B3CFD33-CF6F-DD39-17F3-EFFA9309B7D8}"/>
              </a:ext>
            </a:extLst>
          </p:cNvPr>
          <p:cNvSpPr txBox="1"/>
          <p:nvPr/>
        </p:nvSpPr>
        <p:spPr>
          <a:xfrm>
            <a:off x="9042400" y="23368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Sin acceso interno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24415CD-C69E-A89C-4E9C-2B561DB05EC9}"/>
              </a:ext>
            </a:extLst>
          </p:cNvPr>
          <p:cNvSpPr txBox="1"/>
          <p:nvPr/>
        </p:nvSpPr>
        <p:spPr>
          <a:xfrm>
            <a:off x="87630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portal externo tiene su propio recorrido y no mezcla credenciales de empresa con el panel del centro.</a:t>
            </a:r>
          </a:p>
        </p:txBody>
      </p:sp>
    </p:spTree>
    <p:extLst>
      <p:ext uri="{BB962C8B-B14F-4D97-AF65-F5344CB8AC3E}">
        <p14:creationId xmlns:p14="http://schemas.microsoft.com/office/powerpoint/2010/main" val="1537109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82CDF45-685F-7AAC-08B4-C42229D107F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08 / DESARROLLO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2694766-9C70-301A-7117-01EEAA15FDA1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lo he desarrollado y que partes tiene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EEA0B73-29BE-2136-E44B-B589317BD148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presentacion se apoya en bloques funcionales y decisiones de arquitectura, no en fragmentos de codigo.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6539E62-22C0-70CC-83B3-841E6281B192}"/>
              </a:ext>
            </a:extLst>
          </p:cNvPr>
          <p:cNvSpPr/>
          <p:nvPr/>
        </p:nvSpPr>
        <p:spPr>
          <a:xfrm>
            <a:off x="762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9AE26AD-3519-5EFA-7ECE-0A0834F2347C}"/>
              </a:ext>
            </a:extLst>
          </p:cNvPr>
          <p:cNvSpPr txBox="1"/>
          <p:nvPr/>
        </p:nvSpPr>
        <p:spPr>
          <a:xfrm>
            <a:off x="990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Analisis del 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4FA83F1-ED90-227D-7868-A89C5CCCD954}"/>
              </a:ext>
            </a:extLst>
          </p:cNvPr>
          <p:cNvSpPr txBox="1"/>
          <p:nvPr/>
        </p:nvSpPr>
        <p:spPr>
          <a:xfrm>
            <a:off x="990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Necesidad real del centro y alcance viable para el TFG.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CD0E7F07-06E8-14CF-56C0-549B3119A75E}"/>
              </a:ext>
            </a:extLst>
          </p:cNvPr>
          <p:cNvSpPr/>
          <p:nvPr/>
        </p:nvSpPr>
        <p:spPr>
          <a:xfrm>
            <a:off x="6096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8BB2100-C35C-6C35-E119-EEE46D92A578}"/>
              </a:ext>
            </a:extLst>
          </p:cNvPr>
          <p:cNvSpPr txBox="1"/>
          <p:nvPr/>
        </p:nvSpPr>
        <p:spPr>
          <a:xfrm>
            <a:off x="6324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Modelo y reglas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61713D-F9D0-29AE-B9F8-852E6B84D2CD}"/>
              </a:ext>
            </a:extLst>
          </p:cNvPr>
          <p:cNvSpPr txBox="1"/>
          <p:nvPr/>
        </p:nvSpPr>
        <p:spPr>
          <a:xfrm>
            <a:off x="6324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Empresa, convenio, asignacion, seguimiento y evaluacion.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9C698F1-A941-03C9-E5C9-BB90546C39A8}"/>
              </a:ext>
            </a:extLst>
          </p:cNvPr>
          <p:cNvSpPr/>
          <p:nvPr/>
        </p:nvSpPr>
        <p:spPr>
          <a:xfrm>
            <a:off x="762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AB9EB41-0047-5D02-73E3-79D9681D7C5D}"/>
              </a:ext>
            </a:extLst>
          </p:cNvPr>
          <p:cNvSpPr txBox="1"/>
          <p:nvPr/>
        </p:nvSpPr>
        <p:spPr>
          <a:xfrm>
            <a:off x="990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Backend Symfony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0880360-89E0-AC87-5EE9-13D356B06051}"/>
              </a:ext>
            </a:extLst>
          </p:cNvPr>
          <p:cNvSpPr txBox="1"/>
          <p:nvPr/>
        </p:nvSpPr>
        <p:spPr>
          <a:xfrm>
            <a:off x="990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API, seguridad, correo, tokens, auditoria y persistencia.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F15BF842-35C3-E6AE-0E2D-44A3C8B3B4AE}"/>
              </a:ext>
            </a:extLst>
          </p:cNvPr>
          <p:cNvSpPr/>
          <p:nvPr/>
        </p:nvSpPr>
        <p:spPr>
          <a:xfrm>
            <a:off x="6096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B3CEDB2-FFC3-471B-A290-01DB236A748C}"/>
              </a:ext>
            </a:extLst>
          </p:cNvPr>
          <p:cNvSpPr txBox="1"/>
          <p:nvPr/>
        </p:nvSpPr>
        <p:spPr>
          <a:xfrm>
            <a:off x="6324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interno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F7426E8-7C20-5AD0-0D23-49A0DDC3702C}"/>
              </a:ext>
            </a:extLst>
          </p:cNvPr>
          <p:cNvSpPr txBox="1"/>
          <p:nvPr/>
        </p:nvSpPr>
        <p:spPr>
          <a:xfrm>
            <a:off x="6324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Gestion academica, bandeja, documentos y exportacion CSV.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ACC399E-2A95-0D97-985F-0B379863B5B7}"/>
              </a:ext>
            </a:extLst>
          </p:cNvPr>
          <p:cNvSpPr/>
          <p:nvPr/>
        </p:nvSpPr>
        <p:spPr>
          <a:xfrm>
            <a:off x="762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C2998C9-6035-E014-9090-5565E6E4252B}"/>
              </a:ext>
            </a:extLst>
          </p:cNvPr>
          <p:cNvSpPr txBox="1"/>
          <p:nvPr/>
        </p:nvSpPr>
        <p:spPr>
          <a:xfrm>
            <a:off x="990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externo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F87FFE9B-DF91-5AB5-070F-65CFCE153E56}"/>
              </a:ext>
            </a:extLst>
          </p:cNvPr>
          <p:cNvSpPr txBox="1"/>
          <p:nvPr/>
        </p:nvSpPr>
        <p:spPr>
          <a:xfrm>
            <a:off x="990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Registro, verificacion, estado, acceso empresa y chat.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A04152B9-2D10-1A64-2754-64D85FC68C1C}"/>
              </a:ext>
            </a:extLst>
          </p:cNvPr>
          <p:cNvSpPr/>
          <p:nvPr/>
        </p:nvSpPr>
        <p:spPr>
          <a:xfrm>
            <a:off x="6096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253DF80-EF1A-0A04-7EEC-E53257F1D27A}"/>
              </a:ext>
            </a:extLst>
          </p:cNvPr>
          <p:cNvSpPr txBox="1"/>
          <p:nvPr/>
        </p:nvSpPr>
        <p:spPr>
          <a:xfrm>
            <a:off x="6324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Operacion final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DCDE9C4B-FF72-E33E-A1D5-5C82684DA2DE}"/>
              </a:ext>
            </a:extLst>
          </p:cNvPr>
          <p:cNvSpPr txBox="1"/>
          <p:nvPr/>
        </p:nvSpPr>
        <p:spPr>
          <a:xfrm>
            <a:off x="6324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App de escritorio, pruebas, logs, backups y empaquetado.</a:t>
            </a:r>
          </a:p>
        </p:txBody>
      </p:sp>
    </p:spTree>
    <p:extLst>
      <p:ext uri="{BB962C8B-B14F-4D97-AF65-F5344CB8AC3E}">
        <p14:creationId xmlns:p14="http://schemas.microsoft.com/office/powerpoint/2010/main" val="3198014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FF9A577-7809-B456-65E0-B104694C700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09 / CORREO Y RECHAZO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CF00E4E-FC2B-4518-60EE-FB842C64E533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Gestor de correos y comunicaciones transaccionales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FEA32CE-CBDF-069C-11D0-844AA579B72F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proveedor configurado es Brevo y cubre tanto correo funcional como operaciones sensibles.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49EC66D-0653-1C7C-EB5F-EB891CC09A9C}"/>
              </a:ext>
            </a:extLst>
          </p:cNvPr>
          <p:cNvSpPr/>
          <p:nvPr/>
        </p:nvSpPr>
        <p:spPr>
          <a:xfrm>
            <a:off x="736600" y="2032000"/>
            <a:ext cx="3175000" cy="28702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9136EFE-6083-A01B-38C9-54B0B36745A1}"/>
              </a:ext>
            </a:extLst>
          </p:cNvPr>
          <p:cNvSpPr txBox="1"/>
          <p:nvPr/>
        </p:nvSpPr>
        <p:spPr>
          <a:xfrm>
            <a:off x="1168400" y="2438400"/>
            <a:ext cx="231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800" b="1">
                <a:solidFill>
                  <a:srgbClr val="DBA14D"/>
                </a:solidFill>
                <a:latin typeface="Segoe UI" panose="020B0502040204020203" pitchFamily="34" charset="0"/>
              </a:rPr>
              <a:t>Brevo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1E1F0B5-27C6-4230-A446-ED009B09D268}"/>
              </a:ext>
            </a:extLst>
          </p:cNvPr>
          <p:cNvSpPr txBox="1"/>
          <p:nvPr/>
        </p:nvSpPr>
        <p:spPr>
          <a:xfrm>
            <a:off x="1092200" y="3124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Verificacion de solicitud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Activacion de cuenta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Recuperacion de contrasena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MFA tecnico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Aviso de rechazo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73AD033-FB67-0DAF-DBC4-D7A50B83F597}"/>
              </a:ext>
            </a:extLst>
          </p:cNvPr>
          <p:cNvSpPr/>
          <p:nvPr/>
        </p:nvSpPr>
        <p:spPr>
          <a:xfrm>
            <a:off x="4597400" y="20320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CE381C0-EE38-B7EC-66F4-A762995AEE76}"/>
              </a:ext>
            </a:extLst>
          </p:cNvPr>
          <p:cNvSpPr txBox="1"/>
          <p:nvPr/>
        </p:nvSpPr>
        <p:spPr>
          <a:xfrm>
            <a:off x="4876800" y="2159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1. Registro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566BCAC-1BB9-B767-AB27-5C6DFFEB671D}"/>
              </a:ext>
            </a:extLst>
          </p:cNvPr>
          <p:cNvSpPr txBox="1"/>
          <p:nvPr/>
        </p:nvSpPr>
        <p:spPr>
          <a:xfrm>
            <a:off x="6604000" y="2159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empresa envia la solicitud.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4349613C-8BA6-B55E-01A1-EEE7D4944CA9}"/>
              </a:ext>
            </a:extLst>
          </p:cNvPr>
          <p:cNvSpPr/>
          <p:nvPr/>
        </p:nvSpPr>
        <p:spPr>
          <a:xfrm>
            <a:off x="4597400" y="28956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D755BB5-B2B8-7C57-F3E2-B3BE437D1F66}"/>
              </a:ext>
            </a:extLst>
          </p:cNvPr>
          <p:cNvSpPr txBox="1"/>
          <p:nvPr/>
        </p:nvSpPr>
        <p:spPr>
          <a:xfrm>
            <a:off x="4876800" y="30226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2. Verificacion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E62A85F-BAA2-4BD7-E8B2-6464E3C2CDB9}"/>
              </a:ext>
            </a:extLst>
          </p:cNvPr>
          <p:cNvSpPr txBox="1"/>
          <p:nvPr/>
        </p:nvSpPr>
        <p:spPr>
          <a:xfrm>
            <a:off x="6604000" y="30226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Recibe enlace y confirma correo.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73E41BDF-47AA-07DD-B88A-F74F4869CF9E}"/>
              </a:ext>
            </a:extLst>
          </p:cNvPr>
          <p:cNvSpPr/>
          <p:nvPr/>
        </p:nvSpPr>
        <p:spPr>
          <a:xfrm>
            <a:off x="4597400" y="37592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ABED569-C0E5-4D0F-6C8C-7D13D8419892}"/>
              </a:ext>
            </a:extLst>
          </p:cNvPr>
          <p:cNvSpPr txBox="1"/>
          <p:nvPr/>
        </p:nvSpPr>
        <p:spPr>
          <a:xfrm>
            <a:off x="4876800" y="38862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3. Revision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6F4A994-C60B-6D2B-0E76-769FF49CFE3D}"/>
              </a:ext>
            </a:extLst>
          </p:cNvPr>
          <p:cNvSpPr txBox="1"/>
          <p:nvPr/>
        </p:nvSpPr>
        <p:spPr>
          <a:xfrm>
            <a:off x="6604000" y="3886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El centro aprueba o rechaza.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3D26979-58BF-5A44-A620-D64E00B337E7}"/>
              </a:ext>
            </a:extLst>
          </p:cNvPr>
          <p:cNvSpPr/>
          <p:nvPr/>
        </p:nvSpPr>
        <p:spPr>
          <a:xfrm>
            <a:off x="4597400" y="46228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F1D49D1-E5E0-BD98-D4F3-A13793C5CD0F}"/>
              </a:ext>
            </a:extLst>
          </p:cNvPr>
          <p:cNvSpPr txBox="1"/>
          <p:nvPr/>
        </p:nvSpPr>
        <p:spPr>
          <a:xfrm>
            <a:off x="4876800" y="47498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4. Resultado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77457B9-C6DC-795E-656F-39386501D72D}"/>
              </a:ext>
            </a:extLst>
          </p:cNvPr>
          <p:cNvSpPr txBox="1"/>
          <p:nvPr/>
        </p:nvSpPr>
        <p:spPr>
          <a:xfrm>
            <a:off x="6604000" y="4749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Si se rechaza llega correo y el estado sigue visible en el portal.</a:t>
            </a:r>
          </a:p>
        </p:txBody>
      </p:sp>
    </p:spTree>
    <p:extLst>
      <p:ext uri="{BB962C8B-B14F-4D97-AF65-F5344CB8AC3E}">
        <p14:creationId xmlns:p14="http://schemas.microsoft.com/office/powerpoint/2010/main" val="2538126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D56A351-B102-5B4D-A383-DF5B3A3BE31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10 / DOMINIO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670CB2E-8F4D-116B-70E6-9C0C066832C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resuelvo el acceso publico y los enlaces de correo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A09D5B3-3B80-63BC-4B3F-B6122F33107A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problema ya no es una IP local incrustada: la plataforma publica una URL HTTPS estable sobre la VM cloud.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9A138B7-E719-8DCA-92B9-94B3380E794E}"/>
              </a:ext>
            </a:extLst>
          </p:cNvPr>
          <p:cNvSpPr/>
          <p:nvPr/>
        </p:nvSpPr>
        <p:spPr>
          <a:xfrm>
            <a:off x="9144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73C2268-81FE-ECC0-1CD2-3D72441CFA0C}"/>
              </a:ext>
            </a:extLst>
          </p:cNvPr>
          <p:cNvSpPr txBox="1"/>
          <p:nvPr/>
        </p:nvSpPr>
        <p:spPr>
          <a:xfrm>
            <a:off x="12192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Infraestructura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B5BEF91-F8FF-29D3-58C9-47B8B3BA4396}"/>
              </a:ext>
            </a:extLst>
          </p:cNvPr>
          <p:cNvSpPr txBox="1"/>
          <p:nvPr/>
        </p:nvSpPr>
        <p:spPr>
          <a:xfrm>
            <a:off x="1219200" y="31242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>
                <a:solidFill>
                  <a:srgbClr val="1F2937"/>
                </a:solidFill>
                <a:latin typeface="Consolas" panose="020B0609020204030204" pitchFamily="49" charset="0"/>
              </a:rPr>
              <a:t>GCP + Docker Compose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EAE63BD-8508-6082-B985-68EAC8D05A58}"/>
              </a:ext>
            </a:extLst>
          </p:cNvPr>
          <p:cNvSpPr/>
          <p:nvPr/>
        </p:nvSpPr>
        <p:spPr>
          <a:xfrm>
            <a:off x="47752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6321B82-B264-8C2A-D8F2-A08B52343144}"/>
              </a:ext>
            </a:extLst>
          </p:cNvPr>
          <p:cNvSpPr txBox="1"/>
          <p:nvPr/>
        </p:nvSpPr>
        <p:spPr>
          <a:xfrm>
            <a:off x="51308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Borde HTTPS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E33E112-80E5-1685-3057-8E9849F6AE39}"/>
              </a:ext>
            </a:extLst>
          </p:cNvPr>
          <p:cNvSpPr txBox="1"/>
          <p:nvPr/>
        </p:nvSpPr>
        <p:spPr>
          <a:xfrm>
            <a:off x="5410200" y="3124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Consolas" panose="020B0609020204030204" pitchFamily="49" charset="0"/>
              </a:rPr>
              <a:t>Caddy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6354808-F438-E51D-16DB-F3443E3F9CC2}"/>
              </a:ext>
            </a:extLst>
          </p:cNvPr>
          <p:cNvSpPr/>
          <p:nvPr/>
        </p:nvSpPr>
        <p:spPr>
          <a:xfrm>
            <a:off x="8255000" y="2463800"/>
            <a:ext cx="3073400" cy="11684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DA8EC25-2F26-8D15-BFF5-E4F4A9A6EFA8}"/>
              </a:ext>
            </a:extLst>
          </p:cNvPr>
          <p:cNvSpPr txBox="1"/>
          <p:nvPr/>
        </p:nvSpPr>
        <p:spPr>
          <a:xfrm>
            <a:off x="8559800" y="27178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DBA14D"/>
                </a:solidFill>
                <a:latin typeface="Segoe UI" panose="020B0502040204020203" pitchFamily="34" charset="0"/>
              </a:rPr>
              <a:t>URL publica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97DB956-BC8F-D0E3-9192-F75F3E0E3313}"/>
              </a:ext>
            </a:extLst>
          </p:cNvPr>
          <p:cNvSpPr txBox="1"/>
          <p:nvPr/>
        </p:nvSpPr>
        <p:spPr>
          <a:xfrm>
            <a:off x="8483600" y="3124200"/>
            <a:ext cx="2641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900">
                <a:solidFill>
                  <a:srgbClr val="F6F8FC"/>
                </a:solidFill>
                <a:latin typeface="Consolas" panose="020B0609020204030204" pitchFamily="49" charset="0"/>
              </a:rPr>
              <a:t>https://agora.34.175.225.98...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6400640-A15C-E362-2288-AB11C8BE892E}"/>
              </a:ext>
            </a:extLst>
          </p:cNvPr>
          <p:cNvSpPr txBox="1"/>
          <p:nvPr/>
        </p:nvSpPr>
        <p:spPr>
          <a:xfrm>
            <a:off x="1168400" y="4216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portal externo y los correos usan ya el origen publico correcto de la VM.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APP_EXTERNAL_BASE_URL fija la URL canonica para enlaces y notificaciones.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siguiente paso natural seria cambiar nip.io por dominio institucional propio.</a:t>
            </a:r>
          </a:p>
        </p:txBody>
      </p:sp>
    </p:spTree>
    <p:extLst>
      <p:ext uri="{BB962C8B-B14F-4D97-AF65-F5344CB8AC3E}">
        <p14:creationId xmlns:p14="http://schemas.microsoft.com/office/powerpoint/2010/main" val="1063861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D623C66-C0E9-666B-50D8-442B52D110A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11 / MENSAJERIA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BC33574-FB23-71CA-1C15-1CCFBBA71A4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Bandeja y chat con actualizacion automatica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9408B09-9C32-C084-73F5-F57BA107CFBE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comunicacion entre centro y empresa no depende ya de recargar la pagina a mano.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85465EB-29AE-3F4E-1B81-FAEE66B1A9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028825"/>
            <a:ext cx="6604000" cy="37147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3990720-3781-3A0B-5DD4-D4484618757A}"/>
              </a:ext>
            </a:extLst>
          </p:cNvPr>
          <p:cNvSpPr/>
          <p:nvPr/>
        </p:nvSpPr>
        <p:spPr>
          <a:xfrm>
            <a:off x="7874000" y="2082800"/>
            <a:ext cx="3175000" cy="10668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3A56DA7-46A1-5FDC-D08B-6288091DAF95}"/>
              </a:ext>
            </a:extLst>
          </p:cNvPr>
          <p:cNvSpPr txBox="1"/>
          <p:nvPr/>
        </p:nvSpPr>
        <p:spPr>
          <a:xfrm>
            <a:off x="8255000" y="2336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Actualizacion automatica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16CAFB8-7061-34F1-301D-7073284FC6E5}"/>
              </a:ext>
            </a:extLst>
          </p:cNvPr>
          <p:cNvSpPr txBox="1"/>
          <p:nvPr/>
        </p:nvSpPr>
        <p:spPr>
          <a:xfrm>
            <a:off x="8813800" y="27178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F6F8FC"/>
                </a:solidFill>
                <a:latin typeface="Segoe UI" panose="020B0502040204020203" pitchFamily="34" charset="0"/>
              </a:rPr>
              <a:t>5 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D5C3C5A-4CC8-1D18-F06A-F06368F95D48}"/>
              </a:ext>
            </a:extLst>
          </p:cNvPr>
          <p:cNvSpPr txBox="1"/>
          <p:nvPr/>
        </p:nvSpPr>
        <p:spPr>
          <a:xfrm>
            <a:off x="7924800" y="3479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Refresco periodico del chat y de la bandeja.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Nueva carga cuando la ventana recupera el foco.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La empresa tambien ve cambios en su panel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El rechazo queda comunicado por correo y visible en estado.</a:t>
            </a:r>
          </a:p>
        </p:txBody>
      </p:sp>
    </p:spTree>
    <p:extLst>
      <p:ext uri="{BB962C8B-B14F-4D97-AF65-F5344CB8AC3E}">
        <p14:creationId xmlns:p14="http://schemas.microsoft.com/office/powerpoint/2010/main" val="2173236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7C5D778-627A-D8B9-892C-8DFBFA624FD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12 / AGORA DESKTOP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B2DDDF-55B9-C610-2C1A-020B9355F37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Consola tecnica local y cloud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93AB31E-287D-BAAD-3B3E-B5CA52B0C2E7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parte tecnica ya no depende de varios terminales sueltos ni de una pagina web separada: queda centralizada en una sola app.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3016FCD-FE2A-326C-FC97-3A0EACDFF4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471" y="1879600"/>
            <a:ext cx="3981459" cy="40386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F1DCC39-6B41-A880-5AC8-72DCCD341F18}"/>
              </a:ext>
            </a:extLst>
          </p:cNvPr>
          <p:cNvSpPr txBox="1"/>
          <p:nvPr/>
        </p:nvSpPr>
        <p:spPr>
          <a:xfrm>
            <a:off x="6858000" y="20574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local para backend, SQLite y demo offline.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cloud para estado, smoke, logs y reinicios remotos.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MFA en operaciones sensibles del flujo local.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Diagnostico, logs y backups desde una sola interfaz.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Empaquetado Windows listo para la defensa.</a:t>
            </a:r>
          </a:p>
        </p:txBody>
      </p:sp>
    </p:spTree>
    <p:extLst>
      <p:ext uri="{BB962C8B-B14F-4D97-AF65-F5344CB8AC3E}">
        <p14:creationId xmlns:p14="http://schemas.microsoft.com/office/powerpoint/2010/main" val="2461408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4BD1C07-8C73-AB07-9157-7A2D8EFA445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13 / VALIDACION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D8E57D1-EF7C-A55C-27DE-BA86920BBC9D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Comprobaciones ejecutadas antes de la revision final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1E81567F-652B-E7B7-49A1-134799F305FB}"/>
              </a:ext>
            </a:extLst>
          </p:cNvPr>
          <p:cNvSpPr/>
          <p:nvPr/>
        </p:nvSpPr>
        <p:spPr>
          <a:xfrm>
            <a:off x="8890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AFB9C16-2D81-E590-1201-165E4CE84F1C}"/>
              </a:ext>
            </a:extLst>
          </p:cNvPr>
          <p:cNvSpPr txBox="1"/>
          <p:nvPr/>
        </p:nvSpPr>
        <p:spPr>
          <a:xfrm>
            <a:off x="11176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110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E397237-C856-4F07-38B3-5FB0FC870DBB}"/>
              </a:ext>
            </a:extLst>
          </p:cNvPr>
          <p:cNvSpPr txBox="1"/>
          <p:nvPr/>
        </p:nvSpPr>
        <p:spPr>
          <a:xfrm>
            <a:off x="11176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backend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4747D4A-D7DD-2CA4-78D6-AE25B89E4E73}"/>
              </a:ext>
            </a:extLst>
          </p:cNvPr>
          <p:cNvSpPr/>
          <p:nvPr/>
        </p:nvSpPr>
        <p:spPr>
          <a:xfrm>
            <a:off x="37084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CE25F4-AEAB-CF41-3D84-F7E7B827F90B}"/>
              </a:ext>
            </a:extLst>
          </p:cNvPr>
          <p:cNvSpPr txBox="1"/>
          <p:nvPr/>
        </p:nvSpPr>
        <p:spPr>
          <a:xfrm>
            <a:off x="39370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628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AD091DD-616F-4188-68EB-E6F9119A474F}"/>
              </a:ext>
            </a:extLst>
          </p:cNvPr>
          <p:cNvSpPr txBox="1"/>
          <p:nvPr/>
        </p:nvSpPr>
        <p:spPr>
          <a:xfrm>
            <a:off x="39370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aserciones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71D529E0-8D97-5540-06D0-68D0B8AEC98E}"/>
              </a:ext>
            </a:extLst>
          </p:cNvPr>
          <p:cNvSpPr/>
          <p:nvPr/>
        </p:nvSpPr>
        <p:spPr>
          <a:xfrm>
            <a:off x="65278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C7A4AAA-6097-E20D-18C0-6E9188E09D05}"/>
              </a:ext>
            </a:extLst>
          </p:cNvPr>
          <p:cNvSpPr txBox="1"/>
          <p:nvPr/>
        </p:nvSpPr>
        <p:spPr>
          <a:xfrm>
            <a:off x="67564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14/14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EA72C8C-0F35-635A-7DD0-181D55129E10}"/>
              </a:ext>
            </a:extLst>
          </p:cNvPr>
          <p:cNvSpPr txBox="1"/>
          <p:nvPr/>
        </p:nvSpPr>
        <p:spPr>
          <a:xfrm>
            <a:off x="67564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frontend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AC9ECC78-A1F7-DB6B-75B4-77893B9809B0}"/>
              </a:ext>
            </a:extLst>
          </p:cNvPr>
          <p:cNvSpPr/>
          <p:nvPr/>
        </p:nvSpPr>
        <p:spPr>
          <a:xfrm>
            <a:off x="93472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EF187AC-EEB4-9CA4-8962-5AC17B04124B}"/>
              </a:ext>
            </a:extLst>
          </p:cNvPr>
          <p:cNvSpPr txBox="1"/>
          <p:nvPr/>
        </p:nvSpPr>
        <p:spPr>
          <a:xfrm>
            <a:off x="95758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6/6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FE852A5-48FC-E608-FF72-E6404035F562}"/>
              </a:ext>
            </a:extLst>
          </p:cNvPr>
          <p:cNvSpPr txBox="1"/>
          <p:nvPr/>
        </p:nvSpPr>
        <p:spPr>
          <a:xfrm>
            <a:off x="95758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E2E Playwright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947EBFC-CF22-FF91-7F7D-DB44FCE2865A}"/>
              </a:ext>
            </a:extLst>
          </p:cNvPr>
          <p:cNvSpPr txBox="1"/>
          <p:nvPr/>
        </p:nvSpPr>
        <p:spPr>
          <a:xfrm>
            <a:off x="1193800" y="39878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Build integrada de /app y /externo publicada en Symfony.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Verificados correo, rechazo, URLs publicas, chat y consola tecnica de escritorio.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Tambien se ha validado el empaquetado Windows con PHP embebido y SQLite.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E59D7CF-5EEE-653A-1B3E-7080BF304F1F}"/>
              </a:ext>
            </a:extLst>
          </p:cNvPr>
          <p:cNvSpPr txBox="1"/>
          <p:nvPr/>
        </p:nvSpPr>
        <p:spPr>
          <a:xfrm>
            <a:off x="1193800" y="5562600"/>
            <a:ext cx="927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Queda una deprecacion tecnica de PHPUnit, no bloqueante para la demo ni para la funcionalidad.</a:t>
            </a:r>
          </a:p>
        </p:txBody>
      </p:sp>
    </p:spTree>
    <p:extLst>
      <p:ext uri="{BB962C8B-B14F-4D97-AF65-F5344CB8AC3E}">
        <p14:creationId xmlns:p14="http://schemas.microsoft.com/office/powerpoint/2010/main" val="14007192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BF17A67-0B0E-EA25-5589-0A492FFA42E2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14 / ACCESO DE EVALUACION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A274C95-0C30-99B3-F176-753278630DD8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puede probarla la profesora desde fuera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7EFE29B-E641-801A-867B-9A9B61747A2B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Con la VM levantada no necesita instalar dependencias en su equipo.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8C30D6ED-1DCA-16C0-73C6-E5CFE7DF3A44}"/>
              </a:ext>
            </a:extLst>
          </p:cNvPr>
          <p:cNvSpPr/>
          <p:nvPr/>
        </p:nvSpPr>
        <p:spPr>
          <a:xfrm>
            <a:off x="863600" y="2006600"/>
            <a:ext cx="104648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57D4764-B415-C028-E655-ADAB442F0F8A}"/>
              </a:ext>
            </a:extLst>
          </p:cNvPr>
          <p:cNvSpPr txBox="1"/>
          <p:nvPr/>
        </p:nvSpPr>
        <p:spPr>
          <a:xfrm>
            <a:off x="1244600" y="2362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 b="1">
                <a:solidFill>
                  <a:srgbClr val="4975B0"/>
                </a:solidFill>
                <a:latin typeface="Consolas" panose="020B0609020204030204" pitchFamily="49" charset="0"/>
              </a:rPr>
              <a:t>\https://agora.34.175.225.98.nip.io/app   |   https://agora.34.175.225.98.nip.io/externo\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DBC50A7-BC88-1607-CC8D-DA7ECB6A4335}"/>
              </a:ext>
            </a:extLst>
          </p:cNvPr>
          <p:cNvSpPr txBox="1"/>
          <p:nvPr/>
        </p:nvSpPr>
        <p:spPr>
          <a:xfrm>
            <a:off x="1295400" y="2794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misma base sirve panel interno, portal externo y documentacion; la operacion tecnica se hace desde Agora Desktop.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412CBB9-86BD-F288-C59E-D292D6E31DF8}"/>
              </a:ext>
            </a:extLst>
          </p:cNvPr>
          <p:cNvSpPr/>
          <p:nvPr/>
        </p:nvSpPr>
        <p:spPr>
          <a:xfrm>
            <a:off x="1092200" y="3835400"/>
            <a:ext cx="4064000" cy="14986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7DBC3C6-18D8-9DD8-58A8-F724AC9963EA}"/>
              </a:ext>
            </a:extLst>
          </p:cNvPr>
          <p:cNvSpPr txBox="1"/>
          <p:nvPr/>
        </p:nvSpPr>
        <p:spPr>
          <a:xfrm>
            <a:off x="1498600" y="4165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Usuario de prueba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610A121-9D29-0E37-DBD6-E822C950A59C}"/>
              </a:ext>
            </a:extLst>
          </p:cNvPr>
          <p:cNvSpPr txBox="1"/>
          <p:nvPr/>
        </p:nvSpPr>
        <p:spPr>
          <a:xfrm>
            <a:off x="1498600" y="45974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F6F8FC"/>
                </a:solidFill>
                <a:latin typeface="Consolas" panose="020B0609020204030204" pitchFamily="49" charset="0"/>
              </a:rPr>
              <a:t>profesora / Abrete01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6BF17B1-3756-F404-2B2E-ACF06D5E42EA}"/>
              </a:ext>
            </a:extLst>
          </p:cNvPr>
          <p:cNvSpPr txBox="1"/>
          <p:nvPr/>
        </p:nvSpPr>
        <p:spPr>
          <a:xfrm>
            <a:off x="1498600" y="49784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Rol: coordinacion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DD8FCFA-F0E8-01F2-0399-99379ACDEE09}"/>
              </a:ext>
            </a:extLst>
          </p:cNvPr>
          <p:cNvSpPr txBox="1"/>
          <p:nvPr/>
        </p:nvSpPr>
        <p:spPr>
          <a:xfrm>
            <a:off x="5969000" y="38862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Puede revisar solicitudes, convenios, asignaciones y mensajes.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La empresa prueba el recorrido por /externo.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acceso remoto depende de que la VM siga activa.</a:t>
            </a:r>
          </a:p>
        </p:txBody>
      </p:sp>
    </p:spTree>
    <p:extLst>
      <p:ext uri="{BB962C8B-B14F-4D97-AF65-F5344CB8AC3E}">
        <p14:creationId xmlns:p14="http://schemas.microsoft.com/office/powerpoint/2010/main" val="2491006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3C97CB9-EBEA-A602-F6CA-DC84323DA42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15 / ALCANCE Y FUTURO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581D664-23FF-43C6-CBC8-86E3797A937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cerrado y que se deja para despues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F6C04A8-101A-D7A1-012C-3A6C0B6D9938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nucleo funcional y tecnico ya esta entregado; las mejoras futuras endurecen o amplian, pero no bloquean la defensa.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5215D6A-3B4E-CF24-A3B9-FDB9687BC3AF}"/>
              </a:ext>
            </a:extLst>
          </p:cNvPr>
          <p:cNvSpPr/>
          <p:nvPr/>
        </p:nvSpPr>
        <p:spPr>
          <a:xfrm>
            <a:off x="711200" y="2159000"/>
            <a:ext cx="3429000" cy="27178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56296C0-9628-2A65-B2BC-001D91E62F33}"/>
              </a:ext>
            </a:extLst>
          </p:cNvPr>
          <p:cNvSpPr txBox="1"/>
          <p:nvPr/>
        </p:nvSpPr>
        <p:spPr>
          <a:xfrm>
            <a:off x="1016000" y="2438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Cerrado en esta entrega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B9CF4DA-5114-5AC5-FE1B-72180041CB3C}"/>
              </a:ext>
            </a:extLst>
          </p:cNvPr>
          <p:cNvSpPr txBox="1"/>
          <p:nvPr/>
        </p:nvSpPr>
        <p:spPr>
          <a:xfrm>
            <a:off x="1041400" y="2946400"/>
            <a:ext cx="269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Portales /app y /externo bajo HTTPS.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Correo real, documentos, chat y exportacion.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Agora Desktop local/cloud como consola tecnica.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VM publica con arranque automatico y URL efectiva visible.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870D57A-E655-BB64-DDEF-4DB115E64C1A}"/>
              </a:ext>
            </a:extLst>
          </p:cNvPr>
          <p:cNvSpPr/>
          <p:nvPr/>
        </p:nvSpPr>
        <p:spPr>
          <a:xfrm>
            <a:off x="4521200" y="2235200"/>
            <a:ext cx="3098800" cy="1219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31145F61-DB6A-1019-3ADD-6CBDD3AAB061}"/>
              </a:ext>
            </a:extLst>
          </p:cNvPr>
          <p:cNvSpPr txBox="1"/>
          <p:nvPr/>
        </p:nvSpPr>
        <p:spPr>
          <a:xfrm>
            <a:off x="4749800" y="2413000"/>
            <a:ext cx="238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1A772"/>
                </a:solidFill>
                <a:latin typeface="Segoe UI" panose="020B0502040204020203" pitchFamily="34" charset="0"/>
              </a:rPr>
              <a:t>Dominio propio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E263D43-1D9A-9059-3C14-B787D57096D2}"/>
              </a:ext>
            </a:extLst>
          </p:cNvPr>
          <p:cNvSpPr txBox="1"/>
          <p:nvPr/>
        </p:nvSpPr>
        <p:spPr>
          <a:xfrm>
            <a:off x="4749800" y="2768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Sustituir nip.io por dominio institucional y reforzar TLS.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533D3D5-6554-E904-954F-41CBDCF4A932}"/>
              </a:ext>
            </a:extLst>
          </p:cNvPr>
          <p:cNvSpPr/>
          <p:nvPr/>
        </p:nvSpPr>
        <p:spPr>
          <a:xfrm>
            <a:off x="7975600" y="2235200"/>
            <a:ext cx="3098800" cy="1219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51F9576-A26E-0A25-1466-D465049575E4}"/>
              </a:ext>
            </a:extLst>
          </p:cNvPr>
          <p:cNvSpPr txBox="1"/>
          <p:nvPr/>
        </p:nvSpPr>
        <p:spPr>
          <a:xfrm>
            <a:off x="8204200" y="2413000"/>
            <a:ext cx="238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B1D2"/>
                </a:solidFill>
                <a:latin typeface="Segoe UI" panose="020B0502040204020203" pitchFamily="34" charset="0"/>
              </a:rPr>
              <a:t>Servicios gestionados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8161CBD-935D-C0BD-9D61-502B2B101D49}"/>
              </a:ext>
            </a:extLst>
          </p:cNvPr>
          <p:cNvSpPr txBox="1"/>
          <p:nvPr/>
        </p:nvSpPr>
        <p:spPr>
          <a:xfrm>
            <a:off x="8204200" y="2768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Migrar documentos, backups y observabilidad a servicios gestionados fuera de la VM.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8E2CC980-63EB-6A22-FFBD-BC0FDD281A25}"/>
              </a:ext>
            </a:extLst>
          </p:cNvPr>
          <p:cNvSpPr/>
          <p:nvPr/>
        </p:nvSpPr>
        <p:spPr>
          <a:xfrm>
            <a:off x="4521200" y="3733800"/>
            <a:ext cx="3098800" cy="1219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DF90326-7938-8B98-3223-42C2C1C0D003}"/>
              </a:ext>
            </a:extLst>
          </p:cNvPr>
          <p:cNvSpPr txBox="1"/>
          <p:nvPr/>
        </p:nvSpPr>
        <p:spPr>
          <a:xfrm>
            <a:off x="4749800" y="3911600"/>
            <a:ext cx="238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DBA14D"/>
                </a:solidFill>
                <a:latin typeface="Segoe UI" panose="020B0502040204020203" pitchFamily="34" charset="0"/>
              </a:rPr>
              <a:t>Cliente tecnico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DE08089-44FC-BA71-6838-474F8F76D64D}"/>
              </a:ext>
            </a:extLst>
          </p:cNvPr>
          <p:cNvSpPr txBox="1"/>
          <p:nvPr/>
        </p:nvSpPr>
        <p:spPr>
          <a:xfrm>
            <a:off x="4749800" y="426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Ampliar Agora Desktop sin mezclar soporte con negocio.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B72C3C2-9228-5457-9DB2-CFE0F34DA693}"/>
              </a:ext>
            </a:extLst>
          </p:cNvPr>
          <p:cNvSpPr txBox="1"/>
          <p:nvPr/>
        </p:nvSpPr>
        <p:spPr>
          <a:xfrm>
            <a:off x="1016000" y="5257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prioridad futura no es anadir modulos sin control, sino endurecer despliegue, seguridad y soporte.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Las funciones secundarias quedan identificadas para justificar con claridad el recorte de alcance.</a:t>
            </a:r>
          </a:p>
        </p:txBody>
      </p:sp>
    </p:spTree>
    <p:extLst>
      <p:ext uri="{BB962C8B-B14F-4D97-AF65-F5344CB8AC3E}">
        <p14:creationId xmlns:p14="http://schemas.microsoft.com/office/powerpoint/2010/main" val="1384542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363EC2D-827D-E293-58DE-23863F70001B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16 / LIMITACIONES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9FBC11A-D6BF-8030-89B6-9AE9C67C0F63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fuera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0132C7E-9033-1B78-6B93-FF6F4B2631BF}"/>
              </a:ext>
            </a:extLst>
          </p:cNvPr>
          <p:cNvSpPr txBox="1"/>
          <p:nvPr/>
        </p:nvSpPr>
        <p:spPr>
          <a:xfrm>
            <a:off x="990600" y="20320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Infraestructura mas gestionada y endurecida que la VM actual.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Integracion con SSO o identidad corporativa.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Firma electronica avanzada.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Migracion del almacenamiento documental a un servicio gestionado independiente.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Perfilado profundo de rendimiento en produccion.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19EACEF-9A4A-1501-CE9F-86D27B34DD12}"/>
              </a:ext>
            </a:extLst>
          </p:cNvPr>
          <p:cNvSpPr/>
          <p:nvPr/>
        </p:nvSpPr>
        <p:spPr>
          <a:xfrm>
            <a:off x="6807200" y="2057400"/>
            <a:ext cx="4064000" cy="2667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1215060-E82A-9686-21CF-EF8079E946AD}"/>
              </a:ext>
            </a:extLst>
          </p:cNvPr>
          <p:cNvSpPr txBox="1"/>
          <p:nvPr/>
        </p:nvSpPr>
        <p:spPr>
          <a:xfrm>
            <a:off x="7213600" y="24384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Siguiente iteracion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2F7C57F-33B4-4CB2-581B-B0C785ED2DD7}"/>
              </a:ext>
            </a:extLst>
          </p:cNvPr>
          <p:cNvSpPr txBox="1"/>
          <p:nvPr/>
        </p:nvSpPr>
        <p:spPr>
          <a:xfrm>
            <a:off x="7213600" y="3098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Despliegue estable, dominio propio, base de datos de servidor y seguridad endurecida.</a:t>
            </a:r>
          </a:p>
        </p:txBody>
      </p:sp>
    </p:spTree>
    <p:extLst>
      <p:ext uri="{BB962C8B-B14F-4D97-AF65-F5344CB8AC3E}">
        <p14:creationId xmlns:p14="http://schemas.microsoft.com/office/powerpoint/2010/main" val="39735922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2D81F7F-2258-EA64-DCD4-E81A879DD0B5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17 / CIERRE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2C24F13-ABAC-65AE-18F4-D098C3D1CF8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Resultado defendible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7F0F976-2ACE-B939-D25D-4720E924E803}"/>
              </a:ext>
            </a:extLst>
          </p:cNvPr>
          <p:cNvSpPr txBox="1"/>
          <p:nvPr/>
        </p:nvSpPr>
        <p:spPr>
          <a:xfrm>
            <a:off x="1168400" y="200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El proyecto transforma una gestion dispersa en una plataforma web funcional, trazable y documentada para empresas colaboradoras y practicas de FP Dual.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D10D5EB-9330-C924-F312-131A55DD3090}"/>
              </a:ext>
            </a:extLst>
          </p:cNvPr>
          <p:cNvSpPr txBox="1"/>
          <p:nvPr/>
        </p:nvSpPr>
        <p:spPr>
          <a:xfrm>
            <a:off x="1625600" y="40894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Problema real del centro.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Arquitectura completa con backend, dos frontends y operacion local.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Validacion tecnica, empaquetado y demo preparados.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F11DC90-BD7F-18DA-454A-5A78D693F6D5}"/>
              </a:ext>
            </a:extLst>
          </p:cNvPr>
          <p:cNvSpPr txBox="1"/>
          <p:nvPr/>
        </p:nvSpPr>
        <p:spPr>
          <a:xfrm>
            <a:off x="4191000" y="594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200" b="1">
                <a:solidFill>
                  <a:srgbClr val="DBA14D"/>
                </a:solidFill>
                <a:latin typeface="Segoe UI" panose="020B0502040204020203" pitchFamily="34" charset="0"/>
              </a:rPr>
              <a:t>Demo y preguntas</a:t>
            </a:r>
          </a:p>
        </p:txBody>
      </p:sp>
    </p:spTree>
    <p:extLst>
      <p:ext uri="{BB962C8B-B14F-4D97-AF65-F5344CB8AC3E}">
        <p14:creationId xmlns:p14="http://schemas.microsoft.com/office/powerpoint/2010/main" val="9952045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1326</Words>
  <Application>Microsoft Office PowerPoint</Application>
  <PresentationFormat>Personalizado</PresentationFormat>
  <Paragraphs>177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Consolas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Ángel Méndez Minda</dc:creator>
  <cp:lastModifiedBy>Luis Ángel Méndez Minda</cp:lastModifiedBy>
  <cp:revision>1</cp:revision>
  <dcterms:created xsi:type="dcterms:W3CDTF">2026-06-01T19:07:38Z</dcterms:created>
  <dcterms:modified xsi:type="dcterms:W3CDTF">2026-06-01T19:07:38Z</dcterms:modified>
</cp:coreProperties>
</file>