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108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520BF6-50DF-2297-F823-27E9AF3C65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8F46696-B39F-384D-0391-86DA3DD9D8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521A54D-03E2-E814-B8E3-052113C1E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FCEDC-9044-4CE9-9B98-47C3FC2B7CBE}" type="datetimeFigureOut">
              <a:rPr lang="es-ES" smtClean="0"/>
              <a:t>03/05/2026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E3FBE31-D78F-CF12-E520-A27FF1218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3E30B18-D605-436F-D91E-DFDED3CBD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55040-64EB-4938-BD0A-2F141374B05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7602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7F7FB4-1229-D34A-77AF-BF3813789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63BA5A2-7A07-1376-15A5-6F42E11F6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5829E9-04FF-9CE2-3482-CC194A8B1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FCEDC-9044-4CE9-9B98-47C3FC2B7CBE}" type="datetimeFigureOut">
              <a:rPr lang="es-ES" smtClean="0"/>
              <a:t>03/05/2026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9C5EA7-77E5-90A3-24E3-5C5FD17FE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FDFEBC3-F147-ADAF-67F6-781A244D8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55040-64EB-4938-BD0A-2F141374B05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86335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5414F1-2CF3-271D-507D-0CD25B56D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6A8B74D-C2AD-1A1D-E067-0CEAE4B24D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04D0B2-F503-CE55-82B7-4C0965C71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FCEDC-9044-4CE9-9B98-47C3FC2B7CBE}" type="datetimeFigureOut">
              <a:rPr lang="es-ES" smtClean="0"/>
              <a:t>03/05/2026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3D71DB-C58C-48D1-0AB9-6B08DDB67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64B6DB3-904F-D11F-1501-C456D1A76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55040-64EB-4938-BD0A-2F141374B05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903167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E663BC-5B9E-9C07-627C-337DADEF8B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705ED80-D4D4-9750-E78C-80BFC9A5E5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904686E-C7BC-9060-88D3-0CC035F727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FC2EDC6-CF57-00CB-A202-1114FDC2D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FCEDC-9044-4CE9-9B98-47C3FC2B7CBE}" type="datetimeFigureOut">
              <a:rPr lang="es-ES" smtClean="0"/>
              <a:t>03/05/2026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3CB32A1-EF88-7138-A04F-D0878B260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99C9EC-4AA9-B1CB-EF06-AB35323EB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55040-64EB-4938-BD0A-2F141374B05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700763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3CC908-E5C1-CEF5-A879-93634D353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826B4F6-DB26-7919-9F13-3746D56F80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0B83327-6C33-B4F1-B3B2-6DC44117EC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AC3ADDE-805C-EE97-782B-07FB53D319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EB31B4A-A0A3-C5FB-7C4B-EEE5C4FEAD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4408E452-08C9-4EE7-B468-49F265E99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FCEDC-9044-4CE9-9B98-47C3FC2B7CBE}" type="datetimeFigureOut">
              <a:rPr lang="es-ES" smtClean="0"/>
              <a:t>03/05/2026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7A68166-41F9-CB59-BD97-57372E5CF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4D1EC27-8CDD-BA3D-A6AE-BE6AFD289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55040-64EB-4938-BD0A-2F141374B05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0675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E85820-A6F7-7243-B57B-7332B33C90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E0154A4-5BC7-6EB6-D6B1-527BD0398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FCEDC-9044-4CE9-9B98-47C3FC2B7CBE}" type="datetimeFigureOut">
              <a:rPr lang="es-ES" smtClean="0"/>
              <a:t>03/05/2026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CB8E482-2611-E330-DE3B-302B164EA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5010C12-ABDF-64F8-9A2F-DB978E624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55040-64EB-4938-BD0A-2F141374B05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242158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EACCB39-82B8-8C9F-06E2-22D517129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FCEDC-9044-4CE9-9B98-47C3FC2B7CBE}" type="datetimeFigureOut">
              <a:rPr lang="es-ES" smtClean="0"/>
              <a:t>03/05/2026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D9201FD-ED74-2DBA-1AA8-C4A007550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4D3BAC7-93A7-5672-D1C5-E3E71F032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55040-64EB-4938-BD0A-2F141374B05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5471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EDB4C5-3ECF-6920-7B36-DF068E9BD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72392A1-B3B9-720F-3DB6-14F60160E8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734D3AD-E46F-6EC2-F46C-2FF7B30C69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B14517E-B3BD-0D3C-6A94-3B9021914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FCEDC-9044-4CE9-9B98-47C3FC2B7CBE}" type="datetimeFigureOut">
              <a:rPr lang="es-ES" smtClean="0"/>
              <a:t>03/05/2026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CEF152B-2711-C76A-7FF2-44C9674FE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4FFDE10-204E-F3EF-2071-1B56E88B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55040-64EB-4938-BD0A-2F141374B05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8045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A8CF42-36BB-9334-F14E-4D949FBAD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6BE6D79-08C1-93E5-B9DB-F06661E980F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F8E9D0B-0273-71E5-0CF8-EA4D093947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A3FEBCA-709F-400A-4481-04364F16A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FCEDC-9044-4CE9-9B98-47C3FC2B7CBE}" type="datetimeFigureOut">
              <a:rPr lang="es-ES" smtClean="0"/>
              <a:t>03/05/2026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5A5451B-237C-7B8C-5431-994A0E6E0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0919129-C80C-8DE9-692F-08D344413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55040-64EB-4938-BD0A-2F141374B05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56792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D5E6A8-1750-5EC9-A393-57EA8E7BB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921C21D-7B88-C5A2-240C-799ECF1059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2CD7A92-37B5-140F-D025-ECA6E7B45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FCEDC-9044-4CE9-9B98-47C3FC2B7CBE}" type="datetimeFigureOut">
              <a:rPr lang="es-ES" smtClean="0"/>
              <a:t>03/05/2026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5A190D1-42A8-A1D8-D443-540E1F49D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8B18A69-E5F2-DCFE-8ADB-41F850148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55040-64EB-4938-BD0A-2F141374B05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9294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5840964-855F-D0FD-896B-8144F70EA3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3AE056C-439C-855B-AF51-5A9F29CE6B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6BF8A3D-7A2D-6648-D62C-25F6B4628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2FCEDC-9044-4CE9-9B98-47C3FC2B7CBE}" type="datetimeFigureOut">
              <a:rPr lang="es-ES" smtClean="0"/>
              <a:t>03/05/2026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C70276C-43FB-88E4-2086-97342C35C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A31B267-6F1B-18E6-467A-1A3941FF0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455040-64EB-4938-BD0A-2F141374B05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47917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72BDA274-ABD2-45F1-8B59-5CBF2D7BC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CDAE57-13BC-3791-6B16-B5FB925694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DB65BDD-59E9-3DFA-98D7-FB785E6E1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2FCEDC-9044-4CE9-9B98-47C3FC2B7CBE}" type="datetimeFigureOut">
              <a:rPr lang="es-ES" smtClean="0"/>
              <a:t>03/05/2026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8D1ECEF-F739-A79C-F532-FA358AEE6A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426DB04-DF97-8610-4C8F-B8F9C581DA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A455040-64EB-4938-BD0A-2F141374B05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3905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3A87E732-A74F-B6EB-E66F-824695ECDAD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0B0E1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177A55E-A698-F1FC-7F42-C096EB1B4D0A}"/>
              </a:ext>
            </a:extLst>
          </p:cNvPr>
          <p:cNvSpPr txBox="1"/>
          <p:nvPr/>
        </p:nvSpPr>
        <p:spPr>
          <a:xfrm>
            <a:off x="736600" y="6858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 b="1">
                <a:solidFill>
                  <a:srgbClr val="DBA14D"/>
                </a:solidFill>
                <a:latin typeface="Segoe UI" panose="020B0502040204020203" pitchFamily="34" charset="0"/>
              </a:rPr>
              <a:t>Trabajo Final de Grado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B049C5D-2CED-583F-FF27-E567D7CE3AF2}"/>
              </a:ext>
            </a:extLst>
          </p:cNvPr>
          <p:cNvSpPr txBox="1"/>
          <p:nvPr/>
        </p:nvSpPr>
        <p:spPr>
          <a:xfrm>
            <a:off x="736600" y="1320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4200" b="1">
                <a:solidFill>
                  <a:srgbClr val="F6F8FC"/>
                </a:solidFill>
                <a:latin typeface="Segoe UI" panose="020B0502040204020203" pitchFamily="34" charset="0"/>
              </a:rPr>
              <a:t>Gestion de Empresas Colaboradoras para FP Dual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8CEB650-E9C2-7DA1-8A94-AA40324B5435}"/>
              </a:ext>
            </a:extLst>
          </p:cNvPr>
          <p:cNvSpPr txBox="1"/>
          <p:nvPr/>
        </p:nvSpPr>
        <p:spPr>
          <a:xfrm>
            <a:off x="787400" y="3124200"/>
            <a:ext cx="8064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Plataforma web para centralizar empresas, convenios, practicas, solicitudes externas, seguimiento documental y comunicacion empresa-centro.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F3235407-906C-72DB-F6B2-20A5A967C08D}"/>
              </a:ext>
            </a:extLst>
          </p:cNvPr>
          <p:cNvSpPr txBox="1"/>
          <p:nvPr/>
        </p:nvSpPr>
        <p:spPr>
          <a:xfrm>
            <a:off x="787400" y="52324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Autor: Luis Angel</a:t>
            </a:r>
          </a:p>
          <a:p>
            <a:r>
              <a:rPr lang="es-ES" sz="1600">
                <a:solidFill>
                  <a:srgbClr val="C2CBD8"/>
                </a:solidFill>
                <a:latin typeface="Segoe UI" panose="020B0502040204020203" pitchFamily="34" charset="0"/>
              </a:rPr>
              <a:t>Tutora: Elena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083AF39-753F-82C3-BB50-8A1FB5E262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93000" y="1968500"/>
            <a:ext cx="4064000" cy="2286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3598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66F771D-844A-8A8A-1619-F262A4D39AA6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01 / PROBLEMA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A0E707B-611E-F1AC-59DD-8C8448C234F9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Punto de partida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273184F-ED8D-917C-985D-945732CFBA6D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gestion anterior estaba repartida entre hojas de calculo, correos y documentos sin una vista unificada.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915B90E-BCE6-2D2C-6A00-56E4BEF8136F}"/>
              </a:ext>
            </a:extLst>
          </p:cNvPr>
          <p:cNvSpPr txBox="1"/>
          <p:nvPr/>
        </p:nvSpPr>
        <p:spPr>
          <a:xfrm>
            <a:off x="889000" y="2349500"/>
            <a:ext cx="520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Informacion dispersa entre varias fuentes.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Dificultad para conocer el estado real de convenios, solicitudes y asignaciones.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Dependencia del conocimiento manual de la persona que coordina las practicas.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2000">
                <a:solidFill>
                  <a:srgbClr val="C2CBD8"/>
                </a:solidFill>
                <a:latin typeface="Segoe UI" panose="020B0502040204020203" pitchFamily="34" charset="0"/>
              </a:rPr>
              <a:t>Poca trazabilidad sobre mensajes, documentos y cambios.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E3A242DE-AEFC-85A9-F6C5-D682491C8B55}"/>
              </a:ext>
            </a:extLst>
          </p:cNvPr>
          <p:cNvSpPr/>
          <p:nvPr/>
        </p:nvSpPr>
        <p:spPr>
          <a:xfrm>
            <a:off x="7112000" y="2184400"/>
            <a:ext cx="3937000" cy="24130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27E0B3B-A3CA-87F8-63E9-9D3A94567C78}"/>
              </a:ext>
            </a:extLst>
          </p:cNvPr>
          <p:cNvSpPr txBox="1"/>
          <p:nvPr/>
        </p:nvSpPr>
        <p:spPr>
          <a:xfrm>
            <a:off x="7493000" y="25400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700" b="1">
                <a:solidFill>
                  <a:srgbClr val="DBA14D"/>
                </a:solidFill>
                <a:latin typeface="Segoe UI" panose="020B0502040204020203" pitchFamily="34" charset="0"/>
              </a:rPr>
              <a:t>Necesidad principal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EFBDDF0-1C89-E748-AE70-101E2A8D77B7}"/>
              </a:ext>
            </a:extLst>
          </p:cNvPr>
          <p:cNvSpPr txBox="1"/>
          <p:nvPr/>
        </p:nvSpPr>
        <p:spPr>
          <a:xfrm>
            <a:off x="7493000" y="3149600"/>
            <a:ext cx="31242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300" b="1">
                <a:solidFill>
                  <a:srgbClr val="F6F8FC"/>
                </a:solidFill>
                <a:latin typeface="Segoe UI" panose="020B0502040204020203" pitchFamily="34" charset="0"/>
              </a:rPr>
              <a:t>Pasar de una gestion dispersa a una plataforma unica, trazable y defendible.</a:t>
            </a:r>
          </a:p>
        </p:txBody>
      </p:sp>
    </p:spTree>
    <p:extLst>
      <p:ext uri="{BB962C8B-B14F-4D97-AF65-F5344CB8AC3E}">
        <p14:creationId xmlns:p14="http://schemas.microsoft.com/office/powerpoint/2010/main" val="30517858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6B7FD3-1393-5D89-5B28-09F9F173D23E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02 / OBJETIVOS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3F41C42-779D-C24A-7748-50A142FE32C0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tenia que resolver la aplicacion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09A8808C-9454-C366-AE0D-FB3DD96BEE04}"/>
              </a:ext>
            </a:extLst>
          </p:cNvPr>
          <p:cNvSpPr/>
          <p:nvPr/>
        </p:nvSpPr>
        <p:spPr>
          <a:xfrm>
            <a:off x="736600" y="19558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955CF94-8241-1786-EF6F-E855D247F4CC}"/>
              </a:ext>
            </a:extLst>
          </p:cNvPr>
          <p:cNvSpPr txBox="1"/>
          <p:nvPr/>
        </p:nvSpPr>
        <p:spPr>
          <a:xfrm>
            <a:off x="1016000" y="218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Centralizar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25FD148-BF6E-CB4D-57D2-9E2214759528}"/>
              </a:ext>
            </a:extLst>
          </p:cNvPr>
          <p:cNvSpPr txBox="1"/>
          <p:nvPr/>
        </p:nvSpPr>
        <p:spPr>
          <a:xfrm>
            <a:off x="1016000" y="26162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Empresas, convenios, estudiantes, tutores y asignaciones.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3199024-54D7-0743-9E32-A3E116F97E72}"/>
              </a:ext>
            </a:extLst>
          </p:cNvPr>
          <p:cNvSpPr/>
          <p:nvPr/>
        </p:nvSpPr>
        <p:spPr>
          <a:xfrm>
            <a:off x="6134100" y="19558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51C0E31-4E5A-F800-7EBD-DAB5664930F2}"/>
              </a:ext>
            </a:extLst>
          </p:cNvPr>
          <p:cNvSpPr txBox="1"/>
          <p:nvPr/>
        </p:nvSpPr>
        <p:spPr>
          <a:xfrm>
            <a:off x="6413500" y="21844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Abrir canal externo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A031D46-0FAC-63CC-B25A-E58D125ADB95}"/>
              </a:ext>
            </a:extLst>
          </p:cNvPr>
          <p:cNvSpPr txBox="1"/>
          <p:nvPr/>
        </p:nvSpPr>
        <p:spPr>
          <a:xfrm>
            <a:off x="6413500" y="26162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Registro de empresas, verificacion, estado y cuenta persistente.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B8981CA7-A9DA-FD1F-C526-13A952BE22D2}"/>
              </a:ext>
            </a:extLst>
          </p:cNvPr>
          <p:cNvSpPr/>
          <p:nvPr/>
        </p:nvSpPr>
        <p:spPr>
          <a:xfrm>
            <a:off x="736600" y="37592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D029213-F952-0DDD-A7B1-58D1A75E1C35}"/>
              </a:ext>
            </a:extLst>
          </p:cNvPr>
          <p:cNvSpPr txBox="1"/>
          <p:nvPr/>
        </p:nvSpPr>
        <p:spPr>
          <a:xfrm>
            <a:off x="1016000" y="39878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Trazabilidad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37BC3FE-0C17-AD8F-C01A-229033F77416}"/>
              </a:ext>
            </a:extLst>
          </p:cNvPr>
          <p:cNvSpPr txBox="1"/>
          <p:nvPr/>
        </p:nvSpPr>
        <p:spPr>
          <a:xfrm>
            <a:off x="1016000" y="4419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Mensajeria, documentos versionados, evidencias y evaluacion final.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7DF30922-9107-776D-3018-6A86AA3D6E40}"/>
              </a:ext>
            </a:extLst>
          </p:cNvPr>
          <p:cNvSpPr/>
          <p:nvPr/>
        </p:nvSpPr>
        <p:spPr>
          <a:xfrm>
            <a:off x="6134100" y="3759200"/>
            <a:ext cx="4635500" cy="1295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E3B5AC8-5916-8714-C52E-8C39DC8077EA}"/>
              </a:ext>
            </a:extLst>
          </p:cNvPr>
          <p:cNvSpPr txBox="1"/>
          <p:nvPr/>
        </p:nvSpPr>
        <p:spPr>
          <a:xfrm>
            <a:off x="6413500" y="39878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100" b="1">
                <a:solidFill>
                  <a:srgbClr val="4975B0"/>
                </a:solidFill>
                <a:latin typeface="Segoe UI" panose="020B0502040204020203" pitchFamily="34" charset="0"/>
              </a:rPr>
              <a:t>Defensa tecnica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D90F14A-D89D-B40D-7E84-52EABEF1A787}"/>
              </a:ext>
            </a:extLst>
          </p:cNvPr>
          <p:cNvSpPr txBox="1"/>
          <p:nvPr/>
        </p:nvSpPr>
        <p:spPr>
          <a:xfrm>
            <a:off x="6413500" y="4419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1F2937"/>
                </a:solidFill>
                <a:latin typeface="Segoe UI" panose="020B0502040204020203" pitchFamily="34" charset="0"/>
              </a:rPr>
              <a:t>Arquitectura separada, pruebas, demo y documentacion final.</a:t>
            </a:r>
          </a:p>
        </p:txBody>
      </p:sp>
    </p:spTree>
    <p:extLst>
      <p:ext uri="{BB962C8B-B14F-4D97-AF65-F5344CB8AC3E}">
        <p14:creationId xmlns:p14="http://schemas.microsoft.com/office/powerpoint/2010/main" val="35081736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B53BFB5-E3E0-B286-B406-150DBBCC870F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03 / ARQUITECTURA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A18F661-8504-FF24-794C-DEB98DE8811E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Separacion por responsabilidades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74815DA-F3A7-AB78-4388-EC3336FFFA42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Un unico nucleo de datos y negocio, con interfaces distintas para cada tipo de usuario.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7606F8B-DB37-5589-BE9B-56D891B90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150" y="2006600"/>
            <a:ext cx="5905500" cy="3937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564781DF-542B-126E-AFFB-E71F3C2FEFF7}"/>
              </a:ext>
            </a:extLst>
          </p:cNvPr>
          <p:cNvSpPr txBox="1"/>
          <p:nvPr/>
        </p:nvSpPr>
        <p:spPr>
          <a:xfrm>
            <a:off x="7937500" y="22098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API REST Symfony como centro de negocio.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Panel interno React para coordinacion.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Portal externo React para empresas.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Documentacion y monitor separados del flujo operativo.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Modo integrado bajo una unica URL.</a:t>
            </a:r>
          </a:p>
        </p:txBody>
      </p:sp>
    </p:spTree>
    <p:extLst>
      <p:ext uri="{BB962C8B-B14F-4D97-AF65-F5344CB8AC3E}">
        <p14:creationId xmlns:p14="http://schemas.microsoft.com/office/powerpoint/2010/main" val="3250483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83A0BADC-A61B-8DCF-868B-4B0627F917C5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04 / MODELO DE DATOS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B77C57D6-4B7F-A8F4-C15A-BE6C5EEDE134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Del alta de empresa a la asignacion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278ECE0-4371-D756-05E7-2F4D5C7651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1980890"/>
            <a:ext cx="5969000" cy="378522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3CD8241-1366-6491-F780-48534F0B21A4}"/>
              </a:ext>
            </a:extLst>
          </p:cNvPr>
          <p:cNvSpPr txBox="1"/>
          <p:nvPr/>
        </p:nvSpPr>
        <p:spPr>
          <a:xfrm>
            <a:off x="7239000" y="2006600"/>
            <a:ext cx="393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Regla de negocio defendible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2A47E0A-4FF4-201D-6F6E-2CC8BB1FA1AE}"/>
              </a:ext>
            </a:extLst>
          </p:cNvPr>
          <p:cNvSpPr txBox="1"/>
          <p:nvPr/>
        </p:nvSpPr>
        <p:spPr>
          <a:xfrm>
            <a:off x="7493000" y="2667000"/>
            <a:ext cx="3619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Primero se revisa o activa la empresa.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Despues se formaliza el convenio.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Solo con convenio operativo se planifica la asignacion.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Seguimientos, evidencias y evaluacion cierran el ciclo.</a:t>
            </a:r>
          </a:p>
        </p:txBody>
      </p:sp>
    </p:spTree>
    <p:extLst>
      <p:ext uri="{BB962C8B-B14F-4D97-AF65-F5344CB8AC3E}">
        <p14:creationId xmlns:p14="http://schemas.microsoft.com/office/powerpoint/2010/main" val="3309798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ECB3CC9-B2AF-884D-2AB3-040BD637FF04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05 / PANEL INTERNO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0ADE18F-5D82-9966-D525-D6A900E12156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Gestion diaria del centro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8AEFA1B-178F-870D-0317-45F8298E0A57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Dashboard, CRUD operativo, solicitudes, bandeja, documentos, seguimientos y exportacion.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A73259E-6524-4B88-6FB4-673FDE73C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1905000"/>
            <a:ext cx="7112000" cy="40005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5EC5033A-540D-3307-6171-549F21CA20A1}"/>
              </a:ext>
            </a:extLst>
          </p:cNvPr>
          <p:cNvSpPr/>
          <p:nvPr/>
        </p:nvSpPr>
        <p:spPr>
          <a:xfrm>
            <a:off x="8407400" y="20955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1007BA7-9FFB-DCB4-1D97-C744AE45798E}"/>
              </a:ext>
            </a:extLst>
          </p:cNvPr>
          <p:cNvSpPr txBox="1"/>
          <p:nvPr/>
        </p:nvSpPr>
        <p:spPr>
          <a:xfrm>
            <a:off x="8636000" y="22606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20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1DC66D2-1CB2-5133-3694-5E86CEAD394C}"/>
              </a:ext>
            </a:extLst>
          </p:cNvPr>
          <p:cNvSpPr txBox="1"/>
          <p:nvPr/>
        </p:nvSpPr>
        <p:spPr>
          <a:xfrm>
            <a:off x="8636000" y="27559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empresas demo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FBF2FC0-F7F6-66F8-3FD5-89033FE35041}"/>
              </a:ext>
            </a:extLst>
          </p:cNvPr>
          <p:cNvSpPr/>
          <p:nvPr/>
        </p:nvSpPr>
        <p:spPr>
          <a:xfrm>
            <a:off x="8407400" y="35306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FE4D34F5-1380-3F07-15C9-DC8E7A5A6E38}"/>
              </a:ext>
            </a:extLst>
          </p:cNvPr>
          <p:cNvSpPr txBox="1"/>
          <p:nvPr/>
        </p:nvSpPr>
        <p:spPr>
          <a:xfrm>
            <a:off x="8636000" y="36957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DBA14D"/>
                </a:solidFill>
                <a:latin typeface="Segoe UI" panose="020B0502040204020203" pitchFamily="34" charset="0"/>
              </a:rPr>
              <a:t>4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4A22DDC2-2FA9-86F2-D8A4-587D847AA58C}"/>
              </a:ext>
            </a:extLst>
          </p:cNvPr>
          <p:cNvSpPr txBox="1"/>
          <p:nvPr/>
        </p:nvSpPr>
        <p:spPr>
          <a:xfrm>
            <a:off x="8636000" y="41910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convenios demo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230A069-2E64-05BB-7CD7-CC6D167E8205}"/>
              </a:ext>
            </a:extLst>
          </p:cNvPr>
          <p:cNvSpPr/>
          <p:nvPr/>
        </p:nvSpPr>
        <p:spPr>
          <a:xfrm>
            <a:off x="8407400" y="49657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723A12F-CBDE-299B-6334-523292289C3B}"/>
              </a:ext>
            </a:extLst>
          </p:cNvPr>
          <p:cNvSpPr txBox="1"/>
          <p:nvPr/>
        </p:nvSpPr>
        <p:spPr>
          <a:xfrm>
            <a:off x="8636000" y="51308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9B1D2"/>
                </a:solidFill>
                <a:latin typeface="Segoe UI" panose="020B0502040204020203" pitchFamily="34" charset="0"/>
              </a:rPr>
              <a:t>CSV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0FF19A0-920B-49AB-F4C5-D29D6AE915CC}"/>
              </a:ext>
            </a:extLst>
          </p:cNvPr>
          <p:cNvSpPr txBox="1"/>
          <p:nvPr/>
        </p:nvSpPr>
        <p:spPr>
          <a:xfrm>
            <a:off x="8636000" y="56261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exportacion operativa</a:t>
            </a:r>
          </a:p>
        </p:txBody>
      </p:sp>
    </p:spTree>
    <p:extLst>
      <p:ext uri="{BB962C8B-B14F-4D97-AF65-F5344CB8AC3E}">
        <p14:creationId xmlns:p14="http://schemas.microsoft.com/office/powerpoint/2010/main" val="26505540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1222F39-FC80-9898-FA18-297D95C93417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06 / FLUJO EMPRESA-CENTRO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4E41328-CB24-DC7F-9329-F8F14BFA94F9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Solicitudes, aprobacion y bandeja unificada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59D7CB8-323C-EF68-B400-3B8A93AE32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911747"/>
            <a:ext cx="6794500" cy="38219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265ACBE-4637-D99D-5B00-E4FBEDC15BF3}"/>
              </a:ext>
            </a:extLst>
          </p:cNvPr>
          <p:cNvSpPr txBox="1"/>
          <p:nvPr/>
        </p:nvSpPr>
        <p:spPr>
          <a:xfrm>
            <a:off x="7937500" y="2108200"/>
            <a:ext cx="342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empresa solicita colaborar desde el portal externo.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El correo queda verificado antes de la revision.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El centro aprueba o rechaza desde el panel interno.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La conversacion queda ligada a la solicitud y a la empresa.</a:t>
            </a:r>
          </a:p>
        </p:txBody>
      </p:sp>
    </p:spTree>
    <p:extLst>
      <p:ext uri="{BB962C8B-B14F-4D97-AF65-F5344CB8AC3E}">
        <p14:creationId xmlns:p14="http://schemas.microsoft.com/office/powerpoint/2010/main" val="1221587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EB3A68E-3279-060F-AECA-5DE13003702F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07 / PORTAL EXTERNO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F4D926D-60E2-B416-864D-E04AB57B7ECD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Experiencia de la empresa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B19245F-FFC7-BDAB-495E-0D7D17C72884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Alta, seguimiento de estado, activacion de cuenta, recuperacion de contrasena y area privada.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C30C189-9923-156D-3024-F088E9BE26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55" y="1854200"/>
            <a:ext cx="7224889" cy="4064000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E4D502B2-61E4-2133-B17C-16808FCB3E1D}"/>
              </a:ext>
            </a:extLst>
          </p:cNvPr>
          <p:cNvSpPr/>
          <p:nvPr/>
        </p:nvSpPr>
        <p:spPr>
          <a:xfrm>
            <a:off x="8763000" y="2082800"/>
            <a:ext cx="2286000" cy="9144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48A6364-E459-498F-8A31-14E893D14003}"/>
              </a:ext>
            </a:extLst>
          </p:cNvPr>
          <p:cNvSpPr txBox="1"/>
          <p:nvPr/>
        </p:nvSpPr>
        <p:spPr>
          <a:xfrm>
            <a:off x="9042400" y="2336800"/>
            <a:ext cx="177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b="1">
                <a:solidFill>
                  <a:srgbClr val="4975B0"/>
                </a:solidFill>
                <a:latin typeface="Segoe UI" panose="020B0502040204020203" pitchFamily="34" charset="0"/>
              </a:rPr>
              <a:t>Sin acceso interno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E488D5A9-4B9D-A8F7-1245-94C48B29EE86}"/>
              </a:ext>
            </a:extLst>
          </p:cNvPr>
          <p:cNvSpPr txBox="1"/>
          <p:nvPr/>
        </p:nvSpPr>
        <p:spPr>
          <a:xfrm>
            <a:off x="8763000" y="3276600"/>
            <a:ext cx="241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El portal externo tiene su propio recorrido y no mezcla credenciales de empresa con el panel del centro.</a:t>
            </a:r>
          </a:p>
        </p:txBody>
      </p:sp>
    </p:spTree>
    <p:extLst>
      <p:ext uri="{BB962C8B-B14F-4D97-AF65-F5344CB8AC3E}">
        <p14:creationId xmlns:p14="http://schemas.microsoft.com/office/powerpoint/2010/main" val="28677855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6D933A8-E66E-3E19-EEC8-5E6C2E671291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08 / OPERACION Y DOCUMENTACION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EA54564-7BAC-9E71-A8E6-75283E4B6DDF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No solo es una app: tambien se puede mantener y explicar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AE85FD6-E094-AD69-5AE3-DF369205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353468"/>
            <a:ext cx="4953000" cy="278606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CDA435B-5E63-87ED-264F-D4E406CB82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00" y="2353468"/>
            <a:ext cx="4953000" cy="278606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B9C0675F-533F-3706-087F-011B14C783C6}"/>
              </a:ext>
            </a:extLst>
          </p:cNvPr>
          <p:cNvSpPr txBox="1"/>
          <p:nvPr/>
        </p:nvSpPr>
        <p:spPr>
          <a:xfrm>
            <a:off x="914400" y="58674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Guia funcional publica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37EE253-038B-C62D-1B13-B8E0DE08994E}"/>
              </a:ext>
            </a:extLst>
          </p:cNvPr>
          <p:cNvSpPr txBox="1"/>
          <p:nvPr/>
        </p:nvSpPr>
        <p:spPr>
          <a:xfrm>
            <a:off x="6629400" y="5867400"/>
            <a:ext cx="431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Monitor privado con MFA y estado tecnico</a:t>
            </a:r>
          </a:p>
        </p:txBody>
      </p:sp>
    </p:spTree>
    <p:extLst>
      <p:ext uri="{BB962C8B-B14F-4D97-AF65-F5344CB8AC3E}">
        <p14:creationId xmlns:p14="http://schemas.microsoft.com/office/powerpoint/2010/main" val="456950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FF17161-752D-DFC6-8F7A-78AA8340249B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09 / CODIGO CLAVE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771ACBD-5214-CB0D-5CB8-19C5FE1BAC36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Registro externo con validacion y correo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4035EEF-CEBE-FB37-73ED-64053A4A976C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Este fragmento une formulario publico, validacion backend, token y enlace de verificacion.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BE2C502C-DA3E-2EEF-1B69-8A6E497945A5}"/>
              </a:ext>
            </a:extLst>
          </p:cNvPr>
          <p:cNvSpPr/>
          <p:nvPr/>
        </p:nvSpPr>
        <p:spPr>
          <a:xfrm>
            <a:off x="711200" y="1930400"/>
            <a:ext cx="6832600" cy="3873500"/>
          </a:xfrm>
          <a:prstGeom prst="roundRect">
            <a:avLst/>
          </a:prstGeom>
          <a:solidFill>
            <a:srgbClr val="080C12"/>
          </a:solidFill>
          <a:ln w="12700">
            <a:solidFill>
              <a:srgbClr val="37495C"/>
            </a:solidFill>
          </a:ln>
          <a:effectLst>
            <a:outerShdw blurRad="127000" dist="56796" dir="3806099" rotWithShape="0">
              <a:srgbClr val="000000">
                <a:alpha val="3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B0F2D69-8F12-4284-DC0E-494CC9D83910}"/>
              </a:ext>
            </a:extLst>
          </p:cNvPr>
          <p:cNvSpPr txBox="1"/>
          <p:nvPr/>
        </p:nvSpPr>
        <p:spPr>
          <a:xfrm>
            <a:off x="939800" y="2120900"/>
            <a:ext cx="6375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E2E8F0"/>
                </a:solidFill>
                <a:latin typeface="Consolas" panose="020B0609020204030204" pitchFamily="49" charset="0"/>
              </a:rPr>
              <a:t>$constraints = new Assert\Collection([
  'nombreEmpresa' =&gt; [new Assert\NotBlank()],
  'contactoEmail' =&gt; [new Assert\NotBlank(), new Assert\Email()],
]);
$solicitud = (new EmpresaSolicitud())
  -&gt;setNombreEmpresa($payload['nombreEmpresa'])
  -&gt;setContactoEmail($payload['contactoEmail']);
$verificationUrl = $this-&gt;urlGenerator-&gt;generate(
  'registro_empresa_confirm',
  ['token' =&gt; $solicitud-&gt;getToken()],
  UrlGeneratorInterface::ABSOLUTE_URL
);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17D8DAF-DF0A-E03D-2632-C856659B5A34}"/>
              </a:ext>
            </a:extLst>
          </p:cNvPr>
          <p:cNvSpPr txBox="1"/>
          <p:nvPr/>
        </p:nvSpPr>
        <p:spPr>
          <a:xfrm>
            <a:off x="939800" y="5410200"/>
            <a:ext cx="6375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000">
                <a:solidFill>
                  <a:srgbClr val="94A3B8"/>
                </a:solidFill>
                <a:latin typeface="Consolas" panose="020B0609020204030204" pitchFamily="49" charset="0"/>
              </a:rPr>
              <a:t>backend/src/Controller/RegistroEmpresaController.php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C10F4D8-3E03-D17D-D6CC-527AA1D32B96}"/>
              </a:ext>
            </a:extLst>
          </p:cNvPr>
          <p:cNvSpPr txBox="1"/>
          <p:nvPr/>
        </p:nvSpPr>
        <p:spPr>
          <a:xfrm>
            <a:off x="8128000" y="2209800"/>
            <a:ext cx="317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Valida datos obligatorios antes de persistir.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Genera una solicitud con token propio.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Crea una URL absoluta para confirmar el correo.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Permite explicar por que la empresa no entra directamente al panel interno.</a:t>
            </a:r>
          </a:p>
        </p:txBody>
      </p:sp>
    </p:spTree>
    <p:extLst>
      <p:ext uri="{BB962C8B-B14F-4D97-AF65-F5344CB8AC3E}">
        <p14:creationId xmlns:p14="http://schemas.microsoft.com/office/powerpoint/2010/main" val="1589886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4573553B-DABF-2373-C4B1-2F06D96A4314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10 / CODIGO CLAVE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AF28A3B-E6EC-4494-0840-9464369FA657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Reglas de negocio en asignaciones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687D3D1-A0B0-5F38-7837-D1E7B62534F6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aplicacion impide asignaciones incoherentes aunque alguien intente saltarse el formulario.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FFEA8B83-3615-8230-D7CE-2634922F651D}"/>
              </a:ext>
            </a:extLst>
          </p:cNvPr>
          <p:cNvSpPr/>
          <p:nvPr/>
        </p:nvSpPr>
        <p:spPr>
          <a:xfrm>
            <a:off x="711200" y="1930400"/>
            <a:ext cx="6959600" cy="3873500"/>
          </a:xfrm>
          <a:prstGeom prst="roundRect">
            <a:avLst/>
          </a:prstGeom>
          <a:solidFill>
            <a:srgbClr val="080C12"/>
          </a:solidFill>
          <a:ln w="12700">
            <a:solidFill>
              <a:srgbClr val="37495C"/>
            </a:solidFill>
          </a:ln>
          <a:effectLst>
            <a:outerShdw blurRad="127000" dist="56796" dir="3806099" rotWithShape="0">
              <a:srgbClr val="000000">
                <a:alpha val="3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C00006F-6CCE-8D7E-5115-DE6842B3E2F4}"/>
              </a:ext>
            </a:extLst>
          </p:cNvPr>
          <p:cNvSpPr txBox="1"/>
          <p:nvPr/>
        </p:nvSpPr>
        <p:spPr>
          <a:xfrm>
            <a:off x="939800" y="2120900"/>
            <a:ext cx="650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E2E8F0"/>
                </a:solidFill>
                <a:latin typeface="Consolas" panose="020B0609020204030204" pitchFamily="49" charset="0"/>
              </a:rPr>
              <a:t>private const ELIGIBLE_COMPANY_STATES = ['activa'];
private const ELIGIBLE_CONVENIO_STATES = ['firmado', 'vigente', 'renovacion'];
if ($empresa &amp;&amp; $convenio-&gt;getEmpresa()-&gt;getId() !== $empresa-&gt;getId()) {
  return $this-&gt;json([
    'message' =&gt; 'El convenio no pertenece a la empresa indicada.'
  ], Response::HTTP_BAD_REQUEST);
}
$this-&gt;validateCompanyForAssignment($empresa);
$this-&gt;validateConvenioForAssignment($convenio);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F0FDDA5-30F4-230D-6563-3F4495A28F51}"/>
              </a:ext>
            </a:extLst>
          </p:cNvPr>
          <p:cNvSpPr txBox="1"/>
          <p:nvPr/>
        </p:nvSpPr>
        <p:spPr>
          <a:xfrm>
            <a:off x="939800" y="5410200"/>
            <a:ext cx="650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000">
                <a:solidFill>
                  <a:srgbClr val="94A3B8"/>
                </a:solidFill>
                <a:latin typeface="Consolas" panose="020B0609020204030204" pitchFamily="49" charset="0"/>
              </a:rPr>
              <a:t>backend/src/Controller/Api/AsignacionController.php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8F77224-2EDC-3ECF-2BC9-0DFA65E8A5DA}"/>
              </a:ext>
            </a:extLst>
          </p:cNvPr>
          <p:cNvSpPr txBox="1"/>
          <p:nvPr/>
        </p:nvSpPr>
        <p:spPr>
          <a:xfrm>
            <a:off x="8204200" y="2209800"/>
            <a:ext cx="3111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Solo empresas activas.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Solo convenios firmados, vigentes o en renovacion.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El convenio debe pertenecer a la empresa elegida.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La regla vive en backend y no depende solo de la UI.</a:t>
            </a:r>
          </a:p>
        </p:txBody>
      </p:sp>
    </p:spTree>
    <p:extLst>
      <p:ext uri="{BB962C8B-B14F-4D97-AF65-F5344CB8AC3E}">
        <p14:creationId xmlns:p14="http://schemas.microsoft.com/office/powerpoint/2010/main" val="42067354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97A3F06-C125-14CA-F808-DA81DE1F3910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11 / CODIGO CLAVE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8228733-60FB-3A89-BB9F-9DC1E7825519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Cliente API compartido por el panel interno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2F35359-1E67-EB0E-E9F0-D88BBB410D3B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Centraliza credenciales, sesion, errores y llamadas al backend.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2ABA5F54-B668-33BB-A181-50BE0832C347}"/>
              </a:ext>
            </a:extLst>
          </p:cNvPr>
          <p:cNvSpPr/>
          <p:nvPr/>
        </p:nvSpPr>
        <p:spPr>
          <a:xfrm>
            <a:off x="711200" y="1930400"/>
            <a:ext cx="6959600" cy="3873500"/>
          </a:xfrm>
          <a:prstGeom prst="roundRect">
            <a:avLst/>
          </a:prstGeom>
          <a:solidFill>
            <a:srgbClr val="080C12"/>
          </a:solidFill>
          <a:ln w="12700">
            <a:solidFill>
              <a:srgbClr val="37495C"/>
            </a:solidFill>
          </a:ln>
          <a:effectLst>
            <a:outerShdw blurRad="127000" dist="56796" dir="3806099" rotWithShape="0">
              <a:srgbClr val="000000">
                <a:alpha val="3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061B647-6399-0BF7-A438-5D7F80ECCFA6}"/>
              </a:ext>
            </a:extLst>
          </p:cNvPr>
          <p:cNvSpPr txBox="1"/>
          <p:nvPr/>
        </p:nvSpPr>
        <p:spPr>
          <a:xfrm>
            <a:off x="939800" y="2120900"/>
            <a:ext cx="650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E2E8F0"/>
                </a:solidFill>
                <a:latin typeface="Consolas" panose="020B0609020204030204" pitchFamily="49" charset="0"/>
              </a:rPr>
              <a:t>async function apiRequest&lt;T&gt;(path: string, init: RequestInit = {}): Promise&lt;T&gt; {
  const headers = new Headers(init.headers);
  const authorizationHeader = getAuthorizationHeader();
  if (authorizationHeader) headers.set('Authorization', authorizationHeader);
  const response = await fetch(`${API_BASE_URL}${path}`, {
    ...init,
    headers,
    credentials: 'include',
  });
  if (!response.ok) throw new Error(`Error ${response.status}`);
  return response.status === 204 ? undefined as T : await response.json();
}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D6501EB-E31C-8F8F-D7AB-194E9BE3B6CC}"/>
              </a:ext>
            </a:extLst>
          </p:cNvPr>
          <p:cNvSpPr txBox="1"/>
          <p:nvPr/>
        </p:nvSpPr>
        <p:spPr>
          <a:xfrm>
            <a:off x="939800" y="5410200"/>
            <a:ext cx="650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1000">
                <a:solidFill>
                  <a:srgbClr val="94A3B8"/>
                </a:solidFill>
                <a:latin typeface="Consolas" panose="020B0609020204030204" pitchFamily="49" charset="0"/>
              </a:rPr>
              <a:t>frontend/app/src/services/api.ts</a:t>
            </a:r>
            <a:endParaRPr lang="es-ES" sz="1000">
              <a:solidFill>
                <a:srgbClr val="94A3B8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88F1B60E-4A0D-3142-F96B-77EB398FD58D}"/>
              </a:ext>
            </a:extLst>
          </p:cNvPr>
          <p:cNvSpPr txBox="1"/>
          <p:nvPr/>
        </p:nvSpPr>
        <p:spPr>
          <a:xfrm>
            <a:off x="8204200" y="2209800"/>
            <a:ext cx="3111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Todas las llamadas pasan por un unico punto.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Usa sesion de navegador y cabecera Authorization cuando procede.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Normaliza errores para mostrarlos en la interfaz.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Facilita mantener el frontend sin duplicar fetch en cada pantalla.</a:t>
            </a:r>
          </a:p>
        </p:txBody>
      </p:sp>
    </p:spTree>
    <p:extLst>
      <p:ext uri="{BB962C8B-B14F-4D97-AF65-F5344CB8AC3E}">
        <p14:creationId xmlns:p14="http://schemas.microsoft.com/office/powerpoint/2010/main" val="6657287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1F888FA-E479-36C2-3253-A40D180F6B9D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12 / CODIGO CLAVE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043BC74-EA82-F301-6246-FDB8AF785F02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Pruebas E2E sobre flujos reales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58A8D91-CA74-64B4-F3C0-38CEC8759F63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La defensa no se apoya solo en capturas: hay pruebas que navegan por la app.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9E45E7FC-8E97-33E1-3540-D58933AAAF6D}"/>
              </a:ext>
            </a:extLst>
          </p:cNvPr>
          <p:cNvSpPr/>
          <p:nvPr/>
        </p:nvSpPr>
        <p:spPr>
          <a:xfrm>
            <a:off x="711200" y="1930400"/>
            <a:ext cx="6959600" cy="3873500"/>
          </a:xfrm>
          <a:prstGeom prst="roundRect">
            <a:avLst/>
          </a:prstGeom>
          <a:solidFill>
            <a:srgbClr val="080C12"/>
          </a:solidFill>
          <a:ln w="12700">
            <a:solidFill>
              <a:srgbClr val="37495C"/>
            </a:solidFill>
          </a:ln>
          <a:effectLst>
            <a:outerShdw blurRad="127000" dist="56796" dir="3806099" rotWithShape="0">
              <a:srgbClr val="000000">
                <a:alpha val="38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B4AFF21-AF6B-9C00-D92E-06E9EAE94C33}"/>
              </a:ext>
            </a:extLst>
          </p:cNvPr>
          <p:cNvSpPr txBox="1"/>
          <p:nvPr/>
        </p:nvSpPr>
        <p:spPr>
          <a:xfrm>
            <a:off x="939800" y="2120900"/>
            <a:ext cx="650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E2E8F0"/>
                </a:solidFill>
                <a:latin typeface="Consolas" panose="020B0609020204030204" pitchFamily="49" charset="0"/>
              </a:rPr>
              <a:t>test('external registration flow reaches mail step', async ({ page }) =&gt; {
  await page.goto('/externo');
  await page.getByLabel(/Nombre de la empresa/i).fill('Empresa E2E');
  await page.getByLabel(/Email corporativo/i).fill('e2e@example.com');
  await page.getByRole('button', { name: /Enviar solicitud/i }).click();
  await expect(page).toHaveURL(/\/externo\/correo/);
  await expect(page.locator('text=Verificacion por correo')).toBeVisible();
});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12B4B7A-5E28-C83D-7063-E13ED908CAE2}"/>
              </a:ext>
            </a:extLst>
          </p:cNvPr>
          <p:cNvSpPr txBox="1"/>
          <p:nvPr/>
        </p:nvSpPr>
        <p:spPr>
          <a:xfrm>
            <a:off x="939800" y="5410200"/>
            <a:ext cx="6502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000">
                <a:solidFill>
                  <a:srgbClr val="94A3B8"/>
                </a:solidFill>
                <a:latin typeface="Consolas" panose="020B0609020204030204" pitchFamily="49" charset="0"/>
              </a:rPr>
              <a:t>frontend/app/e2e/critical-flows.spec.ts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18A1F40-267C-F464-F5FA-48A8D9FA05F5}"/>
              </a:ext>
            </a:extLst>
          </p:cNvPr>
          <p:cNvSpPr txBox="1"/>
          <p:nvPr/>
        </p:nvSpPr>
        <p:spPr>
          <a:xfrm>
            <a:off x="8204200" y="2209800"/>
            <a:ext cx="3111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Abre el portal externo como usuario real.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Rellena el formulario de empresa.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Comprueba que llega al paso de correo.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 sz="1700">
                <a:solidFill>
                  <a:srgbClr val="C2CBD8"/>
                </a:solidFill>
                <a:latin typeface="Segoe UI" panose="020B0502040204020203" pitchFamily="34" charset="0"/>
              </a:rPr>
              <a:t>Complementa los tests backend y unitarios.</a:t>
            </a:r>
          </a:p>
        </p:txBody>
      </p:sp>
    </p:spTree>
    <p:extLst>
      <p:ext uri="{BB962C8B-B14F-4D97-AF65-F5344CB8AC3E}">
        <p14:creationId xmlns:p14="http://schemas.microsoft.com/office/powerpoint/2010/main" val="38182277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D31769B-D50B-4D46-596E-824E05542689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13 / VALIDACION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CCD0648F-B027-269A-32DB-E6EF0D98BE2E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Comprobaciones realizadas antes de la defensa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05323D74-0809-F041-1991-F47D324AAE66}"/>
              </a:ext>
            </a:extLst>
          </p:cNvPr>
          <p:cNvSpPr/>
          <p:nvPr/>
        </p:nvSpPr>
        <p:spPr>
          <a:xfrm>
            <a:off x="8890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9FD36BB-8B0F-8260-F854-CE25B3BE151D}"/>
              </a:ext>
            </a:extLst>
          </p:cNvPr>
          <p:cNvSpPr txBox="1"/>
          <p:nvPr/>
        </p:nvSpPr>
        <p:spPr>
          <a:xfrm>
            <a:off x="11176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90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49F936C-8F52-D8B3-651A-2F50AC0E2CFE}"/>
              </a:ext>
            </a:extLst>
          </p:cNvPr>
          <p:cNvSpPr txBox="1"/>
          <p:nvPr/>
        </p:nvSpPr>
        <p:spPr>
          <a:xfrm>
            <a:off x="11176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tests backend</a:t>
            </a:r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2E662721-1E9D-0984-CE8B-8DC58443971E}"/>
              </a:ext>
            </a:extLst>
          </p:cNvPr>
          <p:cNvSpPr/>
          <p:nvPr/>
        </p:nvSpPr>
        <p:spPr>
          <a:xfrm>
            <a:off x="37084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65C60D7-E94E-2709-BC4F-CA701626F5A7}"/>
              </a:ext>
            </a:extLst>
          </p:cNvPr>
          <p:cNvSpPr txBox="1"/>
          <p:nvPr/>
        </p:nvSpPr>
        <p:spPr>
          <a:xfrm>
            <a:off x="39370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9B1D2"/>
                </a:solidFill>
                <a:latin typeface="Segoe UI" panose="020B0502040204020203" pitchFamily="34" charset="0"/>
              </a:rPr>
              <a:t>522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6B65B74-4E32-132A-F7C2-9DF6FF7C9195}"/>
              </a:ext>
            </a:extLst>
          </p:cNvPr>
          <p:cNvSpPr txBox="1"/>
          <p:nvPr/>
        </p:nvSpPr>
        <p:spPr>
          <a:xfrm>
            <a:off x="39370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aserciones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AC38B38F-4B3F-2732-CA5C-D7CE72E85242}"/>
              </a:ext>
            </a:extLst>
          </p:cNvPr>
          <p:cNvSpPr/>
          <p:nvPr/>
        </p:nvSpPr>
        <p:spPr>
          <a:xfrm>
            <a:off x="65278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CE4B240-3200-1EEC-2CCD-0BDFF263A3F4}"/>
              </a:ext>
            </a:extLst>
          </p:cNvPr>
          <p:cNvSpPr txBox="1"/>
          <p:nvPr/>
        </p:nvSpPr>
        <p:spPr>
          <a:xfrm>
            <a:off x="67564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14/14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4B6F759-BFC5-BA11-6711-993345E8C3F5}"/>
              </a:ext>
            </a:extLst>
          </p:cNvPr>
          <p:cNvSpPr txBox="1"/>
          <p:nvPr/>
        </p:nvSpPr>
        <p:spPr>
          <a:xfrm>
            <a:off x="67564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tests frontend</a:t>
            </a: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257B8291-E5A6-D9FE-11E2-4B20000CB7BD}"/>
              </a:ext>
            </a:extLst>
          </p:cNvPr>
          <p:cNvSpPr/>
          <p:nvPr/>
        </p:nvSpPr>
        <p:spPr>
          <a:xfrm>
            <a:off x="9347200" y="2057400"/>
            <a:ext cx="2413000" cy="11938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CE2E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5AF199E-81BB-FB28-1F57-D67B331E9C36}"/>
              </a:ext>
            </a:extLst>
          </p:cNvPr>
          <p:cNvSpPr txBox="1"/>
          <p:nvPr/>
        </p:nvSpPr>
        <p:spPr>
          <a:xfrm>
            <a:off x="9575800" y="2222500"/>
            <a:ext cx="1905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600" b="1">
                <a:solidFill>
                  <a:srgbClr val="41A772"/>
                </a:solidFill>
                <a:latin typeface="Segoe UI" panose="020B0502040204020203" pitchFamily="34" charset="0"/>
              </a:rPr>
              <a:t>3/3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7D39FE6-519B-EF22-F752-AB318B1CE041}"/>
              </a:ext>
            </a:extLst>
          </p:cNvPr>
          <p:cNvSpPr txBox="1"/>
          <p:nvPr/>
        </p:nvSpPr>
        <p:spPr>
          <a:xfrm>
            <a:off x="9575800" y="2717800"/>
            <a:ext cx="1905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300">
                <a:solidFill>
                  <a:srgbClr val="1F2937"/>
                </a:solidFill>
                <a:latin typeface="Segoe UI" panose="020B0502040204020203" pitchFamily="34" charset="0"/>
              </a:rPr>
              <a:t>E2E Playwright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2190035-646C-6478-68E4-A18655287021}"/>
              </a:ext>
            </a:extLst>
          </p:cNvPr>
          <p:cNvSpPr txBox="1"/>
          <p:nvPr/>
        </p:nvSpPr>
        <p:spPr>
          <a:xfrm>
            <a:off x="1193800" y="3987800"/>
            <a:ext cx="939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Build integrada de los dos frontends publicada en Symfony.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Rutas /app, /externo, /documentacion y /monitor comprobadas con HTTP 200.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Flujos criticos: login interno, monitor privado y registro externo hasta correo.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1B32A1F7-1071-61D7-CF27-1042C0759C47}"/>
              </a:ext>
            </a:extLst>
          </p:cNvPr>
          <p:cNvSpPr txBox="1"/>
          <p:nvPr/>
        </p:nvSpPr>
        <p:spPr>
          <a:xfrm>
            <a:off x="1193800" y="5588000"/>
            <a:ext cx="927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400">
                <a:solidFill>
                  <a:srgbClr val="C2CBD8"/>
                </a:solidFill>
                <a:latin typeface="Segoe UI" panose="020B0502040204020203" pitchFamily="34" charset="0"/>
              </a:rPr>
              <a:t>Queda una deprecacion tecnica de Doctrine/PHPUnit, no bloqueante para la demo ni para la funcionalidad.</a:t>
            </a:r>
          </a:p>
        </p:txBody>
      </p:sp>
    </p:spTree>
    <p:extLst>
      <p:ext uri="{BB962C8B-B14F-4D97-AF65-F5344CB8AC3E}">
        <p14:creationId xmlns:p14="http://schemas.microsoft.com/office/powerpoint/2010/main" val="7010918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8EDEE22-43E9-E198-66BF-8002977B584A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14 / ACCESO DE EVALUACION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1915613-87DA-92AD-06CC-7444AEF5F78F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Como puede probarla la profesora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11DF2B7-D5FC-B61C-4A49-849A9E4629DE}"/>
              </a:ext>
            </a:extLst>
          </p:cNvPr>
          <p:cNvSpPr txBox="1"/>
          <p:nvPr/>
        </p:nvSpPr>
        <p:spPr>
          <a:xfrm>
            <a:off x="558800" y="1422400"/>
            <a:ext cx="914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C2CBD8"/>
                </a:solidFill>
                <a:latin typeface="Segoe UI" panose="020B0502040204020203" pitchFamily="34" charset="0"/>
              </a:rPr>
              <a:t>No necesita instalar dependencias si el entorno de demostracion esta levantado.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F4C4393D-1784-C48B-DE96-8175E054650D}"/>
              </a:ext>
            </a:extLst>
          </p:cNvPr>
          <p:cNvSpPr/>
          <p:nvPr/>
        </p:nvSpPr>
        <p:spPr>
          <a:xfrm>
            <a:off x="889000" y="2032000"/>
            <a:ext cx="10414000" cy="165100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DE5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6B46110-8EE8-EFF1-88CB-3B1B54DF4A7E}"/>
              </a:ext>
            </a:extLst>
          </p:cNvPr>
          <p:cNvSpPr txBox="1"/>
          <p:nvPr/>
        </p:nvSpPr>
        <p:spPr>
          <a:xfrm>
            <a:off x="1244600" y="23368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4975B0"/>
                </a:solidFill>
                <a:latin typeface="Consolas" panose="020B0609020204030204" pitchFamily="49" charset="0"/>
              </a:rPr>
              <a:t>https://...trycloudflare.com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CFCC93C-65E7-0A9C-29FE-633D9707033F}"/>
              </a:ext>
            </a:extLst>
          </p:cNvPr>
          <p:cNvSpPr txBox="1"/>
          <p:nvPr/>
        </p:nvSpPr>
        <p:spPr>
          <a:xfrm>
            <a:off x="1270000" y="29210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500">
                <a:solidFill>
                  <a:srgbClr val="1F2937"/>
                </a:solidFill>
                <a:latin typeface="Segoe UI" panose="020B0502040204020203" pitchFamily="34" charset="0"/>
              </a:rPr>
              <a:t>URL temporal generada con cloudflared mientras el equipo local y el backend estan activos.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63D4D41-69F1-3679-0F46-1DC6D4BB8609}"/>
              </a:ext>
            </a:extLst>
          </p:cNvPr>
          <p:cNvSpPr txBox="1"/>
          <p:nvPr/>
        </p:nvSpPr>
        <p:spPr>
          <a:xfrm>
            <a:off x="1320800" y="4191000"/>
            <a:ext cx="939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URL/app: panel interno.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URL/externo: portal de empresa.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URL/documentacion: guia funcional.</a:t>
            </a:r>
          </a:p>
          <a:p>
            <a:pPr marL="342900" indent="-342900">
              <a:spcAft>
                <a:spcPts val="1000"/>
              </a:spcAft>
              <a:buFont typeface="+mj-lt"/>
              <a:buChar char="•"/>
            </a:pPr>
            <a:r>
              <a:rPr lang="es-ES">
                <a:solidFill>
                  <a:srgbClr val="C2CBD8"/>
                </a:solidFill>
                <a:latin typeface="Segoe UI" panose="020B0502040204020203" pitchFamily="34" charset="0"/>
              </a:rPr>
              <a:t>URL/monitor: supervision tecnica protegida.</a:t>
            </a:r>
          </a:p>
        </p:txBody>
      </p:sp>
    </p:spTree>
    <p:extLst>
      <p:ext uri="{BB962C8B-B14F-4D97-AF65-F5344CB8AC3E}">
        <p14:creationId xmlns:p14="http://schemas.microsoft.com/office/powerpoint/2010/main" val="24831628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B01466F-135F-00F1-699E-2F6274383697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15 / LIMITACIONES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0BC9E3E-5C25-C777-B1EA-CC20A5A5234C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Que queda fuera de esta entrega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B034E60-2FF6-7C58-1CAE-8F09999EE08D}"/>
              </a:ext>
            </a:extLst>
          </p:cNvPr>
          <p:cNvSpPr txBox="1"/>
          <p:nvPr/>
        </p:nvSpPr>
        <p:spPr>
          <a:xfrm>
            <a:off x="990600" y="2032000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Despliegue permanente en infraestructura dedicada.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Integracion con SSO o identidad corporativa.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Firma electronica avanzada.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Almacenamiento documental en nube gestionada.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Perfilado profundo de rendimiento en produccion.</a:t>
            </a:r>
          </a:p>
        </p:txBody>
      </p:sp>
      <p:sp>
        <p:nvSpPr>
          <p:cNvPr id="5" name="Rectángulo: esquinas redondeadas 4">
            <a:extLst>
              <a:ext uri="{FF2B5EF4-FFF2-40B4-BE49-F238E27FC236}">
                <a16:creationId xmlns:a16="http://schemas.microsoft.com/office/drawing/2014/main" id="{C962B3AA-44C4-8A3E-E185-66D2E6DA9D9A}"/>
              </a:ext>
            </a:extLst>
          </p:cNvPr>
          <p:cNvSpPr/>
          <p:nvPr/>
        </p:nvSpPr>
        <p:spPr>
          <a:xfrm>
            <a:off x="6807200" y="2057400"/>
            <a:ext cx="4064000" cy="2667000"/>
          </a:xfrm>
          <a:prstGeom prst="roundRect">
            <a:avLst/>
          </a:prstGeom>
          <a:solidFill>
            <a:srgbClr val="1D2430"/>
          </a:solidFill>
          <a:ln w="12700">
            <a:solidFill>
              <a:srgbClr val="424E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E61F719-5B40-A228-90BC-A0F4809D4B2D}"/>
              </a:ext>
            </a:extLst>
          </p:cNvPr>
          <p:cNvSpPr txBox="1"/>
          <p:nvPr/>
        </p:nvSpPr>
        <p:spPr>
          <a:xfrm>
            <a:off x="7213600" y="2438400"/>
            <a:ext cx="330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000" b="1">
                <a:solidFill>
                  <a:srgbClr val="DBA14D"/>
                </a:solidFill>
                <a:latin typeface="Segoe UI" panose="020B0502040204020203" pitchFamily="34" charset="0"/>
              </a:rPr>
              <a:t>Siguiente iteracion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AEE36208-22C8-A255-5CDF-6E33285538B6}"/>
              </a:ext>
            </a:extLst>
          </p:cNvPr>
          <p:cNvSpPr txBox="1"/>
          <p:nvPr/>
        </p:nvSpPr>
        <p:spPr>
          <a:xfrm>
            <a:off x="7213600" y="3098800"/>
            <a:ext cx="31115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300" b="1">
                <a:solidFill>
                  <a:srgbClr val="F6F8FC"/>
                </a:solidFill>
                <a:latin typeface="Segoe UI" panose="020B0502040204020203" pitchFamily="34" charset="0"/>
              </a:rPr>
              <a:t>Endurecer seguridad, desplegar en infraestructura estable y ampliar automatizacion E2E.</a:t>
            </a:r>
          </a:p>
        </p:txBody>
      </p:sp>
    </p:spTree>
    <p:extLst>
      <p:ext uri="{BB962C8B-B14F-4D97-AF65-F5344CB8AC3E}">
        <p14:creationId xmlns:p14="http://schemas.microsoft.com/office/powerpoint/2010/main" val="30482766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CAA47B8B-73CA-F7E8-AD7A-AF3746C5F085}"/>
              </a:ext>
            </a:extLst>
          </p:cNvPr>
          <p:cNvSpPr txBox="1"/>
          <p:nvPr/>
        </p:nvSpPr>
        <p:spPr>
          <a:xfrm>
            <a:off x="558800" y="330200"/>
            <a:ext cx="10414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1200" b="1">
                <a:solidFill>
                  <a:srgbClr val="DBA14D"/>
                </a:solidFill>
                <a:latin typeface="Segoe UI" panose="020B0502040204020203" pitchFamily="34" charset="0"/>
              </a:rPr>
              <a:t>16 / CIERRE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1352095-37FF-7FAF-3B7B-07BDCD6102E9}"/>
              </a:ext>
            </a:extLst>
          </p:cNvPr>
          <p:cNvSpPr txBox="1"/>
          <p:nvPr/>
        </p:nvSpPr>
        <p:spPr>
          <a:xfrm>
            <a:off x="558800" y="685800"/>
            <a:ext cx="990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Resultado defendible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6D4E0D8-10B9-E8E1-32AD-0F896586F572}"/>
              </a:ext>
            </a:extLst>
          </p:cNvPr>
          <p:cNvSpPr txBox="1"/>
          <p:nvPr/>
        </p:nvSpPr>
        <p:spPr>
          <a:xfrm>
            <a:off x="1168400" y="2006600"/>
            <a:ext cx="965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3000" b="1">
                <a:solidFill>
                  <a:srgbClr val="F6F8FC"/>
                </a:solidFill>
                <a:latin typeface="Segoe UI" panose="020B0502040204020203" pitchFamily="34" charset="0"/>
              </a:rPr>
              <a:t>El proyecto transforma una gestion dispersa en una plataforma web funcional, trazable y documentada para empresas colaboradoras y practicas de FP Dual.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0E9AAA9-408A-C011-AA05-C0047807AA96}"/>
              </a:ext>
            </a:extLst>
          </p:cNvPr>
          <p:cNvSpPr txBox="1"/>
          <p:nvPr/>
        </p:nvSpPr>
        <p:spPr>
          <a:xfrm>
            <a:off x="1625600" y="4089400"/>
            <a:ext cx="8763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Problema real del centro.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Arquitectura completa con backend, dos frontends, documentacion y monitor.</a:t>
            </a:r>
          </a:p>
          <a:p>
            <a:pPr marL="457200" indent="-457200">
              <a:spcAft>
                <a:spcPts val="1000"/>
              </a:spcAft>
              <a:buFont typeface="+mj-lt"/>
              <a:buChar char="•"/>
            </a:pPr>
            <a:r>
              <a:rPr lang="es-ES" sz="1900">
                <a:solidFill>
                  <a:srgbClr val="C2CBD8"/>
                </a:solidFill>
                <a:latin typeface="Segoe UI" panose="020B0502040204020203" pitchFamily="34" charset="0"/>
              </a:rPr>
              <a:t>Validacion tecnica y material de demo preparados.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CDFC56CD-F488-C8A2-2F73-1E1C82428919}"/>
              </a:ext>
            </a:extLst>
          </p:cNvPr>
          <p:cNvSpPr txBox="1"/>
          <p:nvPr/>
        </p:nvSpPr>
        <p:spPr>
          <a:xfrm>
            <a:off x="4191000" y="5943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s-ES" sz="2200" b="1">
                <a:solidFill>
                  <a:srgbClr val="DBA14D"/>
                </a:solidFill>
                <a:latin typeface="Segoe UI" panose="020B0502040204020203" pitchFamily="34" charset="0"/>
              </a:rPr>
              <a:t>Demo y preguntas</a:t>
            </a:r>
          </a:p>
        </p:txBody>
      </p:sp>
    </p:spTree>
    <p:extLst>
      <p:ext uri="{BB962C8B-B14F-4D97-AF65-F5344CB8AC3E}">
        <p14:creationId xmlns:p14="http://schemas.microsoft.com/office/powerpoint/2010/main" val="134873059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1419</Words>
  <Application>Microsoft Office PowerPoint</Application>
  <PresentationFormat>Personalizado</PresentationFormat>
  <Paragraphs>138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Consolas</vt:lpstr>
      <vt:lpstr>Segoe UI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 Ángel Méndez Minda</dc:creator>
  <cp:lastModifiedBy>Luis Ángel Méndez Minda</cp:lastModifiedBy>
  <cp:revision>1</cp:revision>
  <dcterms:created xsi:type="dcterms:W3CDTF">2026-05-03T19:12:51Z</dcterms:created>
  <dcterms:modified xsi:type="dcterms:W3CDTF">2026-05-03T19:12:51Z</dcterms:modified>
</cp:coreProperties>
</file>